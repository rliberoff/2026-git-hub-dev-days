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7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 id="277"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57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691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Bienvenida. Hoy vamos a ver cómo un equipo de agentes de IA (Squad) construye un Tetris de terminal mientras cada llamada al modelo pasa por nuestra propia nube: Azure API Management delante de Microsoft Foundry. La idea central: productividad de agentes sin renunciar a gobierno, resiliencia ni observabilidad.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Cuando pasamos de un asistente a un equipo de agentes aparecen preguntas de plataforma: qué modelo usa cada rol, cómo limitamos el consumo, qué pasa si una región de Azure falla y cómo demostramos lo que ha ocurrido. La demo responde a las cuatro con evidencia.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Squad es un proyecto open source de Brady Gaster (MIT). Su lema: equipos de agentes de IA liderados por humanos, con un solo comando. Se instala con npm, se inicializa con squad init y se usa como agente personalizado de GitHub Copilot: copilot --agent squad. Tres ideas clave: tú diriges, los agentes trabajan en paralelo y la memoria del equipo vive en el repositorio. Ojo: está en alpha, la CLI y las APIs pueden cambiar.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Flujo: tú pides algo, el coordinador decide a quién enrutarlo según routing.md y lanza en paralelo a todos los agentes que pueden empezar. Scribe, un agente integrado, registra la sesión y fusiona las decisiones en decisions.md. El humano cierra el ciclo: revisa, aprueba o corrige, y esa decisión se convierte en contexto compartido para el resto del equipo.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Todo el equipo es texto en .squad/: el roster (team.md), las reglas de enrutado, las decisiones, y por agente su charter (identidad) e history (lo aprendido del proyecto). config.json guarda, entre otras cosas, el modelo de cada agente. La recomendación de Squad es hacer commit de esta carpeta: quien clone el repo hereda el equipo. En este repositorio ignoramos los logs de sesión (.gitignore) pero el casting debe versionarse.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Además de los especialistas que definimos, Squad trae cuatro agentes integrados: Scribe (memoria y decisiones), Ralph (monitor de trabajo, modo watch), Rai (revisión de IA responsable) y Fact Checker (verificación). Por eso nuestro squad tendrá 9 agentes: 5 nuestros y 4 integrados. Comandos útiles: init, cast para ver el reparto, watch, doctor, upgrade y export/import. Los comandos squad se ejecutan en PowerShell, no dentro del prompt de Copilot.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Arquitectura de la demo: Squad se ejecuta como agente de GitHub Copilot CLI. Copilot CLI está en modo BYOK, así que en lugar del routing de modelos de la licencia llama a un endpoint compatible con OpenAI: nuestro Azure API Management. APIM aplica límites de tokens por suscripción, se autentica contra Foundry con identidad administrada y enruta a un pool de dos cuentas de Microsoft Foundry: francecentral como primaria y switzerlandnorth como secundaria. Cada región tiene los mismos tres deployments: gpt-5.6-sol, gpt-5.6-terra y gpt-5.6-luna. APIM emite métricas de tokens a Application Insights. Todo se aprovisiona con Terraform mediante azd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Creamos el roster desde el coordinador con cinco especialistas con nombres de superhéroes: shuri como lead, arcade como game developer, ironman backend, hulk tester y vision docs. Con los cuatro integrados, squad cast muestra 9 agentes. Después pedimos al coordinador que asigne un modelo a cada miembro: sol para el lead, terra para los que construyen y prueban, luna para la documentación. Squad lo guarda en .squad/config.json como agentModelOverrides. Importante: no añadir defaultModel, porque sobrescribiría las preferencias individuales. Al ejecutar squad init, responder 'n' a 'Add @copilot as an autonomous team member?'.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BYOK significa Bring Your Own Key. Con COPILOT_PROVIDER_BASE_URL apuntando a APIM, Copilot CLI deja de usar el routing de modelos incluido en la licencia y habla con nuestro endpoint compatible con OpenAI, usando Responses API, que los modelos de razonamiento necesitan cuando Squad usa function tools. La clave de APIM se lee con Read-Host -AsSecureString y solo queda en la variable de entorno de ese proceso: nunca en archivos ni en el historial. --secret-env-vars evita que los agentes la vean a través de herramientas de shell o servidores MCP. Recordatorio: cambiar COPILOT_* no afecta a una sesión ya abierta; hay que salir con /exit y relanzar.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APIM publica una sola API compatible con OpenAI (openai/v1) y tres suscripciones con comportamientos distintos. demo-inference la usa Squad: APIM no le aplica llm-token-limit, pero Foundry mantiene sus propios límites por deployment. demo-failover tiene 60.000 tokens por minuto y cuota diaria de 500.000; la cuota restante vuelve en la cabecera x-demo-remaining-quota-tokens. demo-ratelimit está deliberadamente limitada a 2.000 TPM y estima los tokens del prompt, así que devuelve 429 rápido sin afectar a la sesión de Squad. Además, llm-emit-token-metric emite tokens con las dimensiones Subscription ID y Backend ID, y APIM se autentica en Foundry con identidad administrada (rol Cognitive Services OpenAI User): no hay claves de Foundry en ningún cliente.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APIM enruta a un backend pool con dos miembros: el Foundry primario con prioridad 1 y el secundario con prioridad 2. Cada backend tiene un circuit breaker: tres respuestas 5xx en un minuto lo abren durante dos minutos y el tráfico va al secundario. Para demostrarlo, test-failover.ps1 cambia temporalmente la URL del primario a una API de APIM que siempre devuelve 503, comprueba que la región secundaria responde 200 y restaura la URL original en el bloque finally. Mientras dura la ventana, enviamos una pregunta desde Copilot y responde normalmente. No ejecutar mientras Squad usa el gateway: el cambio afecta a todas las suscripciones. Los 429 del gateway no cuentan para el circuit breaker.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La política llm-emit-token-metric envía a Application Insights los tokens con dos dimensiones: la suscripción de APIM y el backend. Antes de pedir código ejecutamos esta consulta, pedimos a Shuri la arquitectura mínima y a Vision que documente, y volvemos a ejecutarla: la fila demo-inference / foundry-primary debe crecer. Esa es la evidencia de que Squad atraviesa APIM y llega a Foundry. Los rechazos también se ven: requests | where resultCode == "429" muestra cada 429 del gateway. Requisito: activar en Application Insights las métricas personalizadas con dimensiones; es una opción aparte con impacto en coste.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La demo sigue docs/demo-guide-es.md en tres actos. Montar: azd up aprovisiona las dos capas de Terraform, y configuramos Copilot CLI en modo BYOK contra APIM. Construir: squad init --state-backend local --no-workflows, creación del roster desde el coordinador, asignación de modelos y construcción del Tetris por fases (Shuri, Arcade, Ironman, Hulk, Vision). Gobernar: 429 con demo-ratelimit en otra terminal, 401 con una clave inválida, failover regional con test-failover.ps1 y consulta final de tokens en Application Insights. Regla de oro: los comandos squad van en PowerShell; los prompts van dentro de Copilot. Tras abrir cada sesión, /allow-all 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Así se ven las pruebas de gobierno en Copilot CLI. A la izquierda, la sesión configurada con demo-ratelimit: tras unas peticiones de análisis, APIM devuelve 429 'Token limit will exceed based on estimated request tokens'. La llamada no llega a Foundry. A la derecha, una terminal nueva con una clave inválida: el gateway devuelve 401 y Copilot no usa los modelos de la licencia. Cerrar esa terminal al terminar para no reutilizar la clave inválida. Si la demo en vivo tarda en provocar el 429, pasar directamente a la consulta de Application Insights.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Limitaciones honestas: las métricas de APIM atribuyen consumo por suscripción y backend, no por agente ni por modelo; para ver el modelo usamos los anuncios de Squad y las métricas del recurso Foundry. Quitar el límite en APIM no quita los límites de Foundry. El 429 demuestra gobierno, no failover. Los fallbacks por defecto de Squad pueden incluir proveedores ajenos a Foundry: en esta demo no se aceptan. Y Squad está en alpha: versiones verificadas en la guía (Copilot CLI 1.0.88, Squad 0.13.1).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001"/>
          </a:p>
        </p:txBody>
      </p:sp>
      <p:sp>
        <p:nvSpPr>
          <p:cNvPr id="3" name="Notes Placeholder 2"/>
          <p:cNvSpPr>
            <a:spLocks noGrp="1"/>
          </p:cNvSpPr>
          <p:nvPr>
            <p:ph type="body" idx="1"/>
          </p:nvPr>
        </p:nvSpPr>
        <p:spPr/>
        <p:txBody>
          <a:bodyPr/>
          <a:lstStyle/>
          <a:p>
            <a:r>
              <a:rPr lang="en-US" dirty="0"/>
              <a:t>Cierre: Squad para trabajar con un equipo de agentes; APIM y Foundry para gobernarlo con límites, resiliencia regional y evidencia. Todo el código de la sesión y la guía paso a paso están en el repositorio. Recordad destruir el entorno con azd down --force para detener el coste. Preguntas.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4B802-CBBB-047A-F4CA-F1F66551C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B3D1D-E8AD-73A9-A173-B733FB46B010}"/>
              </a:ext>
            </a:extLst>
          </p:cNvPr>
          <p:cNvSpPr>
            <a:spLocks noGrp="1" noRot="1" noChangeAspect="1"/>
          </p:cNvSpPr>
          <p:nvPr>
            <p:ph type="sldImg"/>
          </p:nvPr>
        </p:nvSpPr>
        <p:spPr/>
        <p:txBody>
          <a:bodyPr/>
          <a:lstStyle/>
          <a:p>
            <a:endParaRPr lang="en-001"/>
          </a:p>
        </p:txBody>
      </p:sp>
      <p:sp>
        <p:nvSpPr>
          <p:cNvPr id="3" name="Notes Placeholder 2">
            <a:extLst>
              <a:ext uri="{FF2B5EF4-FFF2-40B4-BE49-F238E27FC236}">
                <a16:creationId xmlns:a16="http://schemas.microsoft.com/office/drawing/2014/main" id="{A3B8F079-C980-04D4-6A7A-99CDFF7D020C}"/>
              </a:ext>
            </a:extLst>
          </p:cNvPr>
          <p:cNvSpPr>
            <a:spLocks noGrp="1"/>
          </p:cNvSpPr>
          <p:nvPr>
            <p:ph type="body" idx="1"/>
          </p:nvPr>
        </p:nvSpPr>
        <p:spPr/>
        <p:txBody>
          <a:bodyPr/>
          <a:lstStyle/>
          <a:p>
            <a:r>
              <a:rPr lang="en-US" dirty="0"/>
              <a:t>Cierre: Squad para trabajar con un equipo de agentes; APIM y Foundry para gobernarlo con límites, resiliencia regional y evidencia. Todo el código de la sesión y la guía paso a paso están en el repositorio. Recordad destruir el entorno con azd down --force para detener el coste. Preguntas.</a:t>
            </a:r>
          </a:p>
        </p:txBody>
      </p:sp>
      <p:sp>
        <p:nvSpPr>
          <p:cNvPr id="4" name="Slide Number Placeholder 3">
            <a:extLst>
              <a:ext uri="{FF2B5EF4-FFF2-40B4-BE49-F238E27FC236}">
                <a16:creationId xmlns:a16="http://schemas.microsoft.com/office/drawing/2014/main" id="{929B937F-60C8-8A54-653A-7C08DACB8B4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64818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3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6.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48.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0.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809244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 name="Shape 1"/>
          <p:cNvSpPr/>
          <p:nvPr/>
        </p:nvSpPr>
        <p:spPr>
          <a:xfrm>
            <a:off x="8695944"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 name="Shape 2"/>
          <p:cNvSpPr/>
          <p:nvPr/>
        </p:nvSpPr>
        <p:spPr>
          <a:xfrm>
            <a:off x="9299448"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5" name="Shape 3"/>
          <p:cNvSpPr/>
          <p:nvPr/>
        </p:nvSpPr>
        <p:spPr>
          <a:xfrm>
            <a:off x="9902952"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6" name="Shape 4"/>
          <p:cNvSpPr/>
          <p:nvPr/>
        </p:nvSpPr>
        <p:spPr>
          <a:xfrm>
            <a:off x="10506456"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7" name="Shape 5"/>
          <p:cNvSpPr/>
          <p:nvPr/>
        </p:nvSpPr>
        <p:spPr>
          <a:xfrm>
            <a:off x="1110996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8" name="Shape 6"/>
          <p:cNvSpPr/>
          <p:nvPr/>
        </p:nvSpPr>
        <p:spPr>
          <a:xfrm>
            <a:off x="809244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9" name="Shape 7"/>
          <p:cNvSpPr/>
          <p:nvPr/>
        </p:nvSpPr>
        <p:spPr>
          <a:xfrm>
            <a:off x="8695944"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0" name="Shape 8"/>
          <p:cNvSpPr/>
          <p:nvPr/>
        </p:nvSpPr>
        <p:spPr>
          <a:xfrm>
            <a:off x="9299448"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1" name="Shape 9"/>
          <p:cNvSpPr/>
          <p:nvPr/>
        </p:nvSpPr>
        <p:spPr>
          <a:xfrm>
            <a:off x="9902952" y="1261872"/>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12" name="Shape 10"/>
          <p:cNvSpPr/>
          <p:nvPr/>
        </p:nvSpPr>
        <p:spPr>
          <a:xfrm>
            <a:off x="10506456"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3" name="Shape 11"/>
          <p:cNvSpPr/>
          <p:nvPr/>
        </p:nvSpPr>
        <p:spPr>
          <a:xfrm>
            <a:off x="1110996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4" name="Shape 12"/>
          <p:cNvSpPr/>
          <p:nvPr/>
        </p:nvSpPr>
        <p:spPr>
          <a:xfrm>
            <a:off x="809244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5" name="Shape 13"/>
          <p:cNvSpPr/>
          <p:nvPr/>
        </p:nvSpPr>
        <p:spPr>
          <a:xfrm>
            <a:off x="8695944"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6" name="Shape 14"/>
          <p:cNvSpPr/>
          <p:nvPr/>
        </p:nvSpPr>
        <p:spPr>
          <a:xfrm>
            <a:off x="9299448" y="1865376"/>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17" name="Shape 15"/>
          <p:cNvSpPr/>
          <p:nvPr/>
        </p:nvSpPr>
        <p:spPr>
          <a:xfrm>
            <a:off x="9902952" y="1865376"/>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18" name="Shape 16"/>
          <p:cNvSpPr/>
          <p:nvPr/>
        </p:nvSpPr>
        <p:spPr>
          <a:xfrm>
            <a:off x="10506456" y="1865376"/>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19" name="Shape 17"/>
          <p:cNvSpPr/>
          <p:nvPr/>
        </p:nvSpPr>
        <p:spPr>
          <a:xfrm>
            <a:off x="1110996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0" name="Shape 18"/>
          <p:cNvSpPr/>
          <p:nvPr/>
        </p:nvSpPr>
        <p:spPr>
          <a:xfrm>
            <a:off x="809244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1" name="Shape 19"/>
          <p:cNvSpPr/>
          <p:nvPr/>
        </p:nvSpPr>
        <p:spPr>
          <a:xfrm>
            <a:off x="8695944"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2" name="Shape 20"/>
          <p:cNvSpPr/>
          <p:nvPr/>
        </p:nvSpPr>
        <p:spPr>
          <a:xfrm>
            <a:off x="9299448"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3" name="Shape 21"/>
          <p:cNvSpPr/>
          <p:nvPr/>
        </p:nvSpPr>
        <p:spPr>
          <a:xfrm>
            <a:off x="9902952"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4" name="Shape 22"/>
          <p:cNvSpPr/>
          <p:nvPr/>
        </p:nvSpPr>
        <p:spPr>
          <a:xfrm>
            <a:off x="10506456"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5" name="Shape 23"/>
          <p:cNvSpPr/>
          <p:nvPr/>
        </p:nvSpPr>
        <p:spPr>
          <a:xfrm>
            <a:off x="1110996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6" name="Shape 24"/>
          <p:cNvSpPr/>
          <p:nvPr/>
        </p:nvSpPr>
        <p:spPr>
          <a:xfrm>
            <a:off x="809244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7" name="Shape 25"/>
          <p:cNvSpPr/>
          <p:nvPr/>
        </p:nvSpPr>
        <p:spPr>
          <a:xfrm>
            <a:off x="8695944"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8" name="Shape 26"/>
          <p:cNvSpPr/>
          <p:nvPr/>
        </p:nvSpPr>
        <p:spPr>
          <a:xfrm>
            <a:off x="9299448"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9" name="Shape 27"/>
          <p:cNvSpPr/>
          <p:nvPr/>
        </p:nvSpPr>
        <p:spPr>
          <a:xfrm>
            <a:off x="9902952"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0" name="Shape 28"/>
          <p:cNvSpPr/>
          <p:nvPr/>
        </p:nvSpPr>
        <p:spPr>
          <a:xfrm>
            <a:off x="10506456"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1" name="Shape 29"/>
          <p:cNvSpPr/>
          <p:nvPr/>
        </p:nvSpPr>
        <p:spPr>
          <a:xfrm>
            <a:off x="1110996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2" name="Shape 30"/>
          <p:cNvSpPr/>
          <p:nvPr/>
        </p:nvSpPr>
        <p:spPr>
          <a:xfrm>
            <a:off x="8092440" y="3675888"/>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3" name="Shape 31"/>
          <p:cNvSpPr/>
          <p:nvPr/>
        </p:nvSpPr>
        <p:spPr>
          <a:xfrm>
            <a:off x="8695944"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4" name="Shape 32"/>
          <p:cNvSpPr/>
          <p:nvPr/>
        </p:nvSpPr>
        <p:spPr>
          <a:xfrm>
            <a:off x="9299448"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5" name="Shape 33"/>
          <p:cNvSpPr/>
          <p:nvPr/>
        </p:nvSpPr>
        <p:spPr>
          <a:xfrm>
            <a:off x="9902952"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6" name="Shape 34"/>
          <p:cNvSpPr/>
          <p:nvPr/>
        </p:nvSpPr>
        <p:spPr>
          <a:xfrm>
            <a:off x="10506456"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7" name="Shape 35"/>
          <p:cNvSpPr/>
          <p:nvPr/>
        </p:nvSpPr>
        <p:spPr>
          <a:xfrm>
            <a:off x="11109960"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8" name="Shape 36"/>
          <p:cNvSpPr/>
          <p:nvPr/>
        </p:nvSpPr>
        <p:spPr>
          <a:xfrm>
            <a:off x="8092440"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9" name="Shape 37"/>
          <p:cNvSpPr/>
          <p:nvPr/>
        </p:nvSpPr>
        <p:spPr>
          <a:xfrm>
            <a:off x="8695944"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0" name="Shape 38"/>
          <p:cNvSpPr/>
          <p:nvPr/>
        </p:nvSpPr>
        <p:spPr>
          <a:xfrm>
            <a:off x="9299448"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1" name="Shape 39"/>
          <p:cNvSpPr/>
          <p:nvPr/>
        </p:nvSpPr>
        <p:spPr>
          <a:xfrm>
            <a:off x="9902952"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2" name="Shape 40"/>
          <p:cNvSpPr/>
          <p:nvPr/>
        </p:nvSpPr>
        <p:spPr>
          <a:xfrm>
            <a:off x="10506456" y="4279392"/>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3" name="Shape 41"/>
          <p:cNvSpPr/>
          <p:nvPr/>
        </p:nvSpPr>
        <p:spPr>
          <a:xfrm>
            <a:off x="11109960"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4" name="Shape 42"/>
          <p:cNvSpPr/>
          <p:nvPr/>
        </p:nvSpPr>
        <p:spPr>
          <a:xfrm>
            <a:off x="8092440" y="4882896"/>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45" name="Shape 43"/>
          <p:cNvSpPr/>
          <p:nvPr/>
        </p:nvSpPr>
        <p:spPr>
          <a:xfrm>
            <a:off x="8695944" y="4882896"/>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6" name="Shape 44"/>
          <p:cNvSpPr/>
          <p:nvPr/>
        </p:nvSpPr>
        <p:spPr>
          <a:xfrm>
            <a:off x="9299448" y="488289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7" name="Shape 45"/>
          <p:cNvSpPr/>
          <p:nvPr/>
        </p:nvSpPr>
        <p:spPr>
          <a:xfrm>
            <a:off x="9902952"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8" name="Shape 46"/>
          <p:cNvSpPr/>
          <p:nvPr/>
        </p:nvSpPr>
        <p:spPr>
          <a:xfrm>
            <a:off x="10506456"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9" name="Shape 47"/>
          <p:cNvSpPr/>
          <p:nvPr/>
        </p:nvSpPr>
        <p:spPr>
          <a:xfrm>
            <a:off x="11109960"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0" name="Shape 48"/>
          <p:cNvSpPr/>
          <p:nvPr/>
        </p:nvSpPr>
        <p:spPr>
          <a:xfrm>
            <a:off x="8092440" y="5486400"/>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51" name="Shape 49"/>
          <p:cNvSpPr/>
          <p:nvPr/>
        </p:nvSpPr>
        <p:spPr>
          <a:xfrm>
            <a:off x="8695944" y="5486400"/>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52" name="Shape 50"/>
          <p:cNvSpPr/>
          <p:nvPr/>
        </p:nvSpPr>
        <p:spPr>
          <a:xfrm>
            <a:off x="9299448" y="548640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53" name="Shape 51"/>
          <p:cNvSpPr/>
          <p:nvPr/>
        </p:nvSpPr>
        <p:spPr>
          <a:xfrm>
            <a:off x="9902952" y="5486400"/>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54" name="Shape 52"/>
          <p:cNvSpPr/>
          <p:nvPr/>
        </p:nvSpPr>
        <p:spPr>
          <a:xfrm>
            <a:off x="10506456"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5" name="Shape 53"/>
          <p:cNvSpPr/>
          <p:nvPr/>
        </p:nvSpPr>
        <p:spPr>
          <a:xfrm>
            <a:off x="11109960"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6" name="Text 54"/>
          <p:cNvSpPr txBox="1"/>
          <p:nvPr/>
        </p:nvSpPr>
        <p:spPr>
          <a:xfrm>
            <a:off x="640080" y="1234440"/>
            <a:ext cx="6766560" cy="320040"/>
          </a:xfrm>
          <a:prstGeom prst="rect">
            <a:avLst/>
          </a:prstGeom>
          <a:noFill/>
          <a:ln/>
        </p:spPr>
        <p:txBody>
          <a:bodyPr wrap="square" lIns="0" tIns="0" rIns="0" bIns="0" rtlCol="0" anchor="t"/>
          <a:lstStyle/>
          <a:p>
            <a:pPr marL="0" indent="0">
              <a:buNone/>
            </a:pPr>
            <a:r>
              <a:rPr lang="es-ES" sz="1400" b="1" kern="0" spc="300" noProof="0" dirty="0">
                <a:solidFill>
                  <a:srgbClr val="10A38A"/>
                </a:solidFill>
                <a:latin typeface="Calibri" pitchFamily="34" charset="0"/>
                <a:ea typeface="Calibri" pitchFamily="34" charset="-122"/>
                <a:cs typeface="Calibri" pitchFamily="34" charset="-120"/>
              </a:rPr>
              <a:t>GITHUB DEV DAYS 2026</a:t>
            </a:r>
            <a:endParaRPr lang="es-ES" sz="1400" noProof="0" dirty="0"/>
          </a:p>
        </p:txBody>
      </p:sp>
      <p:sp>
        <p:nvSpPr>
          <p:cNvPr id="57" name="Text 55"/>
          <p:cNvSpPr txBox="1"/>
          <p:nvPr/>
        </p:nvSpPr>
        <p:spPr>
          <a:xfrm>
            <a:off x="640080" y="1691640"/>
            <a:ext cx="6949440" cy="2286000"/>
          </a:xfrm>
          <a:prstGeom prst="rect">
            <a:avLst/>
          </a:prstGeom>
          <a:noFill/>
          <a:ln/>
        </p:spPr>
        <p:txBody>
          <a:bodyPr wrap="square" lIns="0" tIns="0" rIns="0" bIns="0" rtlCol="0" anchor="t"/>
          <a:lstStyle/>
          <a:p>
            <a:pPr marL="0" indent="0">
              <a:buNone/>
            </a:pPr>
            <a:r>
              <a:rPr lang="es-ES" sz="4800" b="1" noProof="0" dirty="0">
                <a:solidFill>
                  <a:srgbClr val="FFFFFF"/>
                </a:solidFill>
                <a:latin typeface="Calibri" pitchFamily="34" charset="0"/>
                <a:ea typeface="Calibri" pitchFamily="34" charset="-122"/>
                <a:cs typeface="Calibri" pitchFamily="34" charset="-120"/>
              </a:rPr>
              <a:t>Un Squad de agentes de IA, gobernado desde Azure</a:t>
            </a:r>
            <a:endParaRPr lang="es-ES" sz="48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63FC-54D1-8015-8F7A-0A64EB060E9B}"/>
            </a:ext>
          </a:extLst>
        </p:cNvPr>
        <p:cNvGrpSpPr/>
        <p:nvPr/>
      </p:nvGrpSpPr>
      <p:grpSpPr>
        <a:xfrm>
          <a:off x="0" y="0"/>
          <a:ext cx="0" cy="0"/>
          <a:chOff x="0" y="0"/>
          <a:chExt cx="0" cy="0"/>
        </a:xfrm>
      </p:grpSpPr>
      <p:pic>
        <p:nvPicPr>
          <p:cNvPr id="2" name="Picture 2" descr="Profile photo of Borja Piris de Castro">
            <a:extLst>
              <a:ext uri="{FF2B5EF4-FFF2-40B4-BE49-F238E27FC236}">
                <a16:creationId xmlns:a16="http://schemas.microsoft.com/office/drawing/2014/main" id="{C44D6EB3-3F35-8C0F-4A82-89D579D381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525502" y="924054"/>
            <a:ext cx="1945983" cy="1945983"/>
          </a:xfrm>
          <a:prstGeom prst="flowChartConnector">
            <a:avLst/>
          </a:prstGeom>
          <a:noFill/>
          <a:ln w="57150">
            <a:solidFill>
              <a:schemeClr val="bg1"/>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E774AC1-2B64-59FF-9EB5-2A33CC6DB64B}"/>
              </a:ext>
            </a:extLst>
          </p:cNvPr>
          <p:cNvSpPr txBox="1"/>
          <p:nvPr/>
        </p:nvSpPr>
        <p:spPr>
          <a:xfrm>
            <a:off x="519946" y="285423"/>
            <a:ext cx="3131007" cy="533650"/>
          </a:xfrm>
          <a:prstGeom prst="rect">
            <a:avLst/>
          </a:prstGeom>
          <a:noFill/>
        </p:spPr>
        <p:txBody>
          <a:bodyPr wrap="none" lIns="93260" tIns="46630" rIns="93260" bIns="46630" rtlCol="0" anchor="t">
            <a:spAutoFit/>
          </a:bodyPr>
          <a:lstStyle/>
          <a:p>
            <a:pPr defTabSz="932597">
              <a:defRPr/>
            </a:pPr>
            <a:r>
              <a:rPr lang="es-ES" sz="2856" noProof="0" dirty="0">
                <a:latin typeface="+mj-lt"/>
              </a:rPr>
              <a:t>Borja Piris de Castro</a:t>
            </a:r>
          </a:p>
        </p:txBody>
      </p:sp>
      <p:pic>
        <p:nvPicPr>
          <p:cNvPr id="4" name="Picture 2" descr="Tech Riders - FP + Professional Education">
            <a:extLst>
              <a:ext uri="{FF2B5EF4-FFF2-40B4-BE49-F238E27FC236}">
                <a16:creationId xmlns:a16="http://schemas.microsoft.com/office/drawing/2014/main" id="{16329189-7FE7-D58F-5927-FAC181ED9C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6475" y="1678513"/>
            <a:ext cx="1964991" cy="90513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3A7C81B-6F80-E617-50AD-44CC6443A8B3}"/>
              </a:ext>
            </a:extLst>
          </p:cNvPr>
          <p:cNvSpPr txBox="1"/>
          <p:nvPr/>
        </p:nvSpPr>
        <p:spPr>
          <a:xfrm>
            <a:off x="3184733" y="1001514"/>
            <a:ext cx="1524037" cy="398331"/>
          </a:xfrm>
          <a:prstGeom prst="rect">
            <a:avLst/>
          </a:prstGeom>
          <a:noFill/>
        </p:spPr>
        <p:txBody>
          <a:bodyPr wrap="square">
            <a:spAutoFit/>
          </a:bodyPr>
          <a:lstStyle/>
          <a:p>
            <a:pPr defTabSz="932597">
              <a:defRPr/>
            </a:pPr>
            <a:r>
              <a:rPr lang="es-ES" sz="1938" noProof="0" dirty="0">
                <a:latin typeface="Segoe UI"/>
              </a:rPr>
              <a:t>@pirisborja</a:t>
            </a:r>
          </a:p>
        </p:txBody>
      </p:sp>
      <p:grpSp>
        <p:nvGrpSpPr>
          <p:cNvPr id="6" name="Group 5">
            <a:extLst>
              <a:ext uri="{FF2B5EF4-FFF2-40B4-BE49-F238E27FC236}">
                <a16:creationId xmlns:a16="http://schemas.microsoft.com/office/drawing/2014/main" id="{B525AC3C-9BBA-5E8E-EB77-3BDE2CE77B8F}"/>
              </a:ext>
            </a:extLst>
          </p:cNvPr>
          <p:cNvGrpSpPr/>
          <p:nvPr/>
        </p:nvGrpSpPr>
        <p:grpSpPr>
          <a:xfrm>
            <a:off x="4979457" y="993666"/>
            <a:ext cx="5257895" cy="414353"/>
            <a:chOff x="7546691" y="4099979"/>
            <a:chExt cx="5155267" cy="406265"/>
          </a:xfrm>
        </p:grpSpPr>
        <p:pic>
          <p:nvPicPr>
            <p:cNvPr id="7" name="Graphic 6">
              <a:extLst>
                <a:ext uri="{FF2B5EF4-FFF2-40B4-BE49-F238E27FC236}">
                  <a16:creationId xmlns:a16="http://schemas.microsoft.com/office/drawing/2014/main" id="{0997ACD5-23BF-49CE-07CF-9110CAD48D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46691" y="4112339"/>
              <a:ext cx="360000" cy="360000"/>
            </a:xfrm>
            <a:prstGeom prst="rect">
              <a:avLst/>
            </a:prstGeom>
          </p:spPr>
        </p:pic>
        <p:sp>
          <p:nvSpPr>
            <p:cNvPr id="8" name="TextBox 7">
              <a:extLst>
                <a:ext uri="{FF2B5EF4-FFF2-40B4-BE49-F238E27FC236}">
                  <a16:creationId xmlns:a16="http://schemas.microsoft.com/office/drawing/2014/main" id="{9B83598B-B7B7-57B1-D26D-C992DABA6739}"/>
                </a:ext>
              </a:extLst>
            </p:cNvPr>
            <p:cNvSpPr txBox="1"/>
            <p:nvPr/>
          </p:nvSpPr>
          <p:spPr>
            <a:xfrm>
              <a:off x="7922133" y="4099979"/>
              <a:ext cx="4779825" cy="406265"/>
            </a:xfrm>
            <a:prstGeom prst="rect">
              <a:avLst/>
            </a:prstGeom>
            <a:noFill/>
          </p:spPr>
          <p:txBody>
            <a:bodyPr wrap="square">
              <a:spAutoFit/>
            </a:bodyPr>
            <a:lstStyle/>
            <a:p>
              <a:pPr defTabSz="932597">
                <a:defRPr/>
              </a:pPr>
              <a:r>
                <a:rPr lang="es-ES" sz="1938" noProof="0" dirty="0">
                  <a:latin typeface="Segoe UI"/>
                </a:rPr>
                <a:t>https://www.linkedin.com/in/</a:t>
              </a:r>
              <a:r>
                <a:rPr lang="es-ES" sz="2040" noProof="0" dirty="0">
                  <a:latin typeface="Segoe UI"/>
                </a:rPr>
                <a:t>borja-piris</a:t>
              </a:r>
              <a:r>
                <a:rPr lang="es-ES" sz="1938" noProof="0" dirty="0">
                  <a:latin typeface="Segoe UI"/>
                </a:rPr>
                <a:t>/ </a:t>
              </a:r>
            </a:p>
          </p:txBody>
        </p:sp>
      </p:grpSp>
      <p:sp>
        <p:nvSpPr>
          <p:cNvPr id="9" name="Rectangle 8">
            <a:extLst>
              <a:ext uri="{FF2B5EF4-FFF2-40B4-BE49-F238E27FC236}">
                <a16:creationId xmlns:a16="http://schemas.microsoft.com/office/drawing/2014/main" id="{8075A41B-1B3C-EC25-B0A5-31D35CF68B37}"/>
              </a:ext>
            </a:extLst>
          </p:cNvPr>
          <p:cNvSpPr/>
          <p:nvPr/>
        </p:nvSpPr>
        <p:spPr bwMode="auto">
          <a:xfrm>
            <a:off x="5163040" y="1678511"/>
            <a:ext cx="7669708" cy="90513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defTabSz="951028" fontAlgn="base">
              <a:spcBef>
                <a:spcPct val="0"/>
              </a:spcBef>
              <a:spcAft>
                <a:spcPct val="0"/>
              </a:spcAft>
            </a:pPr>
            <a:endParaRPr lang="es-ES" sz="2040" noProof="0" dirty="0">
              <a:solidFill>
                <a:schemeClr val="tx1"/>
              </a:soli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9F97D555-5F7B-D24D-534A-2EAA90B39417}"/>
              </a:ext>
            </a:extLst>
          </p:cNvPr>
          <p:cNvGrpSpPr/>
          <p:nvPr/>
        </p:nvGrpSpPr>
        <p:grpSpPr>
          <a:xfrm>
            <a:off x="5567224" y="1716463"/>
            <a:ext cx="4480448" cy="382308"/>
            <a:chOff x="5262449" y="1497172"/>
            <a:chExt cx="4392995" cy="374846"/>
          </a:xfrm>
        </p:grpSpPr>
        <p:sp>
          <p:nvSpPr>
            <p:cNvPr id="11" name="CuadroTexto 8">
              <a:extLst>
                <a:ext uri="{FF2B5EF4-FFF2-40B4-BE49-F238E27FC236}">
                  <a16:creationId xmlns:a16="http://schemas.microsoft.com/office/drawing/2014/main" id="{BABC2BE0-2FBC-3EDF-6FCF-575E95BE3CB8}"/>
                </a:ext>
              </a:extLst>
            </p:cNvPr>
            <p:cNvSpPr txBox="1"/>
            <p:nvPr/>
          </p:nvSpPr>
          <p:spPr>
            <a:xfrm>
              <a:off x="5659336" y="1497172"/>
              <a:ext cx="3996108" cy="374846"/>
            </a:xfrm>
            <a:prstGeom prst="rect">
              <a:avLst/>
            </a:prstGeom>
            <a:noFill/>
          </p:spPr>
          <p:txBody>
            <a:bodyPr wrap="square">
              <a:spAutoFit/>
            </a:bodyPr>
            <a:lstStyle/>
            <a:p>
              <a:pPr defTabSz="932597">
                <a:defRPr/>
              </a:pPr>
              <a:r>
                <a:rPr lang="es-ES" sz="1836" noProof="0" dirty="0">
                  <a:latin typeface="Segoe UI"/>
                </a:rPr>
                <a:t>https://techriders.tajamar.es/</a:t>
              </a:r>
            </a:p>
          </p:txBody>
        </p:sp>
        <p:pic>
          <p:nvPicPr>
            <p:cNvPr id="12" name="Picture 4" descr="New message - Free communications icons">
              <a:extLst>
                <a:ext uri="{FF2B5EF4-FFF2-40B4-BE49-F238E27FC236}">
                  <a16:creationId xmlns:a16="http://schemas.microsoft.com/office/drawing/2014/main" id="{5B760296-8210-C868-5EEA-263848B359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62449" y="1512562"/>
              <a:ext cx="338553" cy="3385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EFCDAE35-76A7-84D3-AF2D-DA91B69F42E0}"/>
              </a:ext>
            </a:extLst>
          </p:cNvPr>
          <p:cNvGrpSpPr/>
          <p:nvPr/>
        </p:nvGrpSpPr>
        <p:grpSpPr>
          <a:xfrm>
            <a:off x="5610601" y="2152765"/>
            <a:ext cx="7676186" cy="382308"/>
            <a:chOff x="5304980" y="1924958"/>
            <a:chExt cx="7526356" cy="374846"/>
          </a:xfrm>
        </p:grpSpPr>
        <p:sp>
          <p:nvSpPr>
            <p:cNvPr id="14" name="CuadroTexto 27">
              <a:extLst>
                <a:ext uri="{FF2B5EF4-FFF2-40B4-BE49-F238E27FC236}">
                  <a16:creationId xmlns:a16="http://schemas.microsoft.com/office/drawing/2014/main" id="{B4E3B547-DE65-D3AB-5CEA-82CA63362C38}"/>
                </a:ext>
              </a:extLst>
            </p:cNvPr>
            <p:cNvSpPr txBox="1"/>
            <p:nvPr/>
          </p:nvSpPr>
          <p:spPr>
            <a:xfrm>
              <a:off x="5657454" y="1924958"/>
              <a:ext cx="7173882" cy="374846"/>
            </a:xfrm>
            <a:prstGeom prst="rect">
              <a:avLst/>
            </a:prstGeom>
            <a:noFill/>
          </p:spPr>
          <p:txBody>
            <a:bodyPr wrap="square">
              <a:spAutoFit/>
            </a:bodyPr>
            <a:lstStyle/>
            <a:p>
              <a:pPr defTabSz="932597">
                <a:defRPr/>
              </a:pPr>
              <a:r>
                <a:rPr lang="es-ES" sz="1836" noProof="0" dirty="0">
                  <a:latin typeface="Segoe UI"/>
                </a:rPr>
                <a:t>https://www.youtube.com/@TechRiders_es</a:t>
              </a:r>
            </a:p>
          </p:txBody>
        </p:sp>
        <p:pic>
          <p:nvPicPr>
            <p:cNvPr id="15" name="Graphic 14">
              <a:extLst>
                <a:ext uri="{FF2B5EF4-FFF2-40B4-BE49-F238E27FC236}">
                  <a16:creationId xmlns:a16="http://schemas.microsoft.com/office/drawing/2014/main" id="{75A96EFA-A93C-959F-8464-5048FDC431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04980" y="1993742"/>
              <a:ext cx="273600" cy="273600"/>
            </a:xfrm>
            <a:prstGeom prst="rect">
              <a:avLst/>
            </a:prstGeom>
          </p:spPr>
        </p:pic>
      </p:grpSp>
      <p:grpSp>
        <p:nvGrpSpPr>
          <p:cNvPr id="16" name="Group 15">
            <a:extLst>
              <a:ext uri="{FF2B5EF4-FFF2-40B4-BE49-F238E27FC236}">
                <a16:creationId xmlns:a16="http://schemas.microsoft.com/office/drawing/2014/main" id="{FEF02483-DA33-C38E-BF8F-5FED1C89A153}"/>
              </a:ext>
            </a:extLst>
          </p:cNvPr>
          <p:cNvGrpSpPr/>
          <p:nvPr/>
        </p:nvGrpSpPr>
        <p:grpSpPr>
          <a:xfrm>
            <a:off x="3236476" y="4335571"/>
            <a:ext cx="10175416" cy="2184344"/>
            <a:chOff x="2977195" y="3926489"/>
            <a:chExt cx="9976804" cy="2141708"/>
          </a:xfrm>
        </p:grpSpPr>
        <p:sp>
          <p:nvSpPr>
            <p:cNvPr id="17" name="Rectangle 16">
              <a:extLst>
                <a:ext uri="{FF2B5EF4-FFF2-40B4-BE49-F238E27FC236}">
                  <a16:creationId xmlns:a16="http://schemas.microsoft.com/office/drawing/2014/main" id="{07F1C55D-B74D-357C-7F6C-9DBE25212642}"/>
                </a:ext>
              </a:extLst>
            </p:cNvPr>
            <p:cNvSpPr/>
            <p:nvPr/>
          </p:nvSpPr>
          <p:spPr>
            <a:xfrm>
              <a:off x="3970596" y="4230538"/>
              <a:ext cx="8983403" cy="1413141"/>
            </a:xfrm>
            <a:prstGeom prst="rect">
              <a:avLst/>
            </a:prstGeom>
            <a:solidFill>
              <a:srgbClr val="92D050">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32597">
                <a:defRPr/>
              </a:pPr>
              <a:endParaRPr lang="es-ES" sz="1836" noProof="0" dirty="0">
                <a:solidFill>
                  <a:schemeClr val="tx1"/>
                </a:solidFill>
                <a:latin typeface="Segoe UI"/>
              </a:endParaRPr>
            </a:p>
          </p:txBody>
        </p:sp>
        <p:pic>
          <p:nvPicPr>
            <p:cNvPr id="18" name="Picture 17" descr="A computer with a green triangle and text&#10;&#10;Description automatically generated">
              <a:extLst>
                <a:ext uri="{FF2B5EF4-FFF2-40B4-BE49-F238E27FC236}">
                  <a16:creationId xmlns:a16="http://schemas.microsoft.com/office/drawing/2014/main" id="{C0369BAC-403D-41B0-FDDA-5A372F10AF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77195" y="3926489"/>
              <a:ext cx="2141708" cy="2141708"/>
            </a:xfrm>
            <a:prstGeom prst="rect">
              <a:avLst/>
            </a:prstGeom>
          </p:spPr>
        </p:pic>
      </p:grpSp>
      <p:pic>
        <p:nvPicPr>
          <p:cNvPr id="19" name="Picture 18" descr="A person with his arms crossed&#10;&#10;Description automatically generated with medium confidence">
            <a:extLst>
              <a:ext uri="{FF2B5EF4-FFF2-40B4-BE49-F238E27FC236}">
                <a16:creationId xmlns:a16="http://schemas.microsoft.com/office/drawing/2014/main" id="{7013B630-5CFB-8882-75D9-8F5751736A01}"/>
              </a:ext>
            </a:extLst>
          </p:cNvPr>
          <p:cNvPicPr>
            <a:picLocks noChangeAspect="1"/>
          </p:cNvPicPr>
          <p:nvPr/>
        </p:nvPicPr>
        <p:blipFill rotWithShape="1">
          <a:blip r:embed="rId8">
            <a:extLst>
              <a:ext uri="{28A0092B-C50C-407E-A947-70E740481C1C}">
                <a14:useLocalDpi xmlns:a14="http://schemas.microsoft.com/office/drawing/2010/main" val="0"/>
              </a:ext>
            </a:extLst>
          </a:blip>
          <a:srcRect t="-203" b="25203"/>
          <a:stretch/>
        </p:blipFill>
        <p:spPr>
          <a:xfrm>
            <a:off x="519946" y="4000260"/>
            <a:ext cx="1945983" cy="1945983"/>
          </a:xfrm>
          <a:prstGeom prst="flowChartConnector">
            <a:avLst/>
          </a:prstGeom>
          <a:noFill/>
          <a:ln w="57150">
            <a:solidFill>
              <a:schemeClr val="bg1"/>
            </a:solidFill>
          </a:ln>
        </p:spPr>
      </p:pic>
      <p:grpSp>
        <p:nvGrpSpPr>
          <p:cNvPr id="20" name="Group 19">
            <a:extLst>
              <a:ext uri="{FF2B5EF4-FFF2-40B4-BE49-F238E27FC236}">
                <a16:creationId xmlns:a16="http://schemas.microsoft.com/office/drawing/2014/main" id="{CA36B611-23E9-E274-5699-E3B582F61045}"/>
              </a:ext>
            </a:extLst>
          </p:cNvPr>
          <p:cNvGrpSpPr/>
          <p:nvPr/>
        </p:nvGrpSpPr>
        <p:grpSpPr>
          <a:xfrm>
            <a:off x="5673340" y="4907202"/>
            <a:ext cx="8875604" cy="414353"/>
            <a:chOff x="7237983" y="4817272"/>
            <a:chExt cx="8702363" cy="406265"/>
          </a:xfrm>
        </p:grpSpPr>
        <p:pic>
          <p:nvPicPr>
            <p:cNvPr id="21" name="Picture 4" descr="New message - Free communications icons">
              <a:extLst>
                <a:ext uri="{FF2B5EF4-FFF2-40B4-BE49-F238E27FC236}">
                  <a16:creationId xmlns:a16="http://schemas.microsoft.com/office/drawing/2014/main" id="{F7EB23E6-CDEB-28A2-1F4F-A013FFAFAD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7983" y="4848051"/>
              <a:ext cx="338553" cy="33855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A0C0BD52-48A4-EAF8-1F53-C4002558FC9B}"/>
                </a:ext>
              </a:extLst>
            </p:cNvPr>
            <p:cNvSpPr txBox="1"/>
            <p:nvPr/>
          </p:nvSpPr>
          <p:spPr>
            <a:xfrm>
              <a:off x="7582160" y="4817272"/>
              <a:ext cx="8358186" cy="406265"/>
            </a:xfrm>
            <a:prstGeom prst="rect">
              <a:avLst/>
            </a:prstGeom>
            <a:noFill/>
          </p:spPr>
          <p:txBody>
            <a:bodyPr wrap="square">
              <a:spAutoFit/>
            </a:bodyPr>
            <a:lstStyle/>
            <a:p>
              <a:pPr defTabSz="932597">
                <a:defRPr/>
              </a:pPr>
              <a:r>
                <a:rPr lang="es-ES" sz="2040" noProof="0" dirty="0">
                  <a:latin typeface="Segoe UI"/>
                </a:rPr>
                <a:t>https://www.codertectura.com/ </a:t>
              </a:r>
            </a:p>
          </p:txBody>
        </p:sp>
      </p:grpSp>
      <p:grpSp>
        <p:nvGrpSpPr>
          <p:cNvPr id="23" name="Group 22">
            <a:extLst>
              <a:ext uri="{FF2B5EF4-FFF2-40B4-BE49-F238E27FC236}">
                <a16:creationId xmlns:a16="http://schemas.microsoft.com/office/drawing/2014/main" id="{32DA8F94-F6D9-7F89-B9B9-E2E7525DE16C}"/>
              </a:ext>
            </a:extLst>
          </p:cNvPr>
          <p:cNvGrpSpPr/>
          <p:nvPr/>
        </p:nvGrpSpPr>
        <p:grpSpPr>
          <a:xfrm>
            <a:off x="5726089" y="5385037"/>
            <a:ext cx="8822855" cy="414353"/>
            <a:chOff x="7289509" y="5284139"/>
            <a:chExt cx="8650643" cy="406265"/>
          </a:xfrm>
        </p:grpSpPr>
        <p:pic>
          <p:nvPicPr>
            <p:cNvPr id="24" name="Graphic 23">
              <a:extLst>
                <a:ext uri="{FF2B5EF4-FFF2-40B4-BE49-F238E27FC236}">
                  <a16:creationId xmlns:a16="http://schemas.microsoft.com/office/drawing/2014/main" id="{A25DA2B2-A1C7-8B11-3133-40697162A60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89509" y="5347394"/>
              <a:ext cx="273600" cy="273600"/>
            </a:xfrm>
            <a:prstGeom prst="rect">
              <a:avLst/>
            </a:prstGeom>
          </p:spPr>
        </p:pic>
        <p:sp>
          <p:nvSpPr>
            <p:cNvPr id="25" name="TextBox 24">
              <a:extLst>
                <a:ext uri="{FF2B5EF4-FFF2-40B4-BE49-F238E27FC236}">
                  <a16:creationId xmlns:a16="http://schemas.microsoft.com/office/drawing/2014/main" id="{8B4701F3-EAEC-2A50-4294-3350D209467E}"/>
                </a:ext>
              </a:extLst>
            </p:cNvPr>
            <p:cNvSpPr txBox="1"/>
            <p:nvPr/>
          </p:nvSpPr>
          <p:spPr>
            <a:xfrm>
              <a:off x="7582160" y="5284139"/>
              <a:ext cx="8357992" cy="406265"/>
            </a:xfrm>
            <a:prstGeom prst="rect">
              <a:avLst/>
            </a:prstGeom>
            <a:noFill/>
          </p:spPr>
          <p:txBody>
            <a:bodyPr wrap="square">
              <a:spAutoFit/>
            </a:bodyPr>
            <a:lstStyle/>
            <a:p>
              <a:pPr defTabSz="932597">
                <a:defRPr/>
              </a:pPr>
              <a:r>
                <a:rPr lang="es-ES" sz="2040" noProof="0" dirty="0">
                  <a:latin typeface="Segoe UI"/>
                </a:rPr>
                <a:t>https://www.youtube.com/@codertectura</a:t>
              </a:r>
            </a:p>
          </p:txBody>
        </p:sp>
      </p:grpSp>
      <p:sp>
        <p:nvSpPr>
          <p:cNvPr id="26" name="TextBox 25">
            <a:extLst>
              <a:ext uri="{FF2B5EF4-FFF2-40B4-BE49-F238E27FC236}">
                <a16:creationId xmlns:a16="http://schemas.microsoft.com/office/drawing/2014/main" id="{520A6435-1A61-0733-21F4-D14F9BE17664}"/>
              </a:ext>
            </a:extLst>
          </p:cNvPr>
          <p:cNvSpPr txBox="1"/>
          <p:nvPr/>
        </p:nvSpPr>
        <p:spPr>
          <a:xfrm>
            <a:off x="519946" y="3257500"/>
            <a:ext cx="4681520" cy="542399"/>
          </a:xfrm>
          <a:prstGeom prst="rect">
            <a:avLst/>
          </a:prstGeom>
          <a:noFill/>
        </p:spPr>
        <p:txBody>
          <a:bodyPr wrap="square" lIns="93260" tIns="46630" rIns="93260" bIns="46630" rtlCol="0" anchor="t">
            <a:spAutoFit/>
          </a:bodyPr>
          <a:lstStyle/>
          <a:p>
            <a:pPr defTabSz="932597">
              <a:defRPr/>
            </a:pPr>
            <a:r>
              <a:rPr lang="es-ES" sz="2856" noProof="0" dirty="0">
                <a:latin typeface="+mj-lt"/>
              </a:rPr>
              <a:t>Rodrigo E. Liberoff V.</a:t>
            </a:r>
          </a:p>
        </p:txBody>
      </p:sp>
      <p:sp>
        <p:nvSpPr>
          <p:cNvPr id="27" name="TextBox 26">
            <a:extLst>
              <a:ext uri="{FF2B5EF4-FFF2-40B4-BE49-F238E27FC236}">
                <a16:creationId xmlns:a16="http://schemas.microsoft.com/office/drawing/2014/main" id="{0908F98A-5C63-1400-5513-43792305EA73}"/>
              </a:ext>
            </a:extLst>
          </p:cNvPr>
          <p:cNvSpPr txBox="1"/>
          <p:nvPr/>
        </p:nvSpPr>
        <p:spPr>
          <a:xfrm>
            <a:off x="3148846" y="3886157"/>
            <a:ext cx="1305558" cy="398331"/>
          </a:xfrm>
          <a:prstGeom prst="rect">
            <a:avLst/>
          </a:prstGeom>
          <a:noFill/>
        </p:spPr>
        <p:txBody>
          <a:bodyPr wrap="square">
            <a:spAutoFit/>
          </a:bodyPr>
          <a:lstStyle/>
          <a:p>
            <a:pPr defTabSz="932597">
              <a:defRPr/>
            </a:pPr>
            <a:r>
              <a:rPr lang="es-ES" sz="1938" noProof="0" dirty="0">
                <a:latin typeface="Segoe UI"/>
              </a:rPr>
              <a:t>@rliberoff</a:t>
            </a:r>
          </a:p>
        </p:txBody>
      </p:sp>
      <p:grpSp>
        <p:nvGrpSpPr>
          <p:cNvPr id="28" name="Group 27">
            <a:extLst>
              <a:ext uri="{FF2B5EF4-FFF2-40B4-BE49-F238E27FC236}">
                <a16:creationId xmlns:a16="http://schemas.microsoft.com/office/drawing/2014/main" id="{4B9E0824-F784-2D18-DF02-CFCDA2A29B86}"/>
              </a:ext>
            </a:extLst>
          </p:cNvPr>
          <p:cNvGrpSpPr/>
          <p:nvPr/>
        </p:nvGrpSpPr>
        <p:grpSpPr>
          <a:xfrm>
            <a:off x="4979457" y="3886154"/>
            <a:ext cx="4737785" cy="390556"/>
            <a:chOff x="7546691" y="4099979"/>
            <a:chExt cx="4645309" cy="382933"/>
          </a:xfrm>
        </p:grpSpPr>
        <p:pic>
          <p:nvPicPr>
            <p:cNvPr id="29" name="Graphic 28">
              <a:extLst>
                <a:ext uri="{FF2B5EF4-FFF2-40B4-BE49-F238E27FC236}">
                  <a16:creationId xmlns:a16="http://schemas.microsoft.com/office/drawing/2014/main" id="{7520F937-C06E-6FCE-A253-285EC15F26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46691" y="4112339"/>
              <a:ext cx="360000" cy="360000"/>
            </a:xfrm>
            <a:prstGeom prst="rect">
              <a:avLst/>
            </a:prstGeom>
          </p:spPr>
        </p:pic>
        <p:sp>
          <p:nvSpPr>
            <p:cNvPr id="30" name="TextBox 29">
              <a:extLst>
                <a:ext uri="{FF2B5EF4-FFF2-40B4-BE49-F238E27FC236}">
                  <a16:creationId xmlns:a16="http://schemas.microsoft.com/office/drawing/2014/main" id="{1D4669F8-25DE-F0D5-CB8A-4E0DEA57609B}"/>
                </a:ext>
              </a:extLst>
            </p:cNvPr>
            <p:cNvSpPr txBox="1"/>
            <p:nvPr/>
          </p:nvSpPr>
          <p:spPr>
            <a:xfrm>
              <a:off x="7922134" y="4099979"/>
              <a:ext cx="4269866" cy="382933"/>
            </a:xfrm>
            <a:prstGeom prst="rect">
              <a:avLst/>
            </a:prstGeom>
            <a:noFill/>
          </p:spPr>
          <p:txBody>
            <a:bodyPr wrap="square">
              <a:spAutoFit/>
            </a:bodyPr>
            <a:lstStyle/>
            <a:p>
              <a:pPr defTabSz="932597">
                <a:defRPr/>
              </a:pPr>
              <a:r>
                <a:rPr lang="es-ES" sz="1938" noProof="0" dirty="0">
                  <a:latin typeface="Segoe UI"/>
                </a:rPr>
                <a:t>https://www.linkedin.com/in/rliberoff/ </a:t>
              </a:r>
            </a:p>
          </p:txBody>
        </p:sp>
      </p:grpSp>
      <p:pic>
        <p:nvPicPr>
          <p:cNvPr id="31" name="Graphic 30">
            <a:extLst>
              <a:ext uri="{FF2B5EF4-FFF2-40B4-BE49-F238E27FC236}">
                <a16:creationId xmlns:a16="http://schemas.microsoft.com/office/drawing/2014/main" id="{CC291E1F-6D62-AA37-4D09-8580614E69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86784" y="1021767"/>
            <a:ext cx="387715" cy="351875"/>
          </a:xfrm>
          <a:prstGeom prst="rect">
            <a:avLst/>
          </a:prstGeom>
        </p:spPr>
      </p:pic>
      <p:pic>
        <p:nvPicPr>
          <p:cNvPr id="32" name="Graphic 31">
            <a:extLst>
              <a:ext uri="{FF2B5EF4-FFF2-40B4-BE49-F238E27FC236}">
                <a16:creationId xmlns:a16="http://schemas.microsoft.com/office/drawing/2014/main" id="{23DBD646-5D4D-59D5-509C-51B1352E241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86784" y="3906410"/>
            <a:ext cx="387715" cy="351875"/>
          </a:xfrm>
          <a:prstGeom prst="rect">
            <a:avLst/>
          </a:prstGeom>
        </p:spPr>
      </p:pic>
      <p:sp>
        <p:nvSpPr>
          <p:cNvPr id="34" name="CuadroTexto 8">
            <a:extLst>
              <a:ext uri="{FF2B5EF4-FFF2-40B4-BE49-F238E27FC236}">
                <a16:creationId xmlns:a16="http://schemas.microsoft.com/office/drawing/2014/main" id="{1877F340-FF95-41A8-6ACE-9087F0D31CAD}"/>
              </a:ext>
            </a:extLst>
          </p:cNvPr>
          <p:cNvSpPr txBox="1"/>
          <p:nvPr/>
        </p:nvSpPr>
        <p:spPr>
          <a:xfrm>
            <a:off x="3703637" y="405202"/>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sp>
        <p:nvSpPr>
          <p:cNvPr id="35" name="CuadroTexto 31">
            <a:extLst>
              <a:ext uri="{FF2B5EF4-FFF2-40B4-BE49-F238E27FC236}">
                <a16:creationId xmlns:a16="http://schemas.microsoft.com/office/drawing/2014/main" id="{035F912C-62CE-7C3B-19D4-4C723EE7FB76}"/>
              </a:ext>
            </a:extLst>
          </p:cNvPr>
          <p:cNvSpPr txBox="1"/>
          <p:nvPr/>
        </p:nvSpPr>
        <p:spPr>
          <a:xfrm>
            <a:off x="3833329" y="3381547"/>
            <a:ext cx="7275908" cy="369332"/>
          </a:xfrm>
          <a:prstGeom prst="rect">
            <a:avLst/>
          </a:prstGeom>
          <a:noFill/>
        </p:spPr>
        <p:txBody>
          <a:bodyPr wrap="square">
            <a:spAutoFit/>
          </a:bodyPr>
          <a:lstStyle/>
          <a:p>
            <a:r>
              <a:rPr lang="es-ES" sz="1600" b="1" noProof="0" dirty="0" err="1">
                <a:latin typeface="Segoe UI Semibold" panose="020B0702040204020203" pitchFamily="34" charset="0"/>
                <a:cs typeface="Segoe UI Semibold" panose="020B0702040204020203" pitchFamily="34" charset="0"/>
              </a:rPr>
              <a:t>works</a:t>
            </a:r>
            <a:r>
              <a:rPr lang="es-ES" sz="1600" b="1" noProof="0" dirty="0">
                <a:latin typeface="Segoe UI Semibold" panose="020B0702040204020203" pitchFamily="34" charset="0"/>
                <a:cs typeface="Segoe UI Semibold" panose="020B0702040204020203" pitchFamily="34" charset="0"/>
              </a:rPr>
              <a:t> at </a:t>
            </a:r>
            <a:r>
              <a:rPr lang="es-ES" b="1" noProof="0" dirty="0">
                <a:solidFill>
                  <a:srgbClr val="377631"/>
                </a:solidFill>
                <a:latin typeface="Segoe UI Semibold"/>
                <a:ea typeface="Segoe UI Black"/>
                <a:cs typeface="Segoe UI Semibold"/>
              </a:rPr>
              <a:t>E</a:t>
            </a:r>
            <a:r>
              <a:rPr lang="es-ES" b="1" noProof="0" dirty="0">
                <a:solidFill>
                  <a:srgbClr val="4AAC33"/>
                </a:solidFill>
                <a:latin typeface="Segoe UI Semibold"/>
                <a:ea typeface="Segoe UI Black"/>
                <a:cs typeface="Segoe UI Semibold"/>
              </a:rPr>
              <a:t>N</a:t>
            </a:r>
            <a:r>
              <a:rPr lang="es-ES" b="1" noProof="0" dirty="0">
                <a:solidFill>
                  <a:srgbClr val="0FAE91"/>
                </a:solidFill>
                <a:latin typeface="Segoe UI Semibold"/>
                <a:ea typeface="Segoe UI Black"/>
                <a:cs typeface="Segoe UI Semibold"/>
              </a:rPr>
              <a:t>C</a:t>
            </a:r>
            <a:r>
              <a:rPr lang="es-ES" b="1" noProof="0" dirty="0">
                <a:solidFill>
                  <a:srgbClr val="0EA5DF"/>
                </a:solidFill>
                <a:latin typeface="Segoe UI Semibold"/>
                <a:ea typeface="Segoe UI Black"/>
                <a:cs typeface="Segoe UI Semibold"/>
              </a:rPr>
              <a:t>A</a:t>
            </a:r>
            <a:r>
              <a:rPr lang="es-ES" b="1" noProof="0" dirty="0">
                <a:solidFill>
                  <a:srgbClr val="444797"/>
                </a:solidFill>
                <a:latin typeface="Segoe UI Semibold"/>
                <a:ea typeface="Segoe UI Black"/>
                <a:cs typeface="Segoe UI Semibold"/>
              </a:rPr>
              <a:t>M</a:t>
            </a:r>
            <a:r>
              <a:rPr lang="es-ES" b="1" noProof="0" dirty="0">
                <a:solidFill>
                  <a:srgbClr val="6A398E"/>
                </a:solidFill>
                <a:latin typeface="Segoe UI Semibold"/>
                <a:ea typeface="Segoe UI Black"/>
                <a:cs typeface="Segoe UI Semibold"/>
              </a:rPr>
              <a:t>I</a:t>
            </a:r>
            <a:r>
              <a:rPr lang="es-ES" b="1" noProof="0" dirty="0">
                <a:solidFill>
                  <a:srgbClr val="9F3E8F"/>
                </a:solidFill>
                <a:latin typeface="Segoe UI Semibold"/>
                <a:ea typeface="Segoe UI Black"/>
                <a:cs typeface="Segoe UI Semibold"/>
              </a:rPr>
              <a:t>N</a:t>
            </a:r>
            <a:r>
              <a:rPr lang="es-ES" b="1" noProof="0" dirty="0">
                <a:solidFill>
                  <a:srgbClr val="C01B37"/>
                </a:solidFill>
                <a:latin typeface="Segoe UI Semibold"/>
                <a:ea typeface="Segoe UI Black"/>
                <a:cs typeface="Segoe UI Semibold"/>
              </a:rPr>
              <a:t>A</a:t>
            </a:r>
            <a:endParaRPr lang="es-ES" sz="1800" b="1" noProof="0" dirty="0">
              <a:latin typeface="Segoe UI Semibold"/>
              <a:ea typeface="Segoe UI Black"/>
              <a:cs typeface="Segoe UI Semibold"/>
            </a:endParaRPr>
          </a:p>
        </p:txBody>
      </p:sp>
      <p:pic>
        <p:nvPicPr>
          <p:cNvPr id="36" name="Picture 17" descr="A blue and white rectangular sign with white text&#10;&#10;Description automatically generated">
            <a:extLst>
              <a:ext uri="{FF2B5EF4-FFF2-40B4-BE49-F238E27FC236}">
                <a16:creationId xmlns:a16="http://schemas.microsoft.com/office/drawing/2014/main" id="{7EAEF450-7A4A-9D90-BF8D-FCD2CE995A9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42734" y="2246493"/>
            <a:ext cx="443102" cy="700720"/>
          </a:xfrm>
          <a:prstGeom prst="rect">
            <a:avLst/>
          </a:prstGeom>
        </p:spPr>
      </p:pic>
    </p:spTree>
    <p:extLst>
      <p:ext uri="{BB962C8B-B14F-4D97-AF65-F5344CB8AC3E}">
        <p14:creationId xmlns:p14="http://schemas.microsoft.com/office/powerpoint/2010/main" val="321143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3000" fill="hold"/>
                                        <p:tgtEl>
                                          <p:spTgt spid="4"/>
                                        </p:tgtEl>
                                        <p:attrNameLst>
                                          <p:attrName>ppt_x</p:attrName>
                                        </p:attrNameLst>
                                      </p:cBhvr>
                                      <p:tavLst>
                                        <p:tav tm="0">
                                          <p:val>
                                            <p:strVal val="1+#ppt_w/2"/>
                                          </p:val>
                                        </p:tav>
                                        <p:tav tm="100000">
                                          <p:val>
                                            <p:strVal val="#ppt_x"/>
                                          </p:val>
                                        </p:tav>
                                      </p:tavLst>
                                    </p:anim>
                                    <p:anim calcmode="lin" valueType="num">
                                      <p:cBhvr additive="base">
                                        <p:cTn id="8" dur="30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3000" fill="hold"/>
                                        <p:tgtEl>
                                          <p:spTgt spid="9"/>
                                        </p:tgtEl>
                                        <p:attrNameLst>
                                          <p:attrName>ppt_x</p:attrName>
                                        </p:attrNameLst>
                                      </p:cBhvr>
                                      <p:tavLst>
                                        <p:tav tm="0">
                                          <p:val>
                                            <p:strVal val="1+#ppt_w/2"/>
                                          </p:val>
                                        </p:tav>
                                        <p:tav tm="100000">
                                          <p:val>
                                            <p:strVal val="#ppt_x"/>
                                          </p:val>
                                        </p:tav>
                                      </p:tavLst>
                                    </p:anim>
                                    <p:anim calcmode="lin" valueType="num">
                                      <p:cBhvr additive="base">
                                        <p:cTn id="12" dur="30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00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1500" fill="hold"/>
                                        <p:tgtEl>
                                          <p:spTgt spid="10"/>
                                        </p:tgtEl>
                                        <p:attrNameLst>
                                          <p:attrName>ppt_x</p:attrName>
                                        </p:attrNameLst>
                                      </p:cBhvr>
                                      <p:tavLst>
                                        <p:tav tm="0">
                                          <p:val>
                                            <p:strVal val="1+#ppt_w/2"/>
                                          </p:val>
                                        </p:tav>
                                        <p:tav tm="100000">
                                          <p:val>
                                            <p:strVal val="#ppt_x"/>
                                          </p:val>
                                        </p:tav>
                                      </p:tavLst>
                                    </p:anim>
                                    <p:anim calcmode="lin" valueType="num">
                                      <p:cBhvr additive="base">
                                        <p:cTn id="16" dur="1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25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500" fill="hold"/>
                                        <p:tgtEl>
                                          <p:spTgt spid="13"/>
                                        </p:tgtEl>
                                        <p:attrNameLst>
                                          <p:attrName>ppt_x</p:attrName>
                                        </p:attrNameLst>
                                      </p:cBhvr>
                                      <p:tavLst>
                                        <p:tav tm="0">
                                          <p:val>
                                            <p:strVal val="1+#ppt_w/2"/>
                                          </p:val>
                                        </p:tav>
                                        <p:tav tm="100000">
                                          <p:val>
                                            <p:strVal val="#ppt_x"/>
                                          </p:val>
                                        </p:tav>
                                      </p:tavLst>
                                    </p:anim>
                                    <p:anim calcmode="lin" valueType="num">
                                      <p:cBhvr additive="base">
                                        <p:cTn id="20" dur="1500" fill="hold"/>
                                        <p:tgtEl>
                                          <p:spTgt spid="1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3000" fill="hold"/>
                                        <p:tgtEl>
                                          <p:spTgt spid="16"/>
                                        </p:tgtEl>
                                        <p:attrNameLst>
                                          <p:attrName>ppt_x</p:attrName>
                                        </p:attrNameLst>
                                      </p:cBhvr>
                                      <p:tavLst>
                                        <p:tav tm="0">
                                          <p:val>
                                            <p:strVal val="1+#ppt_w/2"/>
                                          </p:val>
                                        </p:tav>
                                        <p:tav tm="100000">
                                          <p:val>
                                            <p:strVal val="#ppt_x"/>
                                          </p:val>
                                        </p:tav>
                                      </p:tavLst>
                                    </p:anim>
                                    <p:anim calcmode="lin" valueType="num">
                                      <p:cBhvr additive="base">
                                        <p:cTn id="24" dur="3000" fill="hold"/>
                                        <p:tgtEl>
                                          <p:spTgt spid="16"/>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200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500" fill="hold"/>
                                        <p:tgtEl>
                                          <p:spTgt spid="20"/>
                                        </p:tgtEl>
                                        <p:attrNameLst>
                                          <p:attrName>ppt_x</p:attrName>
                                        </p:attrNameLst>
                                      </p:cBhvr>
                                      <p:tavLst>
                                        <p:tav tm="0">
                                          <p:val>
                                            <p:strVal val="1+#ppt_w/2"/>
                                          </p:val>
                                        </p:tav>
                                        <p:tav tm="100000">
                                          <p:val>
                                            <p:strVal val="#ppt_x"/>
                                          </p:val>
                                        </p:tav>
                                      </p:tavLst>
                                    </p:anim>
                                    <p:anim calcmode="lin" valueType="num">
                                      <p:cBhvr additive="base">
                                        <p:cTn id="28" dur="1500" fill="hold"/>
                                        <p:tgtEl>
                                          <p:spTgt spid="20"/>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250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1500" fill="hold"/>
                                        <p:tgtEl>
                                          <p:spTgt spid="23"/>
                                        </p:tgtEl>
                                        <p:attrNameLst>
                                          <p:attrName>ppt_x</p:attrName>
                                        </p:attrNameLst>
                                      </p:cBhvr>
                                      <p:tavLst>
                                        <p:tav tm="0">
                                          <p:val>
                                            <p:strVal val="1+#ppt_w/2"/>
                                          </p:val>
                                        </p:tav>
                                        <p:tav tm="100000">
                                          <p:val>
                                            <p:strVal val="#ppt_x"/>
                                          </p:val>
                                        </p:tav>
                                      </p:tavLst>
                                    </p:anim>
                                    <p:anim calcmode="lin" valueType="num">
                                      <p:cBhvr additive="base">
                                        <p:cTn id="32" dur="1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8981FC-43DB-0BFE-05B0-90C2A1083071}"/>
              </a:ext>
            </a:extLst>
          </p:cNvPr>
          <p:cNvPicPr>
            <a:picLocks noChangeAspect="1"/>
          </p:cNvPicPr>
          <p:nvPr/>
        </p:nvPicPr>
        <p:blipFill>
          <a:blip r:embed="rId2"/>
          <a:stretch>
            <a:fillRect/>
          </a:stretch>
        </p:blipFill>
        <p:spPr>
          <a:xfrm>
            <a:off x="566318" y="1017087"/>
            <a:ext cx="11625682" cy="4933995"/>
          </a:xfrm>
          <a:prstGeom prst="rect">
            <a:avLst/>
          </a:prstGeom>
          <a:effectLst>
            <a:glow rad="228600">
              <a:schemeClr val="accent1">
                <a:satMod val="175000"/>
                <a:alpha val="40000"/>
              </a:schemeClr>
            </a:glow>
          </a:effectLst>
        </p:spPr>
      </p:pic>
    </p:spTree>
    <p:extLst>
      <p:ext uri="{BB962C8B-B14F-4D97-AF65-F5344CB8AC3E}">
        <p14:creationId xmlns:p14="http://schemas.microsoft.com/office/powerpoint/2010/main" val="2334200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EL RETO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La IA en equipo plantea preguntas de plataforma</a:t>
            </a:r>
            <a:endParaRPr lang="es-ES" sz="3200" noProof="0" dirty="0"/>
          </a:p>
        </p:txBody>
      </p:sp>
      <p:sp>
        <p:nvSpPr>
          <p:cNvPr id="4" name="Shape 2"/>
          <p:cNvSpPr/>
          <p:nvPr/>
        </p:nvSpPr>
        <p:spPr>
          <a:xfrm>
            <a:off x="548640" y="1600200"/>
            <a:ext cx="5394960" cy="1645920"/>
          </a:xfrm>
          <a:prstGeom prst="roundRect">
            <a:avLst>
              <a:gd name="adj" fmla="val 7778"/>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868680" y="1965960"/>
            <a:ext cx="777240" cy="77724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1047445" y="2144725"/>
            <a:ext cx="419710" cy="419710"/>
          </a:xfrm>
          <a:prstGeom prst="rect">
            <a:avLst/>
          </a:prstGeom>
        </p:spPr>
      </p:pic>
      <p:sp>
        <p:nvSpPr>
          <p:cNvPr id="7" name="Text 4"/>
          <p:cNvSpPr txBox="1"/>
          <p:nvPr/>
        </p:nvSpPr>
        <p:spPr>
          <a:xfrm>
            <a:off x="1920240" y="1947672"/>
            <a:ext cx="3840480" cy="411480"/>
          </a:xfrm>
          <a:prstGeom prst="rect">
            <a:avLst/>
          </a:prstGeom>
          <a:noFill/>
          <a:ln/>
        </p:spPr>
        <p:txBody>
          <a:bodyPr wrap="square" lIns="0" tIns="0" rIns="0" bIns="0" rtlCol="0" anchor="t"/>
          <a:lstStyle/>
          <a:p>
            <a:pPr marL="0" indent="0">
              <a:buNone/>
            </a:pPr>
            <a:r>
              <a:rPr lang="es-ES" sz="2000" b="1" noProof="0" dirty="0">
                <a:solidFill>
                  <a:srgbClr val="1F2328"/>
                </a:solidFill>
                <a:latin typeface="Calibri" pitchFamily="34" charset="0"/>
                <a:ea typeface="Calibri" pitchFamily="34" charset="-122"/>
                <a:cs typeface="Calibri" pitchFamily="34" charset="-120"/>
              </a:rPr>
              <a:t>¿Qué modelo usa cada agente?</a:t>
            </a:r>
            <a:endParaRPr lang="es-ES" sz="2000" noProof="0" dirty="0"/>
          </a:p>
        </p:txBody>
      </p:sp>
      <p:sp>
        <p:nvSpPr>
          <p:cNvPr id="8" name="Text 5"/>
          <p:cNvSpPr txBox="1"/>
          <p:nvPr/>
        </p:nvSpPr>
        <p:spPr>
          <a:xfrm>
            <a:off x="1920240" y="2404872"/>
            <a:ext cx="384048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Cada rol necesita su propio equilibrio entre capacidad y coste.</a:t>
            </a:r>
            <a:endParaRPr lang="es-ES" sz="1500" noProof="0" dirty="0"/>
          </a:p>
        </p:txBody>
      </p:sp>
      <p:sp>
        <p:nvSpPr>
          <p:cNvPr id="9" name="Shape 6"/>
          <p:cNvSpPr/>
          <p:nvPr/>
        </p:nvSpPr>
        <p:spPr>
          <a:xfrm>
            <a:off x="6217920" y="1600200"/>
            <a:ext cx="5394960" cy="1645920"/>
          </a:xfrm>
          <a:prstGeom prst="roundRect">
            <a:avLst>
              <a:gd name="adj" fmla="val 7778"/>
            </a:avLst>
          </a:prstGeom>
          <a:solidFill>
            <a:srgbClr val="F4F2FB"/>
          </a:solidFill>
          <a:ln w="12700">
            <a:solidFill>
              <a:srgbClr val="F4F2FB"/>
            </a:solidFill>
            <a:prstDash val="solid"/>
          </a:ln>
        </p:spPr>
        <p:txBody>
          <a:bodyPr/>
          <a:lstStyle/>
          <a:p>
            <a:endParaRPr lang="es-ES" noProof="0" dirty="0"/>
          </a:p>
        </p:txBody>
      </p:sp>
      <p:sp>
        <p:nvSpPr>
          <p:cNvPr id="10" name="Shape 7"/>
          <p:cNvSpPr/>
          <p:nvPr/>
        </p:nvSpPr>
        <p:spPr>
          <a:xfrm>
            <a:off x="6537960" y="1965960"/>
            <a:ext cx="777240" cy="77724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1" name="Image 1" descr="preencoded.png"/>
          <p:cNvPicPr>
            <a:picLocks noChangeAspect="1"/>
          </p:cNvPicPr>
          <p:nvPr/>
        </p:nvPicPr>
        <p:blipFill>
          <a:blip r:embed="rId4"/>
          <a:stretch>
            <a:fillRect/>
          </a:stretch>
        </p:blipFill>
        <p:spPr>
          <a:xfrm>
            <a:off x="6716725" y="2144725"/>
            <a:ext cx="419710" cy="419710"/>
          </a:xfrm>
          <a:prstGeom prst="rect">
            <a:avLst/>
          </a:prstGeom>
        </p:spPr>
      </p:pic>
      <p:sp>
        <p:nvSpPr>
          <p:cNvPr id="12" name="Text 8"/>
          <p:cNvSpPr txBox="1"/>
          <p:nvPr/>
        </p:nvSpPr>
        <p:spPr>
          <a:xfrm>
            <a:off x="7589520" y="1947672"/>
            <a:ext cx="3840480" cy="411480"/>
          </a:xfrm>
          <a:prstGeom prst="rect">
            <a:avLst/>
          </a:prstGeom>
          <a:noFill/>
          <a:ln/>
        </p:spPr>
        <p:txBody>
          <a:bodyPr wrap="square" lIns="0" tIns="0" rIns="0" bIns="0" rtlCol="0" anchor="t"/>
          <a:lstStyle/>
          <a:p>
            <a:pPr marL="0" indent="0">
              <a:buNone/>
            </a:pPr>
            <a:r>
              <a:rPr lang="es-ES" sz="2000" b="1" noProof="0" dirty="0">
                <a:solidFill>
                  <a:srgbClr val="1F2328"/>
                </a:solidFill>
                <a:latin typeface="Calibri" pitchFamily="34" charset="0"/>
                <a:ea typeface="Calibri" pitchFamily="34" charset="-122"/>
                <a:cs typeface="Calibri" pitchFamily="34" charset="-120"/>
              </a:rPr>
              <a:t>¿Quién controla el consumo?</a:t>
            </a:r>
            <a:endParaRPr lang="es-ES" sz="2000" noProof="0" dirty="0"/>
          </a:p>
        </p:txBody>
      </p:sp>
      <p:sp>
        <p:nvSpPr>
          <p:cNvPr id="13" name="Text 9"/>
          <p:cNvSpPr txBox="1"/>
          <p:nvPr/>
        </p:nvSpPr>
        <p:spPr>
          <a:xfrm>
            <a:off x="7589520" y="2404872"/>
            <a:ext cx="384048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Límites de tokens y cuotas por consumidor, no por suerte.</a:t>
            </a:r>
            <a:endParaRPr lang="es-ES" sz="1500" noProof="0" dirty="0"/>
          </a:p>
        </p:txBody>
      </p:sp>
      <p:sp>
        <p:nvSpPr>
          <p:cNvPr id="14" name="Shape 10"/>
          <p:cNvSpPr/>
          <p:nvPr/>
        </p:nvSpPr>
        <p:spPr>
          <a:xfrm>
            <a:off x="548640" y="3520440"/>
            <a:ext cx="5394960" cy="1645920"/>
          </a:xfrm>
          <a:prstGeom prst="roundRect">
            <a:avLst>
              <a:gd name="adj" fmla="val 7778"/>
            </a:avLst>
          </a:prstGeom>
          <a:solidFill>
            <a:srgbClr val="F4F2FB"/>
          </a:solidFill>
          <a:ln w="12700">
            <a:solidFill>
              <a:srgbClr val="F4F2FB"/>
            </a:solidFill>
            <a:prstDash val="solid"/>
          </a:ln>
        </p:spPr>
        <p:txBody>
          <a:bodyPr/>
          <a:lstStyle/>
          <a:p>
            <a:endParaRPr lang="es-ES" noProof="0" dirty="0"/>
          </a:p>
        </p:txBody>
      </p:sp>
      <p:sp>
        <p:nvSpPr>
          <p:cNvPr id="15" name="Shape 11"/>
          <p:cNvSpPr/>
          <p:nvPr/>
        </p:nvSpPr>
        <p:spPr>
          <a:xfrm>
            <a:off x="868680" y="3886200"/>
            <a:ext cx="777240" cy="77724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16" name="Image 2" descr="preencoded.png"/>
          <p:cNvPicPr>
            <a:picLocks noChangeAspect="1"/>
          </p:cNvPicPr>
          <p:nvPr/>
        </p:nvPicPr>
        <p:blipFill>
          <a:blip r:embed="rId5"/>
          <a:stretch>
            <a:fillRect/>
          </a:stretch>
        </p:blipFill>
        <p:spPr>
          <a:xfrm>
            <a:off x="1047445" y="4064965"/>
            <a:ext cx="419710" cy="419710"/>
          </a:xfrm>
          <a:prstGeom prst="rect">
            <a:avLst/>
          </a:prstGeom>
        </p:spPr>
      </p:pic>
      <p:sp>
        <p:nvSpPr>
          <p:cNvPr id="17" name="Text 12"/>
          <p:cNvSpPr txBox="1"/>
          <p:nvPr/>
        </p:nvSpPr>
        <p:spPr>
          <a:xfrm>
            <a:off x="1920240" y="3867912"/>
            <a:ext cx="3840480" cy="411480"/>
          </a:xfrm>
          <a:prstGeom prst="rect">
            <a:avLst/>
          </a:prstGeom>
          <a:noFill/>
          <a:ln/>
        </p:spPr>
        <p:txBody>
          <a:bodyPr wrap="square" lIns="0" tIns="0" rIns="0" bIns="0" rtlCol="0" anchor="t"/>
          <a:lstStyle/>
          <a:p>
            <a:pPr marL="0" indent="0">
              <a:buNone/>
            </a:pPr>
            <a:r>
              <a:rPr lang="es-ES" sz="2000" b="1" noProof="0" dirty="0">
                <a:solidFill>
                  <a:srgbClr val="1F2328"/>
                </a:solidFill>
                <a:latin typeface="Calibri" pitchFamily="34" charset="0"/>
                <a:ea typeface="Calibri" pitchFamily="34" charset="-122"/>
                <a:cs typeface="Calibri" pitchFamily="34" charset="-120"/>
              </a:rPr>
              <a:t>¿Y si cae </a:t>
            </a:r>
            <a:r>
              <a:rPr lang="es-ES" sz="2000" b="1" noProof="0" dirty="0" err="1">
                <a:solidFill>
                  <a:srgbClr val="1F2328"/>
                </a:solidFill>
                <a:latin typeface="Calibri" pitchFamily="34" charset="0"/>
                <a:ea typeface="Calibri" pitchFamily="34" charset="-122"/>
                <a:cs typeface="Calibri" pitchFamily="34" charset="-120"/>
              </a:rPr>
              <a:t>region</a:t>
            </a:r>
            <a:r>
              <a:rPr lang="es-ES" sz="2000" b="1" noProof="0" dirty="0">
                <a:solidFill>
                  <a:srgbClr val="1F2328"/>
                </a:solidFill>
                <a:latin typeface="Calibri" pitchFamily="34" charset="0"/>
                <a:ea typeface="Calibri" pitchFamily="34" charset="-122"/>
                <a:cs typeface="Calibri" pitchFamily="34" charset="-120"/>
              </a:rPr>
              <a:t> (</a:t>
            </a:r>
            <a:r>
              <a:rPr lang="es-ES" sz="2000" b="1" i="1" noProof="0" dirty="0" err="1">
                <a:solidFill>
                  <a:srgbClr val="1F2328"/>
                </a:solidFill>
                <a:latin typeface="Calibri" pitchFamily="34" charset="0"/>
                <a:ea typeface="Calibri" pitchFamily="34" charset="-122"/>
                <a:cs typeface="Calibri" pitchFamily="34" charset="-120"/>
              </a:rPr>
              <a:t>service</a:t>
            </a:r>
            <a:r>
              <a:rPr lang="es-ES" sz="2000" b="1" i="1" noProof="0" dirty="0">
                <a:solidFill>
                  <a:srgbClr val="1F2328"/>
                </a:solidFill>
                <a:latin typeface="Calibri" pitchFamily="34" charset="0"/>
                <a:ea typeface="Calibri" pitchFamily="34" charset="-122"/>
                <a:cs typeface="Calibri" pitchFamily="34" charset="-120"/>
              </a:rPr>
              <a:t> </a:t>
            </a:r>
            <a:r>
              <a:rPr lang="es-ES" sz="2000" b="1" i="1" noProof="0" dirty="0" err="1">
                <a:solidFill>
                  <a:srgbClr val="1F2328"/>
                </a:solidFill>
                <a:latin typeface="Calibri" pitchFamily="34" charset="0"/>
                <a:ea typeface="Calibri" pitchFamily="34" charset="-122"/>
                <a:cs typeface="Calibri" pitchFamily="34" charset="-120"/>
              </a:rPr>
              <a:t>outage</a:t>
            </a:r>
            <a:r>
              <a:rPr lang="es-ES" sz="2000" b="1" noProof="0" dirty="0">
                <a:solidFill>
                  <a:srgbClr val="1F2328"/>
                </a:solidFill>
                <a:latin typeface="Calibri" pitchFamily="34" charset="0"/>
                <a:ea typeface="Calibri" pitchFamily="34" charset="-122"/>
                <a:cs typeface="Calibri" pitchFamily="34" charset="-120"/>
              </a:rPr>
              <a:t>)?</a:t>
            </a:r>
            <a:endParaRPr lang="es-ES" sz="2000" noProof="0" dirty="0"/>
          </a:p>
        </p:txBody>
      </p:sp>
      <p:sp>
        <p:nvSpPr>
          <p:cNvPr id="18" name="Text 13"/>
          <p:cNvSpPr txBox="1"/>
          <p:nvPr/>
        </p:nvSpPr>
        <p:spPr>
          <a:xfrm>
            <a:off x="1920240" y="4325112"/>
            <a:ext cx="384048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El trabajo de los agentes no debería detenerse por un fallo regional.</a:t>
            </a:r>
            <a:endParaRPr lang="es-ES" sz="1500" noProof="0" dirty="0"/>
          </a:p>
        </p:txBody>
      </p:sp>
      <p:sp>
        <p:nvSpPr>
          <p:cNvPr id="19" name="Shape 14"/>
          <p:cNvSpPr/>
          <p:nvPr/>
        </p:nvSpPr>
        <p:spPr>
          <a:xfrm>
            <a:off x="6217920" y="3520440"/>
            <a:ext cx="5394960" cy="1645920"/>
          </a:xfrm>
          <a:prstGeom prst="roundRect">
            <a:avLst>
              <a:gd name="adj" fmla="val 7778"/>
            </a:avLst>
          </a:prstGeom>
          <a:solidFill>
            <a:srgbClr val="F4F2FB"/>
          </a:solidFill>
          <a:ln w="12700">
            <a:solidFill>
              <a:srgbClr val="F4F2FB"/>
            </a:solidFill>
            <a:prstDash val="solid"/>
          </a:ln>
        </p:spPr>
        <p:txBody>
          <a:bodyPr/>
          <a:lstStyle/>
          <a:p>
            <a:endParaRPr lang="es-ES" noProof="0" dirty="0"/>
          </a:p>
        </p:txBody>
      </p:sp>
      <p:sp>
        <p:nvSpPr>
          <p:cNvPr id="20" name="Shape 15"/>
          <p:cNvSpPr/>
          <p:nvPr/>
        </p:nvSpPr>
        <p:spPr>
          <a:xfrm>
            <a:off x="6537960" y="3886200"/>
            <a:ext cx="777240" cy="777240"/>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21" name="Image 3" descr="preencoded.png"/>
          <p:cNvPicPr>
            <a:picLocks noChangeAspect="1"/>
          </p:cNvPicPr>
          <p:nvPr/>
        </p:nvPicPr>
        <p:blipFill>
          <a:blip r:embed="rId6"/>
          <a:stretch>
            <a:fillRect/>
          </a:stretch>
        </p:blipFill>
        <p:spPr>
          <a:xfrm>
            <a:off x="6716725" y="4064965"/>
            <a:ext cx="419710" cy="419710"/>
          </a:xfrm>
          <a:prstGeom prst="rect">
            <a:avLst/>
          </a:prstGeom>
        </p:spPr>
      </p:pic>
      <p:sp>
        <p:nvSpPr>
          <p:cNvPr id="22" name="Text 16"/>
          <p:cNvSpPr txBox="1"/>
          <p:nvPr/>
        </p:nvSpPr>
        <p:spPr>
          <a:xfrm>
            <a:off x="7589520" y="3867912"/>
            <a:ext cx="3840480" cy="411480"/>
          </a:xfrm>
          <a:prstGeom prst="rect">
            <a:avLst/>
          </a:prstGeom>
          <a:noFill/>
          <a:ln/>
        </p:spPr>
        <p:txBody>
          <a:bodyPr wrap="square" lIns="0" tIns="0" rIns="0" bIns="0" rtlCol="0" anchor="t"/>
          <a:lstStyle/>
          <a:p>
            <a:pPr marL="0" indent="0">
              <a:buNone/>
            </a:pPr>
            <a:r>
              <a:rPr lang="es-ES" sz="2000" b="1" noProof="0" dirty="0">
                <a:solidFill>
                  <a:srgbClr val="1F2328"/>
                </a:solidFill>
                <a:latin typeface="Calibri" pitchFamily="34" charset="0"/>
                <a:ea typeface="Calibri" pitchFamily="34" charset="-122"/>
                <a:cs typeface="Calibri" pitchFamily="34" charset="-120"/>
              </a:rPr>
              <a:t>¿Dónde queda la evidencia?</a:t>
            </a:r>
            <a:endParaRPr lang="es-ES" sz="2000" noProof="0" dirty="0"/>
          </a:p>
        </p:txBody>
      </p:sp>
      <p:sp>
        <p:nvSpPr>
          <p:cNvPr id="23" name="Text 17"/>
          <p:cNvSpPr txBox="1"/>
          <p:nvPr/>
        </p:nvSpPr>
        <p:spPr>
          <a:xfrm>
            <a:off x="7589520" y="4325112"/>
            <a:ext cx="384048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Tokens por suscripción y backend, consultables con KQL.</a:t>
            </a:r>
            <a:endParaRPr lang="es-ES" sz="1500" noProof="0" dirty="0"/>
          </a:p>
        </p:txBody>
      </p:sp>
      <p:sp>
        <p:nvSpPr>
          <p:cNvPr id="24" name="Text 18"/>
          <p:cNvSpPr txBox="1"/>
          <p:nvPr/>
        </p:nvSpPr>
        <p:spPr>
          <a:xfrm>
            <a:off x="548640" y="5577840"/>
            <a:ext cx="11173460" cy="457200"/>
          </a:xfrm>
          <a:prstGeom prst="rect">
            <a:avLst/>
          </a:prstGeom>
          <a:noFill/>
          <a:ln/>
        </p:spPr>
        <p:txBody>
          <a:bodyPr wrap="square" lIns="0" tIns="0" rIns="0" bIns="0" rtlCol="0" anchor="t"/>
          <a:lstStyle/>
          <a:p>
            <a:pPr marL="0" indent="0">
              <a:buNone/>
            </a:pPr>
            <a:r>
              <a:rPr lang="es-ES" sz="1700" b="1" noProof="0" dirty="0">
                <a:solidFill>
                  <a:srgbClr val="7C4DDB"/>
                </a:solidFill>
                <a:latin typeface="Calibri" pitchFamily="34" charset="0"/>
                <a:ea typeface="Calibri" pitchFamily="34" charset="-122"/>
                <a:cs typeface="Calibri" pitchFamily="34" charset="-120"/>
              </a:rPr>
              <a:t>Hoy lo resolvemos en vivo: </a:t>
            </a:r>
            <a:r>
              <a:rPr lang="es-ES" sz="1700" noProof="0" dirty="0">
                <a:solidFill>
                  <a:srgbClr val="1F2328"/>
                </a:solidFill>
                <a:latin typeface="Calibri" pitchFamily="34" charset="0"/>
                <a:ea typeface="Calibri" pitchFamily="34" charset="-122"/>
                <a:cs typeface="Calibri" pitchFamily="34" charset="-120"/>
              </a:rPr>
              <a:t>un </a:t>
            </a:r>
            <a:r>
              <a:rPr lang="es-ES" sz="1700" noProof="0" dirty="0" err="1">
                <a:solidFill>
                  <a:srgbClr val="1F2328"/>
                </a:solidFill>
                <a:latin typeface="Calibri" pitchFamily="34" charset="0"/>
                <a:ea typeface="Calibri" pitchFamily="34" charset="-122"/>
                <a:cs typeface="Calibri" pitchFamily="34" charset="-120"/>
              </a:rPr>
              <a:t>squad</a:t>
            </a:r>
            <a:r>
              <a:rPr lang="es-ES" sz="1700" noProof="0" dirty="0">
                <a:solidFill>
                  <a:srgbClr val="1F2328"/>
                </a:solidFill>
                <a:latin typeface="Calibri" pitchFamily="34" charset="0"/>
                <a:ea typeface="Calibri" pitchFamily="34" charset="-122"/>
                <a:cs typeface="Calibri" pitchFamily="34" charset="-120"/>
              </a:rPr>
              <a:t> de 9 agentes construye un Tetris de terminal y cada token pasa por nuestro API Gateway.</a:t>
            </a:r>
            <a:endParaRPr lang="es-ES" sz="17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PRESENTANDO SQUAD · 1/4</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Squad: un equipo de IA liderado por humanos</a:t>
            </a:r>
            <a:endParaRPr lang="es-ES" sz="3200" noProof="0" dirty="0"/>
          </a:p>
        </p:txBody>
      </p:sp>
      <p:sp>
        <p:nvSpPr>
          <p:cNvPr id="4" name="Text 2"/>
          <p:cNvSpPr txBox="1"/>
          <p:nvPr/>
        </p:nvSpPr>
        <p:spPr>
          <a:xfrm>
            <a:off x="548640" y="1554480"/>
            <a:ext cx="5852160" cy="868680"/>
          </a:xfrm>
          <a:prstGeom prst="rect">
            <a:avLst/>
          </a:prstGeom>
          <a:noFill/>
          <a:ln/>
        </p:spPr>
        <p:txBody>
          <a:bodyPr wrap="square" lIns="0" tIns="0" rIns="0" bIns="0" rtlCol="0" anchor="t"/>
          <a:lstStyle/>
          <a:p>
            <a:pPr marL="0" indent="0">
              <a:buNone/>
            </a:pPr>
            <a:r>
              <a:rPr lang="es-ES" sz="2400" b="1" i="1" noProof="0" dirty="0">
                <a:solidFill>
                  <a:srgbClr val="7C4DDB"/>
                </a:solidFill>
                <a:latin typeface="Calibri" pitchFamily="34" charset="0"/>
                <a:ea typeface="Calibri" pitchFamily="34" charset="-122"/>
                <a:cs typeface="Calibri" pitchFamily="34" charset="-120"/>
              </a:rPr>
              <a:t>“Human-led AI agent </a:t>
            </a:r>
            <a:r>
              <a:rPr lang="es-ES" sz="2400" b="1" i="1" noProof="0" dirty="0" err="1">
                <a:solidFill>
                  <a:srgbClr val="7C4DDB"/>
                </a:solidFill>
                <a:latin typeface="Calibri" pitchFamily="34" charset="0"/>
                <a:ea typeface="Calibri" pitchFamily="34" charset="-122"/>
                <a:cs typeface="Calibri" pitchFamily="34" charset="-120"/>
              </a:rPr>
              <a:t>teams</a:t>
            </a:r>
            <a:r>
              <a:rPr lang="es-ES" sz="2400" b="1" i="1" noProof="0" dirty="0">
                <a:solidFill>
                  <a:srgbClr val="7C4DDB"/>
                </a:solidFill>
                <a:latin typeface="Calibri" pitchFamily="34" charset="0"/>
                <a:ea typeface="Calibri" pitchFamily="34" charset="-122"/>
                <a:cs typeface="Calibri" pitchFamily="34" charset="-120"/>
              </a:rPr>
              <a:t> </a:t>
            </a:r>
            <a:r>
              <a:rPr lang="es-ES" sz="2400" b="1" i="1" noProof="0" dirty="0" err="1">
                <a:solidFill>
                  <a:srgbClr val="7C4DDB"/>
                </a:solidFill>
                <a:latin typeface="Calibri" pitchFamily="34" charset="0"/>
                <a:ea typeface="Calibri" pitchFamily="34" charset="-122"/>
                <a:cs typeface="Calibri" pitchFamily="34" charset="-120"/>
              </a:rPr>
              <a:t>for</a:t>
            </a:r>
            <a:r>
              <a:rPr lang="es-ES" sz="2400" b="1" i="1" noProof="0" dirty="0">
                <a:solidFill>
                  <a:srgbClr val="7C4DDB"/>
                </a:solidFill>
                <a:latin typeface="Calibri" pitchFamily="34" charset="0"/>
                <a:ea typeface="Calibri" pitchFamily="34" charset="-122"/>
                <a:cs typeface="Calibri" pitchFamily="34" charset="-120"/>
              </a:rPr>
              <a:t> </a:t>
            </a:r>
            <a:r>
              <a:rPr lang="es-ES" sz="2400" b="1" i="1" noProof="0" dirty="0" err="1">
                <a:solidFill>
                  <a:srgbClr val="7C4DDB"/>
                </a:solidFill>
                <a:latin typeface="Calibri" pitchFamily="34" charset="0"/>
                <a:ea typeface="Calibri" pitchFamily="34" charset="-122"/>
                <a:cs typeface="Calibri" pitchFamily="34" charset="-120"/>
              </a:rPr>
              <a:t>any</a:t>
            </a:r>
            <a:r>
              <a:rPr lang="es-ES" sz="2400" b="1" i="1" noProof="0" dirty="0">
                <a:solidFill>
                  <a:srgbClr val="7C4DDB"/>
                </a:solidFill>
                <a:latin typeface="Calibri" pitchFamily="34" charset="0"/>
                <a:ea typeface="Calibri" pitchFamily="34" charset="-122"/>
                <a:cs typeface="Calibri" pitchFamily="34" charset="-120"/>
              </a:rPr>
              <a:t> </a:t>
            </a:r>
            <a:r>
              <a:rPr lang="es-ES" sz="2400" b="1" i="1" noProof="0" dirty="0" err="1">
                <a:solidFill>
                  <a:srgbClr val="7C4DDB"/>
                </a:solidFill>
                <a:latin typeface="Calibri" pitchFamily="34" charset="0"/>
                <a:ea typeface="Calibri" pitchFamily="34" charset="-122"/>
                <a:cs typeface="Calibri" pitchFamily="34" charset="-120"/>
              </a:rPr>
              <a:t>project</a:t>
            </a:r>
            <a:r>
              <a:rPr lang="es-ES" sz="2400" b="1" i="1" noProof="0" dirty="0">
                <a:solidFill>
                  <a:srgbClr val="7C4DDB"/>
                </a:solidFill>
                <a:latin typeface="Calibri" pitchFamily="34" charset="0"/>
                <a:ea typeface="Calibri" pitchFamily="34" charset="-122"/>
                <a:cs typeface="Calibri" pitchFamily="34" charset="-120"/>
              </a:rPr>
              <a:t>”</a:t>
            </a:r>
            <a:endParaRPr lang="es-ES" sz="2400" noProof="0" dirty="0"/>
          </a:p>
        </p:txBody>
      </p:sp>
      <p:sp>
        <p:nvSpPr>
          <p:cNvPr id="5" name="Text 3"/>
          <p:cNvSpPr txBox="1"/>
          <p:nvPr/>
        </p:nvSpPr>
        <p:spPr>
          <a:xfrm>
            <a:off x="548640" y="2514600"/>
            <a:ext cx="5852160" cy="1005840"/>
          </a:xfrm>
          <a:prstGeom prst="rect">
            <a:avLst/>
          </a:prstGeom>
          <a:noFill/>
          <a:ln/>
        </p:spPr>
        <p:txBody>
          <a:bodyPr wrap="square" lIns="0" tIns="0" rIns="0" bIns="0" rtlCol="0" anchor="t"/>
          <a:lstStyle/>
          <a:p>
            <a:pPr marL="0" indent="0">
              <a:buNone/>
            </a:pPr>
            <a:r>
              <a:rPr lang="es-ES" sz="1600" noProof="0" dirty="0">
                <a:solidFill>
                  <a:srgbClr val="1F2328"/>
                </a:solidFill>
                <a:latin typeface="Calibri" pitchFamily="34" charset="0"/>
                <a:ea typeface="Calibri" pitchFamily="34" charset="-122"/>
                <a:cs typeface="Calibri" pitchFamily="34" charset="-120"/>
              </a:rPr>
              <a:t>Describe lo que construyes y obtén un equipo de especialistas —</a:t>
            </a:r>
            <a:r>
              <a:rPr lang="es-ES" sz="1600" i="1" noProof="0" dirty="0">
                <a:solidFill>
                  <a:srgbClr val="1F2328"/>
                </a:solidFill>
                <a:latin typeface="Calibri" pitchFamily="34" charset="0"/>
                <a:ea typeface="Calibri" pitchFamily="34" charset="-122"/>
                <a:cs typeface="Calibri" pitchFamily="34" charset="-120"/>
              </a:rPr>
              <a:t>lead</a:t>
            </a:r>
            <a:r>
              <a:rPr lang="es-ES" sz="1600" noProof="0" dirty="0">
                <a:solidFill>
                  <a:srgbClr val="1F2328"/>
                </a:solidFill>
                <a:latin typeface="Calibri" pitchFamily="34" charset="0"/>
                <a:ea typeface="Calibri" pitchFamily="34" charset="-122"/>
                <a:cs typeface="Calibri" pitchFamily="34" charset="-120"/>
              </a:rPr>
              <a:t>, </a:t>
            </a:r>
            <a:r>
              <a:rPr lang="es-ES" sz="1600" i="1" noProof="0" dirty="0">
                <a:solidFill>
                  <a:srgbClr val="1F2328"/>
                </a:solidFill>
                <a:latin typeface="Calibri" pitchFamily="34" charset="0"/>
                <a:ea typeface="Calibri" pitchFamily="34" charset="-122"/>
                <a:cs typeface="Calibri" pitchFamily="34" charset="-120"/>
              </a:rPr>
              <a:t>frontend</a:t>
            </a:r>
            <a:r>
              <a:rPr lang="es-ES" sz="1600" noProof="0" dirty="0">
                <a:solidFill>
                  <a:srgbClr val="1F2328"/>
                </a:solidFill>
                <a:latin typeface="Calibri" pitchFamily="34" charset="0"/>
                <a:ea typeface="Calibri" pitchFamily="34" charset="-122"/>
                <a:cs typeface="Calibri" pitchFamily="34" charset="-120"/>
              </a:rPr>
              <a:t>, </a:t>
            </a:r>
            <a:r>
              <a:rPr lang="es-ES" sz="1600" i="1" noProof="0" dirty="0">
                <a:solidFill>
                  <a:srgbClr val="1F2328"/>
                </a:solidFill>
                <a:latin typeface="Calibri" pitchFamily="34" charset="0"/>
                <a:ea typeface="Calibri" pitchFamily="34" charset="-122"/>
                <a:cs typeface="Calibri" pitchFamily="34" charset="-120"/>
              </a:rPr>
              <a:t>backend</a:t>
            </a:r>
            <a:r>
              <a:rPr lang="es-ES" sz="1600" noProof="0" dirty="0">
                <a:solidFill>
                  <a:srgbClr val="1F2328"/>
                </a:solidFill>
                <a:latin typeface="Calibri" pitchFamily="34" charset="0"/>
                <a:ea typeface="Calibri" pitchFamily="34" charset="-122"/>
                <a:cs typeface="Calibri" pitchFamily="34" charset="-120"/>
              </a:rPr>
              <a:t>, </a:t>
            </a:r>
            <a:r>
              <a:rPr lang="es-ES" sz="1600" i="1" noProof="0" dirty="0" err="1">
                <a:solidFill>
                  <a:srgbClr val="1F2328"/>
                </a:solidFill>
                <a:latin typeface="Calibri" pitchFamily="34" charset="0"/>
                <a:ea typeface="Calibri" pitchFamily="34" charset="-122"/>
                <a:cs typeface="Calibri" pitchFamily="34" charset="-120"/>
              </a:rPr>
              <a:t>tester</a:t>
            </a:r>
            <a:r>
              <a:rPr lang="es-ES" sz="1600" noProof="0" dirty="0">
                <a:solidFill>
                  <a:srgbClr val="1F2328"/>
                </a:solidFill>
                <a:latin typeface="Calibri" pitchFamily="34" charset="0"/>
                <a:ea typeface="Calibri" pitchFamily="34" charset="-122"/>
                <a:cs typeface="Calibri" pitchFamily="34" charset="-120"/>
              </a:rPr>
              <a:t>— que viven en tu repositorio como archivos y trabajan a través de GitHub Copilot.</a:t>
            </a:r>
            <a:endParaRPr lang="es-ES" sz="1600" noProof="0" dirty="0"/>
          </a:p>
        </p:txBody>
      </p:sp>
      <p:sp>
        <p:nvSpPr>
          <p:cNvPr id="6" name="Shape 4"/>
          <p:cNvSpPr/>
          <p:nvPr/>
        </p:nvSpPr>
        <p:spPr>
          <a:xfrm>
            <a:off x="548640" y="3703320"/>
            <a:ext cx="5852160" cy="1645920"/>
          </a:xfrm>
          <a:prstGeom prst="roundRect">
            <a:avLst>
              <a:gd name="adj" fmla="val 6667"/>
            </a:avLst>
          </a:prstGeom>
          <a:solidFill>
            <a:srgbClr val="11151D"/>
          </a:solidFill>
          <a:ln w="12700">
            <a:solidFill>
              <a:srgbClr val="11151D"/>
            </a:solidFill>
            <a:prstDash val="solid"/>
          </a:ln>
        </p:spPr>
        <p:txBody>
          <a:bodyPr/>
          <a:lstStyle/>
          <a:p>
            <a:endParaRPr lang="es-ES" noProof="0" dirty="0"/>
          </a:p>
        </p:txBody>
      </p:sp>
      <p:sp>
        <p:nvSpPr>
          <p:cNvPr id="7" name="Shape 5"/>
          <p:cNvSpPr/>
          <p:nvPr/>
        </p:nvSpPr>
        <p:spPr>
          <a:xfrm>
            <a:off x="777240" y="3886200"/>
            <a:ext cx="118872" cy="118872"/>
          </a:xfrm>
          <a:prstGeom prst="ellipse">
            <a:avLst/>
          </a:prstGeom>
          <a:solidFill>
            <a:srgbClr val="E0524A"/>
          </a:solidFill>
          <a:ln w="12700">
            <a:solidFill>
              <a:srgbClr val="E0524A"/>
            </a:solidFill>
            <a:prstDash val="solid"/>
          </a:ln>
        </p:spPr>
        <p:txBody>
          <a:bodyPr/>
          <a:lstStyle/>
          <a:p>
            <a:endParaRPr lang="es-ES" noProof="0" dirty="0"/>
          </a:p>
        </p:txBody>
      </p:sp>
      <p:sp>
        <p:nvSpPr>
          <p:cNvPr id="8" name="Shape 6"/>
          <p:cNvSpPr/>
          <p:nvPr/>
        </p:nvSpPr>
        <p:spPr>
          <a:xfrm>
            <a:off x="978408" y="3886200"/>
            <a:ext cx="118872" cy="118872"/>
          </a:xfrm>
          <a:prstGeom prst="ellipse">
            <a:avLst/>
          </a:prstGeom>
          <a:solidFill>
            <a:srgbClr val="F2A900"/>
          </a:solidFill>
          <a:ln w="12700">
            <a:solidFill>
              <a:srgbClr val="F2A900"/>
            </a:solidFill>
            <a:prstDash val="solid"/>
          </a:ln>
        </p:spPr>
        <p:txBody>
          <a:bodyPr/>
          <a:lstStyle/>
          <a:p>
            <a:endParaRPr lang="es-ES" noProof="0" dirty="0"/>
          </a:p>
        </p:txBody>
      </p:sp>
      <p:sp>
        <p:nvSpPr>
          <p:cNvPr id="9" name="Shape 7"/>
          <p:cNvSpPr/>
          <p:nvPr/>
        </p:nvSpPr>
        <p:spPr>
          <a:xfrm>
            <a:off x="1179576" y="3886200"/>
            <a:ext cx="118872" cy="118872"/>
          </a:xfrm>
          <a:prstGeom prst="ellipse">
            <a:avLst/>
          </a:prstGeom>
          <a:solidFill>
            <a:srgbClr val="10A38A"/>
          </a:solidFill>
          <a:ln w="12700">
            <a:solidFill>
              <a:srgbClr val="10A38A"/>
            </a:solidFill>
            <a:prstDash val="solid"/>
          </a:ln>
        </p:spPr>
        <p:txBody>
          <a:bodyPr/>
          <a:lstStyle/>
          <a:p>
            <a:endParaRPr lang="es-ES" noProof="0" dirty="0"/>
          </a:p>
        </p:txBody>
      </p:sp>
      <p:sp>
        <p:nvSpPr>
          <p:cNvPr id="10" name="Text 8"/>
          <p:cNvSpPr txBox="1"/>
          <p:nvPr/>
        </p:nvSpPr>
        <p:spPr>
          <a:xfrm>
            <a:off x="1463040" y="3822192"/>
            <a:ext cx="4663440" cy="256032"/>
          </a:xfrm>
          <a:prstGeom prst="rect">
            <a:avLst/>
          </a:prstGeom>
          <a:noFill/>
          <a:ln/>
        </p:spPr>
        <p:txBody>
          <a:bodyPr wrap="square" lIns="0" tIns="0" rIns="0" bIns="0" rtlCol="0" anchor="t"/>
          <a:lstStyle/>
          <a:p>
            <a:pPr marL="0" indent="0">
              <a:buNone/>
            </a:pPr>
            <a:r>
              <a:rPr lang="es-ES" sz="1100" noProof="0" dirty="0">
                <a:solidFill>
                  <a:srgbClr val="7D8796"/>
                </a:solidFill>
                <a:latin typeface="Consolas" pitchFamily="34" charset="0"/>
                <a:ea typeface="Consolas" pitchFamily="34" charset="-122"/>
                <a:cs typeface="Consolas" pitchFamily="34" charset="-120"/>
              </a:rPr>
              <a:t>PowerShell</a:t>
            </a:r>
            <a:endParaRPr lang="es-ES" sz="1100" noProof="0" dirty="0"/>
          </a:p>
        </p:txBody>
      </p:sp>
      <p:sp>
        <p:nvSpPr>
          <p:cNvPr id="11" name="Text 9"/>
          <p:cNvSpPr txBox="1"/>
          <p:nvPr/>
        </p:nvSpPr>
        <p:spPr>
          <a:xfrm>
            <a:off x="822960" y="4233672"/>
            <a:ext cx="5349240" cy="960120"/>
          </a:xfrm>
          <a:prstGeom prst="rect">
            <a:avLst/>
          </a:prstGeom>
          <a:noFill/>
          <a:ln/>
        </p:spPr>
        <p:txBody>
          <a:bodyPr wrap="square" lIns="0" tIns="0" rIns="0" bIns="0" rtlCol="0" anchor="t"/>
          <a:lstStyle/>
          <a:p>
            <a:pPr marL="0" indent="0">
              <a:lnSpc>
                <a:spcPct val="112000"/>
              </a:lnSpc>
              <a:buNone/>
            </a:pPr>
            <a:r>
              <a:rPr lang="es-ES" sz="1500" noProof="0" dirty="0">
                <a:solidFill>
                  <a:srgbClr val="10A38A"/>
                </a:solidFill>
                <a:latin typeface="Consolas" pitchFamily="34" charset="0"/>
                <a:ea typeface="Consolas" pitchFamily="34" charset="-122"/>
                <a:cs typeface="Consolas" pitchFamily="34" charset="-120"/>
              </a:rPr>
              <a:t>&gt; </a:t>
            </a:r>
            <a:r>
              <a:rPr lang="es-ES" sz="1500" noProof="0" dirty="0" err="1">
                <a:solidFill>
                  <a:srgbClr val="E6EDF3"/>
                </a:solidFill>
                <a:latin typeface="Consolas" pitchFamily="34" charset="0"/>
                <a:ea typeface="Consolas" pitchFamily="34" charset="-122"/>
                <a:cs typeface="Consolas" pitchFamily="34" charset="-120"/>
              </a:rPr>
              <a:t>npm</a:t>
            </a:r>
            <a:r>
              <a:rPr lang="es-ES" sz="1500" noProof="0" dirty="0">
                <a:solidFill>
                  <a:srgbClr val="E6EDF3"/>
                </a:solidFill>
                <a:latin typeface="Consolas" pitchFamily="34" charset="0"/>
                <a:ea typeface="Consolas" pitchFamily="34" charset="-122"/>
                <a:cs typeface="Consolas" pitchFamily="34" charset="-120"/>
              </a:rPr>
              <a:t> </a:t>
            </a:r>
            <a:r>
              <a:rPr lang="es-ES" sz="1500" noProof="0" dirty="0" err="1">
                <a:solidFill>
                  <a:srgbClr val="E6EDF3"/>
                </a:solidFill>
                <a:latin typeface="Consolas" pitchFamily="34" charset="0"/>
                <a:ea typeface="Consolas" pitchFamily="34" charset="-122"/>
                <a:cs typeface="Consolas" pitchFamily="34" charset="-120"/>
              </a:rPr>
              <a:t>install</a:t>
            </a:r>
            <a:r>
              <a:rPr lang="es-ES" sz="1500" noProof="0" dirty="0">
                <a:solidFill>
                  <a:srgbClr val="E6EDF3"/>
                </a:solidFill>
                <a:latin typeface="Consolas" pitchFamily="34" charset="0"/>
                <a:ea typeface="Consolas" pitchFamily="34" charset="-122"/>
                <a:cs typeface="Consolas" pitchFamily="34" charset="-120"/>
              </a:rPr>
              <a:t> -g @bradygaster/squad-cli</a:t>
            </a:r>
            <a:endParaRPr lang="es-ES" sz="1500" noProof="0" dirty="0"/>
          </a:p>
          <a:p>
            <a:pPr marL="0" indent="0">
              <a:lnSpc>
                <a:spcPct val="112000"/>
              </a:lnSpc>
              <a:buNone/>
            </a:pPr>
            <a:r>
              <a:rPr lang="es-ES" sz="1500" noProof="0" dirty="0">
                <a:solidFill>
                  <a:srgbClr val="10A38A"/>
                </a:solidFill>
                <a:latin typeface="Consolas" pitchFamily="34" charset="0"/>
                <a:ea typeface="Consolas" pitchFamily="34" charset="-122"/>
                <a:cs typeface="Consolas" pitchFamily="34" charset="-120"/>
              </a:rPr>
              <a:t>&gt; </a:t>
            </a:r>
            <a:r>
              <a:rPr lang="es-ES" sz="1500" noProof="0" dirty="0" err="1">
                <a:solidFill>
                  <a:srgbClr val="E6EDF3"/>
                </a:solidFill>
                <a:latin typeface="Consolas" pitchFamily="34" charset="0"/>
                <a:ea typeface="Consolas" pitchFamily="34" charset="-122"/>
                <a:cs typeface="Consolas" pitchFamily="34" charset="-120"/>
              </a:rPr>
              <a:t>squad</a:t>
            </a:r>
            <a:r>
              <a:rPr lang="es-ES" sz="1500" noProof="0" dirty="0">
                <a:solidFill>
                  <a:srgbClr val="E6EDF3"/>
                </a:solidFill>
                <a:latin typeface="Consolas" pitchFamily="34" charset="0"/>
                <a:ea typeface="Consolas" pitchFamily="34" charset="-122"/>
                <a:cs typeface="Consolas" pitchFamily="34" charset="-120"/>
              </a:rPr>
              <a:t> </a:t>
            </a:r>
            <a:r>
              <a:rPr lang="es-ES" sz="1500" noProof="0" dirty="0" err="1">
                <a:solidFill>
                  <a:srgbClr val="E6EDF3"/>
                </a:solidFill>
                <a:latin typeface="Consolas" pitchFamily="34" charset="0"/>
                <a:ea typeface="Consolas" pitchFamily="34" charset="-122"/>
                <a:cs typeface="Consolas" pitchFamily="34" charset="-120"/>
              </a:rPr>
              <a:t>init</a:t>
            </a:r>
            <a:endParaRPr lang="es-ES" sz="1500" noProof="0" dirty="0"/>
          </a:p>
          <a:p>
            <a:pPr marL="0" indent="0">
              <a:lnSpc>
                <a:spcPct val="112000"/>
              </a:lnSpc>
              <a:buNone/>
            </a:pPr>
            <a:r>
              <a:rPr lang="es-ES" sz="1500" noProof="0" dirty="0">
                <a:solidFill>
                  <a:srgbClr val="10A38A"/>
                </a:solidFill>
                <a:latin typeface="Consolas" pitchFamily="34" charset="0"/>
                <a:ea typeface="Consolas" pitchFamily="34" charset="-122"/>
                <a:cs typeface="Consolas" pitchFamily="34" charset="-120"/>
              </a:rPr>
              <a:t>&gt; </a:t>
            </a:r>
            <a:r>
              <a:rPr lang="es-ES" sz="1500" noProof="0" dirty="0" err="1">
                <a:solidFill>
                  <a:srgbClr val="E6EDF3"/>
                </a:solidFill>
                <a:latin typeface="Consolas" pitchFamily="34" charset="0"/>
                <a:ea typeface="Consolas" pitchFamily="34" charset="-122"/>
                <a:cs typeface="Consolas" pitchFamily="34" charset="-120"/>
              </a:rPr>
              <a:t>copilot</a:t>
            </a:r>
            <a:r>
              <a:rPr lang="es-ES" sz="1500" noProof="0" dirty="0">
                <a:solidFill>
                  <a:srgbClr val="E6EDF3"/>
                </a:solidFill>
                <a:latin typeface="Consolas" pitchFamily="34" charset="0"/>
                <a:ea typeface="Consolas" pitchFamily="34" charset="-122"/>
                <a:cs typeface="Consolas" pitchFamily="34" charset="-120"/>
              </a:rPr>
              <a:t> --agent </a:t>
            </a:r>
            <a:r>
              <a:rPr lang="es-ES" sz="1500" noProof="0" dirty="0" err="1">
                <a:solidFill>
                  <a:srgbClr val="E6EDF3"/>
                </a:solidFill>
                <a:latin typeface="Consolas" pitchFamily="34" charset="0"/>
                <a:ea typeface="Consolas" pitchFamily="34" charset="-122"/>
                <a:cs typeface="Consolas" pitchFamily="34" charset="-120"/>
              </a:rPr>
              <a:t>squad</a:t>
            </a:r>
            <a:endParaRPr lang="es-ES" sz="1500" noProof="0" dirty="0"/>
          </a:p>
        </p:txBody>
      </p:sp>
      <p:sp>
        <p:nvSpPr>
          <p:cNvPr id="12" name="Text 10"/>
          <p:cNvSpPr txBox="1"/>
          <p:nvPr/>
        </p:nvSpPr>
        <p:spPr>
          <a:xfrm>
            <a:off x="548640" y="5532120"/>
            <a:ext cx="6035040" cy="274320"/>
          </a:xfrm>
          <a:prstGeom prst="rect">
            <a:avLst/>
          </a:prstGeom>
          <a:noFill/>
          <a:ln/>
        </p:spPr>
        <p:txBody>
          <a:bodyPr wrap="square" lIns="0" tIns="0" rIns="0" bIns="0" rtlCol="0" anchor="t"/>
          <a:lstStyle/>
          <a:p>
            <a:pPr marL="0" indent="0">
              <a:buNone/>
            </a:pPr>
            <a:r>
              <a:rPr lang="es-ES" sz="1200" noProof="0" dirty="0">
                <a:solidFill>
                  <a:srgbClr val="5C6470"/>
                </a:solidFill>
                <a:latin typeface="Calibri" pitchFamily="34" charset="0"/>
                <a:ea typeface="Calibri" pitchFamily="34" charset="-122"/>
                <a:cs typeface="Calibri" pitchFamily="34" charset="-120"/>
              </a:rPr>
              <a:t>github.com/</a:t>
            </a:r>
            <a:r>
              <a:rPr lang="es-ES" sz="1200" noProof="0" dirty="0" err="1">
                <a:solidFill>
                  <a:srgbClr val="5C6470"/>
                </a:solidFill>
                <a:latin typeface="Calibri" pitchFamily="34" charset="0"/>
                <a:ea typeface="Calibri" pitchFamily="34" charset="-122"/>
                <a:cs typeface="Calibri" pitchFamily="34" charset="-120"/>
              </a:rPr>
              <a:t>bradygaster</a:t>
            </a:r>
            <a:r>
              <a:rPr lang="es-ES" sz="1200" noProof="0" dirty="0">
                <a:solidFill>
                  <a:srgbClr val="5C6470"/>
                </a:solidFill>
                <a:latin typeface="Calibri" pitchFamily="34" charset="0"/>
                <a:ea typeface="Calibri" pitchFamily="34" charset="-122"/>
                <a:cs typeface="Calibri" pitchFamily="34" charset="-120"/>
              </a:rPr>
              <a:t>/</a:t>
            </a:r>
            <a:r>
              <a:rPr lang="es-ES" sz="1200" noProof="0" dirty="0" err="1">
                <a:solidFill>
                  <a:srgbClr val="5C6470"/>
                </a:solidFill>
                <a:latin typeface="Calibri" pitchFamily="34" charset="0"/>
                <a:ea typeface="Calibri" pitchFamily="34" charset="-122"/>
                <a:cs typeface="Calibri" pitchFamily="34" charset="-120"/>
              </a:rPr>
              <a:t>squad</a:t>
            </a:r>
            <a:r>
              <a:rPr lang="es-ES" sz="1200" noProof="0" dirty="0">
                <a:solidFill>
                  <a:srgbClr val="5C6470"/>
                </a:solidFill>
                <a:latin typeface="Calibri" pitchFamily="34" charset="0"/>
                <a:ea typeface="Calibri" pitchFamily="34" charset="-122"/>
                <a:cs typeface="Calibri" pitchFamily="34" charset="-120"/>
              </a:rPr>
              <a:t>  ·  Licencia MIT  ·  Brady Gaster y Tamir Dresher  ·  Estado </a:t>
            </a:r>
            <a:r>
              <a:rPr lang="es-ES" sz="1200" noProof="0" dirty="0" err="1">
                <a:solidFill>
                  <a:srgbClr val="5C6470"/>
                </a:solidFill>
                <a:latin typeface="Calibri" pitchFamily="34" charset="0"/>
                <a:ea typeface="Calibri" pitchFamily="34" charset="-122"/>
                <a:cs typeface="Calibri" pitchFamily="34" charset="-120"/>
              </a:rPr>
              <a:t>alpha</a:t>
            </a:r>
            <a:endParaRPr lang="es-ES" sz="1200" noProof="0" dirty="0"/>
          </a:p>
        </p:txBody>
      </p:sp>
      <p:sp>
        <p:nvSpPr>
          <p:cNvPr id="13" name="Shape 11"/>
          <p:cNvSpPr/>
          <p:nvPr/>
        </p:nvSpPr>
        <p:spPr>
          <a:xfrm>
            <a:off x="6949440" y="1600200"/>
            <a:ext cx="731520" cy="73152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14" name="Image 0" descr="preencoded.png"/>
          <p:cNvPicPr>
            <a:picLocks noChangeAspect="1"/>
          </p:cNvPicPr>
          <p:nvPr/>
        </p:nvPicPr>
        <p:blipFill>
          <a:blip r:embed="rId3"/>
          <a:stretch>
            <a:fillRect/>
          </a:stretch>
        </p:blipFill>
        <p:spPr>
          <a:xfrm>
            <a:off x="7117690" y="1768450"/>
            <a:ext cx="395021" cy="395021"/>
          </a:xfrm>
          <a:prstGeom prst="rect">
            <a:avLst/>
          </a:prstGeom>
        </p:spPr>
      </p:pic>
      <p:sp>
        <p:nvSpPr>
          <p:cNvPr id="15" name="Text 12"/>
          <p:cNvSpPr txBox="1"/>
          <p:nvPr/>
        </p:nvSpPr>
        <p:spPr>
          <a:xfrm>
            <a:off x="7909560" y="1581912"/>
            <a:ext cx="374904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Tú diriges</a:t>
            </a:r>
            <a:endParaRPr lang="es-ES" sz="1900" noProof="0" dirty="0"/>
          </a:p>
        </p:txBody>
      </p:sp>
      <p:sp>
        <p:nvSpPr>
          <p:cNvPr id="16" name="Text 13"/>
          <p:cNvSpPr txBox="1"/>
          <p:nvPr/>
        </p:nvSpPr>
        <p:spPr>
          <a:xfrm>
            <a:off x="7909560" y="1984248"/>
            <a:ext cx="374904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Prioridades, revisión y decisión final siguen siendo humanas.</a:t>
            </a:r>
            <a:endParaRPr lang="es-ES" sz="1500" noProof="0" dirty="0"/>
          </a:p>
        </p:txBody>
      </p:sp>
      <p:sp>
        <p:nvSpPr>
          <p:cNvPr id="17" name="Shape 14"/>
          <p:cNvSpPr/>
          <p:nvPr/>
        </p:nvSpPr>
        <p:spPr>
          <a:xfrm>
            <a:off x="6949440" y="3017520"/>
            <a:ext cx="731520" cy="73152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8" name="Image 1" descr="preencoded.png"/>
          <p:cNvPicPr>
            <a:picLocks noChangeAspect="1"/>
          </p:cNvPicPr>
          <p:nvPr/>
        </p:nvPicPr>
        <p:blipFill>
          <a:blip r:embed="rId4"/>
          <a:stretch>
            <a:fillRect/>
          </a:stretch>
        </p:blipFill>
        <p:spPr>
          <a:xfrm>
            <a:off x="7117690" y="3185770"/>
            <a:ext cx="395021" cy="395021"/>
          </a:xfrm>
          <a:prstGeom prst="rect">
            <a:avLst/>
          </a:prstGeom>
        </p:spPr>
      </p:pic>
      <p:sp>
        <p:nvSpPr>
          <p:cNvPr id="19" name="Text 15"/>
          <p:cNvSpPr txBox="1"/>
          <p:nvPr/>
        </p:nvSpPr>
        <p:spPr>
          <a:xfrm>
            <a:off x="7909560" y="2999232"/>
            <a:ext cx="374904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Trabajo en paralelo</a:t>
            </a:r>
            <a:endParaRPr lang="es-ES" sz="1900" noProof="0" dirty="0"/>
          </a:p>
        </p:txBody>
      </p:sp>
      <p:sp>
        <p:nvSpPr>
          <p:cNvPr id="20" name="Text 16"/>
          <p:cNvSpPr txBox="1"/>
          <p:nvPr/>
        </p:nvSpPr>
        <p:spPr>
          <a:xfrm>
            <a:off x="7909560" y="3401568"/>
            <a:ext cx="374904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El coordinador lanza a la vez a cada agente que puede empezar. Busca acelerar el desarrollo</a:t>
            </a:r>
            <a:endParaRPr lang="es-ES" sz="1500" noProof="0" dirty="0"/>
          </a:p>
        </p:txBody>
      </p:sp>
      <p:sp>
        <p:nvSpPr>
          <p:cNvPr id="21" name="Shape 17"/>
          <p:cNvSpPr/>
          <p:nvPr/>
        </p:nvSpPr>
        <p:spPr>
          <a:xfrm>
            <a:off x="6949440" y="4434840"/>
            <a:ext cx="731520" cy="73152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22" name="Image 2" descr="preencoded.png"/>
          <p:cNvPicPr>
            <a:picLocks noChangeAspect="1"/>
          </p:cNvPicPr>
          <p:nvPr/>
        </p:nvPicPr>
        <p:blipFill>
          <a:blip r:embed="rId5"/>
          <a:stretch>
            <a:fillRect/>
          </a:stretch>
        </p:blipFill>
        <p:spPr>
          <a:xfrm>
            <a:off x="7117690" y="4603090"/>
            <a:ext cx="395021" cy="395021"/>
          </a:xfrm>
          <a:prstGeom prst="rect">
            <a:avLst/>
          </a:prstGeom>
        </p:spPr>
      </p:pic>
      <p:sp>
        <p:nvSpPr>
          <p:cNvPr id="23" name="Text 18"/>
          <p:cNvSpPr txBox="1"/>
          <p:nvPr/>
        </p:nvSpPr>
        <p:spPr>
          <a:xfrm>
            <a:off x="7909560" y="4416552"/>
            <a:ext cx="374904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Memoria versionada</a:t>
            </a:r>
            <a:endParaRPr lang="es-ES" sz="1900" noProof="0" dirty="0"/>
          </a:p>
        </p:txBody>
      </p:sp>
      <p:sp>
        <p:nvSpPr>
          <p:cNvPr id="24" name="Text 19"/>
          <p:cNvSpPr txBox="1"/>
          <p:nvPr/>
        </p:nvSpPr>
        <p:spPr>
          <a:xfrm>
            <a:off x="7909560" y="4818888"/>
            <a:ext cx="3749040" cy="68580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Roles, historial y decisiones viven en .</a:t>
            </a:r>
            <a:r>
              <a:rPr lang="es-ES" sz="1500" noProof="0" dirty="0" err="1">
                <a:solidFill>
                  <a:srgbClr val="5C6470"/>
                </a:solidFill>
                <a:latin typeface="Calibri" pitchFamily="34" charset="0"/>
                <a:ea typeface="Calibri" pitchFamily="34" charset="-122"/>
                <a:cs typeface="Calibri" pitchFamily="34" charset="-120"/>
              </a:rPr>
              <a:t>squad</a:t>
            </a:r>
            <a:r>
              <a:rPr lang="es-ES" sz="1500" noProof="0" dirty="0">
                <a:solidFill>
                  <a:srgbClr val="5C6470"/>
                </a:solidFill>
                <a:latin typeface="Calibri" pitchFamily="34" charset="0"/>
                <a:ea typeface="Calibri" pitchFamily="34" charset="-122"/>
                <a:cs typeface="Calibri" pitchFamily="34" charset="-120"/>
              </a:rPr>
              <a:t>/, junto a tu código.</a:t>
            </a:r>
            <a:endParaRPr lang="es-ES" sz="15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PRESENTANDO SQUAD · 2/4</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Cómo trabaja un </a:t>
            </a:r>
            <a:r>
              <a:rPr lang="es-ES" sz="3200" b="1" noProof="0" dirty="0" err="1">
                <a:solidFill>
                  <a:srgbClr val="1F2328"/>
                </a:solidFill>
                <a:latin typeface="Calibri" pitchFamily="34" charset="0"/>
                <a:ea typeface="Calibri" pitchFamily="34" charset="-122"/>
                <a:cs typeface="Calibri" pitchFamily="34" charset="-120"/>
              </a:rPr>
              <a:t>squad</a:t>
            </a:r>
            <a:endParaRPr lang="es-ES" sz="3200" noProof="0" dirty="0"/>
          </a:p>
        </p:txBody>
      </p:sp>
      <p:sp>
        <p:nvSpPr>
          <p:cNvPr id="4" name="Shape 2"/>
          <p:cNvSpPr/>
          <p:nvPr/>
        </p:nvSpPr>
        <p:spPr>
          <a:xfrm>
            <a:off x="548640" y="2514600"/>
            <a:ext cx="1920240" cy="1554480"/>
          </a:xfrm>
          <a:prstGeom prst="roundRect">
            <a:avLst>
              <a:gd name="adj" fmla="val 8235"/>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1188720" y="2670048"/>
            <a:ext cx="640080" cy="64008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1335938" y="2817266"/>
            <a:ext cx="345643" cy="345643"/>
          </a:xfrm>
          <a:prstGeom prst="rect">
            <a:avLst/>
          </a:prstGeom>
        </p:spPr>
      </p:pic>
      <p:sp>
        <p:nvSpPr>
          <p:cNvPr id="7" name="Text 4"/>
          <p:cNvSpPr txBox="1"/>
          <p:nvPr/>
        </p:nvSpPr>
        <p:spPr>
          <a:xfrm>
            <a:off x="548640" y="3401568"/>
            <a:ext cx="1920240" cy="320040"/>
          </a:xfrm>
          <a:prstGeom prst="rect">
            <a:avLst/>
          </a:prstGeom>
          <a:noFill/>
          <a:ln/>
        </p:spPr>
        <p:txBody>
          <a:bodyPr wrap="square" lIns="0" tIns="0" rIns="0" bIns="0" rtlCol="0" anchor="t"/>
          <a:lstStyle/>
          <a:p>
            <a:pPr marL="0" indent="0" algn="ctr">
              <a:buNone/>
            </a:pPr>
            <a:r>
              <a:rPr lang="es-ES" sz="1700" b="1" noProof="0" dirty="0">
                <a:solidFill>
                  <a:srgbClr val="1F2328"/>
                </a:solidFill>
                <a:latin typeface="Calibri" pitchFamily="34" charset="0"/>
                <a:ea typeface="Calibri" pitchFamily="34" charset="-122"/>
                <a:cs typeface="Calibri" pitchFamily="34" charset="-120"/>
              </a:rPr>
              <a:t>Tú</a:t>
            </a:r>
            <a:endParaRPr lang="es-ES" sz="1700" noProof="0" dirty="0"/>
          </a:p>
        </p:txBody>
      </p:sp>
      <p:sp>
        <p:nvSpPr>
          <p:cNvPr id="8" name="Text 5"/>
          <p:cNvSpPr txBox="1"/>
          <p:nvPr/>
        </p:nvSpPr>
        <p:spPr>
          <a:xfrm>
            <a:off x="640080" y="3721608"/>
            <a:ext cx="1737360" cy="274320"/>
          </a:xfrm>
          <a:prstGeom prst="rect">
            <a:avLst/>
          </a:prstGeom>
          <a:noFill/>
          <a:ln/>
        </p:spPr>
        <p:txBody>
          <a:bodyPr wrap="square" lIns="0" tIns="0" rIns="0" bIns="0" rtlCol="0" anchor="t"/>
          <a:lstStyle/>
          <a:p>
            <a:pPr marL="0" indent="0" algn="ctr">
              <a:buNone/>
            </a:pPr>
            <a:r>
              <a:rPr lang="es-ES" sz="1200" noProof="0" dirty="0">
                <a:solidFill>
                  <a:srgbClr val="5C6470"/>
                </a:solidFill>
                <a:latin typeface="Calibri" pitchFamily="34" charset="0"/>
                <a:ea typeface="Calibri" pitchFamily="34" charset="-122"/>
                <a:cs typeface="Calibri" pitchFamily="34" charset="-120"/>
              </a:rPr>
              <a:t>pides una tarea</a:t>
            </a:r>
            <a:endParaRPr lang="es-ES" sz="1200" noProof="0" dirty="0"/>
          </a:p>
        </p:txBody>
      </p:sp>
      <p:sp>
        <p:nvSpPr>
          <p:cNvPr id="9" name="Shape 6"/>
          <p:cNvSpPr/>
          <p:nvPr/>
        </p:nvSpPr>
        <p:spPr>
          <a:xfrm>
            <a:off x="3108960" y="2514600"/>
            <a:ext cx="2194560" cy="1554480"/>
          </a:xfrm>
          <a:prstGeom prst="roundRect">
            <a:avLst>
              <a:gd name="adj" fmla="val 8235"/>
            </a:avLst>
          </a:prstGeom>
          <a:solidFill>
            <a:srgbClr val="F4F2FB"/>
          </a:solidFill>
          <a:ln w="12700">
            <a:solidFill>
              <a:srgbClr val="F4F2FB"/>
            </a:solidFill>
            <a:prstDash val="solid"/>
          </a:ln>
        </p:spPr>
        <p:txBody>
          <a:bodyPr/>
          <a:lstStyle/>
          <a:p>
            <a:endParaRPr lang="es-ES" noProof="0" dirty="0"/>
          </a:p>
        </p:txBody>
      </p:sp>
      <p:sp>
        <p:nvSpPr>
          <p:cNvPr id="10" name="Shape 7"/>
          <p:cNvSpPr/>
          <p:nvPr/>
        </p:nvSpPr>
        <p:spPr>
          <a:xfrm>
            <a:off x="3886200" y="2670048"/>
            <a:ext cx="640080" cy="640080"/>
          </a:xfrm>
          <a:prstGeom prst="roundRect">
            <a:avLst>
              <a:gd name="adj" fmla="val 20000"/>
            </a:avLst>
          </a:prstGeom>
          <a:solidFill>
            <a:srgbClr val="0E1116"/>
          </a:solidFill>
          <a:ln w="12700">
            <a:solidFill>
              <a:srgbClr val="0E1116"/>
            </a:solidFill>
            <a:prstDash val="solid"/>
          </a:ln>
        </p:spPr>
        <p:txBody>
          <a:bodyPr/>
          <a:lstStyle/>
          <a:p>
            <a:endParaRPr lang="es-ES" noProof="0" dirty="0"/>
          </a:p>
        </p:txBody>
      </p:sp>
      <p:pic>
        <p:nvPicPr>
          <p:cNvPr id="11" name="Image 1" descr="preencoded.png"/>
          <p:cNvPicPr>
            <a:picLocks noChangeAspect="1"/>
          </p:cNvPicPr>
          <p:nvPr/>
        </p:nvPicPr>
        <p:blipFill>
          <a:blip r:embed="rId4"/>
          <a:stretch>
            <a:fillRect/>
          </a:stretch>
        </p:blipFill>
        <p:spPr>
          <a:xfrm>
            <a:off x="4033418" y="2817266"/>
            <a:ext cx="345643" cy="345643"/>
          </a:xfrm>
          <a:prstGeom prst="rect">
            <a:avLst/>
          </a:prstGeom>
        </p:spPr>
      </p:pic>
      <p:sp>
        <p:nvSpPr>
          <p:cNvPr id="12" name="Text 8"/>
          <p:cNvSpPr txBox="1"/>
          <p:nvPr/>
        </p:nvSpPr>
        <p:spPr>
          <a:xfrm>
            <a:off x="3108960" y="3401568"/>
            <a:ext cx="2194560" cy="320040"/>
          </a:xfrm>
          <a:prstGeom prst="rect">
            <a:avLst/>
          </a:prstGeom>
          <a:noFill/>
          <a:ln/>
        </p:spPr>
        <p:txBody>
          <a:bodyPr wrap="square" lIns="0" tIns="0" rIns="0" bIns="0" rtlCol="0" anchor="t"/>
          <a:lstStyle/>
          <a:p>
            <a:pPr marL="0" indent="0" algn="ctr">
              <a:buNone/>
            </a:pPr>
            <a:r>
              <a:rPr lang="es-ES" sz="1700" b="1" noProof="0" dirty="0">
                <a:solidFill>
                  <a:srgbClr val="1F2328"/>
                </a:solidFill>
                <a:latin typeface="Calibri" pitchFamily="34" charset="0"/>
                <a:ea typeface="Calibri" pitchFamily="34" charset="-122"/>
                <a:cs typeface="Calibri" pitchFamily="34" charset="-120"/>
              </a:rPr>
              <a:t>Coordinador</a:t>
            </a:r>
            <a:endParaRPr lang="es-ES" sz="1700" noProof="0" dirty="0"/>
          </a:p>
        </p:txBody>
      </p:sp>
      <p:sp>
        <p:nvSpPr>
          <p:cNvPr id="13" name="Text 9"/>
          <p:cNvSpPr txBox="1"/>
          <p:nvPr/>
        </p:nvSpPr>
        <p:spPr>
          <a:xfrm>
            <a:off x="3200400" y="3721608"/>
            <a:ext cx="2011680" cy="274320"/>
          </a:xfrm>
          <a:prstGeom prst="rect">
            <a:avLst/>
          </a:prstGeom>
          <a:noFill/>
          <a:ln/>
        </p:spPr>
        <p:txBody>
          <a:bodyPr wrap="square" lIns="0" tIns="0" rIns="0" bIns="0" rtlCol="0" anchor="t"/>
          <a:lstStyle/>
          <a:p>
            <a:pPr marL="0" indent="0" algn="ctr">
              <a:buNone/>
            </a:pPr>
            <a:r>
              <a:rPr lang="es-ES" sz="1200" noProof="0" dirty="0">
                <a:solidFill>
                  <a:srgbClr val="5C6470"/>
                </a:solidFill>
                <a:latin typeface="Calibri" pitchFamily="34" charset="0"/>
                <a:ea typeface="Calibri" pitchFamily="34" charset="-122"/>
                <a:cs typeface="Calibri" pitchFamily="34" charset="-120"/>
              </a:rPr>
              <a:t>enruta según routing.md</a:t>
            </a:r>
            <a:endParaRPr lang="es-ES" sz="1200" noProof="0" dirty="0"/>
          </a:p>
        </p:txBody>
      </p:sp>
      <p:sp>
        <p:nvSpPr>
          <p:cNvPr id="14" name="Shape 10"/>
          <p:cNvSpPr/>
          <p:nvPr/>
        </p:nvSpPr>
        <p:spPr>
          <a:xfrm>
            <a:off x="9464040" y="2514600"/>
            <a:ext cx="2148840" cy="1554480"/>
          </a:xfrm>
          <a:prstGeom prst="roundRect">
            <a:avLst>
              <a:gd name="adj" fmla="val 8235"/>
            </a:avLst>
          </a:prstGeom>
          <a:solidFill>
            <a:srgbClr val="F4F2FB"/>
          </a:solidFill>
          <a:ln w="12700">
            <a:solidFill>
              <a:srgbClr val="F4F2FB"/>
            </a:solidFill>
            <a:prstDash val="solid"/>
          </a:ln>
        </p:spPr>
        <p:txBody>
          <a:bodyPr/>
          <a:lstStyle/>
          <a:p>
            <a:endParaRPr lang="es-ES" noProof="0" dirty="0"/>
          </a:p>
        </p:txBody>
      </p:sp>
      <p:sp>
        <p:nvSpPr>
          <p:cNvPr id="15" name="Shape 11"/>
          <p:cNvSpPr/>
          <p:nvPr/>
        </p:nvSpPr>
        <p:spPr>
          <a:xfrm>
            <a:off x="10218420" y="2670048"/>
            <a:ext cx="640080" cy="64008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16" name="Image 2" descr="preencoded.png"/>
          <p:cNvPicPr>
            <a:picLocks noChangeAspect="1"/>
          </p:cNvPicPr>
          <p:nvPr/>
        </p:nvPicPr>
        <p:blipFill>
          <a:blip r:embed="rId5"/>
          <a:stretch>
            <a:fillRect/>
          </a:stretch>
        </p:blipFill>
        <p:spPr>
          <a:xfrm>
            <a:off x="10365638" y="2817266"/>
            <a:ext cx="345643" cy="345643"/>
          </a:xfrm>
          <a:prstGeom prst="rect">
            <a:avLst/>
          </a:prstGeom>
        </p:spPr>
      </p:pic>
      <p:sp>
        <p:nvSpPr>
          <p:cNvPr id="17" name="Text 12"/>
          <p:cNvSpPr txBox="1"/>
          <p:nvPr/>
        </p:nvSpPr>
        <p:spPr>
          <a:xfrm>
            <a:off x="9464040" y="3401568"/>
            <a:ext cx="2148840" cy="320040"/>
          </a:xfrm>
          <a:prstGeom prst="rect">
            <a:avLst/>
          </a:prstGeom>
          <a:noFill/>
          <a:ln/>
        </p:spPr>
        <p:txBody>
          <a:bodyPr wrap="square" lIns="0" tIns="0" rIns="0" bIns="0" rtlCol="0" anchor="t"/>
          <a:lstStyle/>
          <a:p>
            <a:pPr marL="0" indent="0" algn="ctr">
              <a:buNone/>
            </a:pPr>
            <a:r>
              <a:rPr lang="es-ES" sz="1700" b="1" noProof="0" dirty="0">
                <a:solidFill>
                  <a:srgbClr val="1F2328"/>
                </a:solidFill>
                <a:latin typeface="Calibri" pitchFamily="34" charset="0"/>
                <a:ea typeface="Calibri" pitchFamily="34" charset="-122"/>
                <a:cs typeface="Calibri" pitchFamily="34" charset="-120"/>
              </a:rPr>
              <a:t>Scribe</a:t>
            </a:r>
            <a:endParaRPr lang="es-ES" sz="1700" noProof="0" dirty="0"/>
          </a:p>
        </p:txBody>
      </p:sp>
      <p:sp>
        <p:nvSpPr>
          <p:cNvPr id="18" name="Text 13"/>
          <p:cNvSpPr txBox="1"/>
          <p:nvPr/>
        </p:nvSpPr>
        <p:spPr>
          <a:xfrm>
            <a:off x="9555480" y="3721608"/>
            <a:ext cx="1965960" cy="274320"/>
          </a:xfrm>
          <a:prstGeom prst="rect">
            <a:avLst/>
          </a:prstGeom>
          <a:noFill/>
          <a:ln/>
        </p:spPr>
        <p:txBody>
          <a:bodyPr wrap="square" lIns="0" tIns="0" rIns="0" bIns="0" rtlCol="0" anchor="t"/>
          <a:lstStyle/>
          <a:p>
            <a:pPr marL="0" indent="0" algn="ctr">
              <a:buNone/>
            </a:pPr>
            <a:r>
              <a:rPr lang="es-ES" sz="1200" noProof="0" dirty="0">
                <a:solidFill>
                  <a:srgbClr val="5C6470"/>
                </a:solidFill>
                <a:latin typeface="Calibri" pitchFamily="34" charset="0"/>
                <a:ea typeface="Calibri" pitchFamily="34" charset="-122"/>
                <a:cs typeface="Calibri" pitchFamily="34" charset="-120"/>
              </a:rPr>
              <a:t>registra decisiones y memoria</a:t>
            </a:r>
            <a:endParaRPr lang="es-ES" sz="1200" noProof="0" dirty="0"/>
          </a:p>
        </p:txBody>
      </p:sp>
      <p:sp>
        <p:nvSpPr>
          <p:cNvPr id="19" name="Text 14"/>
          <p:cNvSpPr txBox="1"/>
          <p:nvPr/>
        </p:nvSpPr>
        <p:spPr>
          <a:xfrm>
            <a:off x="6080760" y="1554480"/>
            <a:ext cx="2651760" cy="256032"/>
          </a:xfrm>
          <a:prstGeom prst="rect">
            <a:avLst/>
          </a:prstGeom>
          <a:noFill/>
          <a:ln/>
        </p:spPr>
        <p:txBody>
          <a:bodyPr wrap="square" lIns="0" tIns="0" rIns="0" bIns="0" rtlCol="0" anchor="t"/>
          <a:lstStyle/>
          <a:p>
            <a:pPr marL="0" indent="0" algn="ctr">
              <a:buNone/>
            </a:pPr>
            <a:r>
              <a:rPr lang="es-ES" sz="1100" b="1" kern="0" spc="200" noProof="0" dirty="0">
                <a:solidFill>
                  <a:srgbClr val="5C6470"/>
                </a:solidFill>
                <a:latin typeface="Calibri" pitchFamily="34" charset="0"/>
                <a:ea typeface="Calibri" pitchFamily="34" charset="-122"/>
                <a:cs typeface="Calibri" pitchFamily="34" charset="-120"/>
              </a:rPr>
              <a:t>EN PARALELO</a:t>
            </a:r>
            <a:endParaRPr lang="es-ES" sz="1100" noProof="0" dirty="0"/>
          </a:p>
        </p:txBody>
      </p:sp>
      <p:sp>
        <p:nvSpPr>
          <p:cNvPr id="20" name="Shape 15"/>
          <p:cNvSpPr/>
          <p:nvPr/>
        </p:nvSpPr>
        <p:spPr>
          <a:xfrm>
            <a:off x="6080760" y="1938528"/>
            <a:ext cx="2651760" cy="566928"/>
          </a:xfrm>
          <a:prstGeom prst="roundRect">
            <a:avLst>
              <a:gd name="adj" fmla="val 19355"/>
            </a:avLst>
          </a:prstGeom>
          <a:solidFill>
            <a:srgbClr val="F4F2FB"/>
          </a:solidFill>
          <a:ln w="12700">
            <a:solidFill>
              <a:srgbClr val="F4F2FB"/>
            </a:solidFill>
            <a:prstDash val="solid"/>
          </a:ln>
        </p:spPr>
        <p:txBody>
          <a:bodyPr/>
          <a:lstStyle/>
          <a:p>
            <a:endParaRPr lang="es-ES" noProof="0" dirty="0"/>
          </a:p>
        </p:txBody>
      </p:sp>
      <p:sp>
        <p:nvSpPr>
          <p:cNvPr id="21" name="Shape 16"/>
          <p:cNvSpPr/>
          <p:nvPr/>
        </p:nvSpPr>
        <p:spPr>
          <a:xfrm>
            <a:off x="6172200" y="2011680"/>
            <a:ext cx="420624" cy="420624"/>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22" name="Image 3" descr="preencoded.png"/>
          <p:cNvPicPr>
            <a:picLocks noChangeAspect="1"/>
          </p:cNvPicPr>
          <p:nvPr/>
        </p:nvPicPr>
        <p:blipFill>
          <a:blip r:embed="rId6"/>
          <a:stretch>
            <a:fillRect/>
          </a:stretch>
        </p:blipFill>
        <p:spPr>
          <a:xfrm>
            <a:off x="6268944" y="2108424"/>
            <a:ext cx="227137" cy="227137"/>
          </a:xfrm>
          <a:prstGeom prst="rect">
            <a:avLst/>
          </a:prstGeom>
        </p:spPr>
      </p:pic>
      <p:sp>
        <p:nvSpPr>
          <p:cNvPr id="23" name="Text 17"/>
          <p:cNvSpPr txBox="1"/>
          <p:nvPr/>
        </p:nvSpPr>
        <p:spPr>
          <a:xfrm>
            <a:off x="6720840" y="1938528"/>
            <a:ext cx="1965960" cy="566928"/>
          </a:xfrm>
          <a:prstGeom prst="rect">
            <a:avLst/>
          </a:prstGeom>
          <a:noFill/>
          <a:ln/>
        </p:spPr>
        <p:txBody>
          <a:bodyPr wrap="square" lIns="0" tIns="0" rIns="0" bIns="0" rtlCol="0" anchor="ctr"/>
          <a:lstStyle/>
          <a:p>
            <a:pPr marL="0" indent="0">
              <a:buNone/>
            </a:pPr>
            <a:r>
              <a:rPr lang="es-ES" sz="1400" b="1" noProof="0" dirty="0">
                <a:solidFill>
                  <a:srgbClr val="1F2328"/>
                </a:solidFill>
                <a:latin typeface="Calibri" pitchFamily="34" charset="0"/>
                <a:ea typeface="Calibri" pitchFamily="34" charset="-122"/>
                <a:cs typeface="Calibri" pitchFamily="34" charset="-120"/>
              </a:rPr>
              <a:t>Lead</a:t>
            </a:r>
            <a:r>
              <a:rPr lang="es-ES" sz="1400" noProof="0" dirty="0">
                <a:solidFill>
                  <a:srgbClr val="5C6470"/>
                </a:solidFill>
                <a:latin typeface="Calibri" pitchFamily="34" charset="0"/>
                <a:ea typeface="Calibri" pitchFamily="34" charset="-122"/>
                <a:cs typeface="Calibri" pitchFamily="34" charset="-120"/>
              </a:rPr>
              <a:t>  ·  arquitectura</a:t>
            </a:r>
            <a:endParaRPr lang="es-ES" sz="1400" noProof="0" dirty="0"/>
          </a:p>
        </p:txBody>
      </p:sp>
      <p:sp>
        <p:nvSpPr>
          <p:cNvPr id="24" name="Shape 18"/>
          <p:cNvSpPr/>
          <p:nvPr/>
        </p:nvSpPr>
        <p:spPr>
          <a:xfrm flipV="1">
            <a:off x="5303520" y="2221992"/>
            <a:ext cx="777240" cy="1069848"/>
          </a:xfrm>
          <a:prstGeom prst="line">
            <a:avLst/>
          </a:prstGeom>
          <a:noFill/>
          <a:ln w="19050">
            <a:solidFill>
              <a:srgbClr val="7C4DDB"/>
            </a:solidFill>
            <a:prstDash val="solid"/>
            <a:tailEnd type="triangle"/>
          </a:ln>
        </p:spPr>
        <p:txBody>
          <a:bodyPr/>
          <a:lstStyle/>
          <a:p>
            <a:endParaRPr lang="es-ES" noProof="0" dirty="0"/>
          </a:p>
        </p:txBody>
      </p:sp>
      <p:sp>
        <p:nvSpPr>
          <p:cNvPr id="25" name="Shape 19"/>
          <p:cNvSpPr/>
          <p:nvPr/>
        </p:nvSpPr>
        <p:spPr>
          <a:xfrm>
            <a:off x="8732520" y="2221992"/>
            <a:ext cx="731520" cy="1069848"/>
          </a:xfrm>
          <a:prstGeom prst="line">
            <a:avLst/>
          </a:prstGeom>
          <a:noFill/>
          <a:ln w="19050">
            <a:solidFill>
              <a:srgbClr val="7C4DDB"/>
            </a:solidFill>
            <a:prstDash val="solid"/>
            <a:tailEnd type="triangle"/>
          </a:ln>
        </p:spPr>
        <p:txBody>
          <a:bodyPr/>
          <a:lstStyle/>
          <a:p>
            <a:endParaRPr lang="es-ES" noProof="0" dirty="0"/>
          </a:p>
        </p:txBody>
      </p:sp>
      <p:sp>
        <p:nvSpPr>
          <p:cNvPr id="26" name="Shape 20"/>
          <p:cNvSpPr/>
          <p:nvPr/>
        </p:nvSpPr>
        <p:spPr>
          <a:xfrm>
            <a:off x="6080760" y="2651760"/>
            <a:ext cx="2651760" cy="566928"/>
          </a:xfrm>
          <a:prstGeom prst="roundRect">
            <a:avLst>
              <a:gd name="adj" fmla="val 19355"/>
            </a:avLst>
          </a:prstGeom>
          <a:solidFill>
            <a:srgbClr val="F4F2FB"/>
          </a:solidFill>
          <a:ln w="12700">
            <a:solidFill>
              <a:srgbClr val="F4F2FB"/>
            </a:solidFill>
            <a:prstDash val="solid"/>
          </a:ln>
        </p:spPr>
        <p:txBody>
          <a:bodyPr/>
          <a:lstStyle/>
          <a:p>
            <a:endParaRPr lang="es-ES" noProof="0" dirty="0"/>
          </a:p>
        </p:txBody>
      </p:sp>
      <p:sp>
        <p:nvSpPr>
          <p:cNvPr id="27" name="Shape 21"/>
          <p:cNvSpPr/>
          <p:nvPr/>
        </p:nvSpPr>
        <p:spPr>
          <a:xfrm>
            <a:off x="6172200" y="2724912"/>
            <a:ext cx="420624" cy="420624"/>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28" name="Image 4" descr="preencoded.png"/>
          <p:cNvPicPr>
            <a:picLocks noChangeAspect="1"/>
          </p:cNvPicPr>
          <p:nvPr/>
        </p:nvPicPr>
        <p:blipFill>
          <a:blip r:embed="rId7"/>
          <a:stretch>
            <a:fillRect/>
          </a:stretch>
        </p:blipFill>
        <p:spPr>
          <a:xfrm>
            <a:off x="6268944" y="2821656"/>
            <a:ext cx="227137" cy="227137"/>
          </a:xfrm>
          <a:prstGeom prst="rect">
            <a:avLst/>
          </a:prstGeom>
        </p:spPr>
      </p:pic>
      <p:sp>
        <p:nvSpPr>
          <p:cNvPr id="29" name="Text 22"/>
          <p:cNvSpPr txBox="1"/>
          <p:nvPr/>
        </p:nvSpPr>
        <p:spPr>
          <a:xfrm>
            <a:off x="6720840" y="2651760"/>
            <a:ext cx="1965960" cy="566928"/>
          </a:xfrm>
          <a:prstGeom prst="rect">
            <a:avLst/>
          </a:prstGeom>
          <a:noFill/>
          <a:ln/>
        </p:spPr>
        <p:txBody>
          <a:bodyPr wrap="square" lIns="0" tIns="0" rIns="0" bIns="0" rtlCol="0" anchor="ctr"/>
          <a:lstStyle/>
          <a:p>
            <a:pPr marL="0" indent="0">
              <a:buNone/>
            </a:pPr>
            <a:r>
              <a:rPr lang="es-ES" sz="1400" b="1" noProof="0" dirty="0">
                <a:solidFill>
                  <a:srgbClr val="1F2328"/>
                </a:solidFill>
                <a:latin typeface="Calibri" pitchFamily="34" charset="0"/>
                <a:ea typeface="Calibri" pitchFamily="34" charset="-122"/>
                <a:cs typeface="Calibri" pitchFamily="34" charset="-120"/>
              </a:rPr>
              <a:t>Dev</a:t>
            </a:r>
            <a:r>
              <a:rPr lang="es-ES" sz="1400" noProof="0" dirty="0">
                <a:solidFill>
                  <a:srgbClr val="5C6470"/>
                </a:solidFill>
                <a:latin typeface="Calibri" pitchFamily="34" charset="0"/>
                <a:ea typeface="Calibri" pitchFamily="34" charset="-122"/>
                <a:cs typeface="Calibri" pitchFamily="34" charset="-120"/>
              </a:rPr>
              <a:t>  ·  implementación</a:t>
            </a:r>
            <a:endParaRPr lang="es-ES" sz="1400" noProof="0" dirty="0"/>
          </a:p>
        </p:txBody>
      </p:sp>
      <p:sp>
        <p:nvSpPr>
          <p:cNvPr id="30" name="Shape 23"/>
          <p:cNvSpPr/>
          <p:nvPr/>
        </p:nvSpPr>
        <p:spPr>
          <a:xfrm flipV="1">
            <a:off x="5303520" y="2935224"/>
            <a:ext cx="777240" cy="356616"/>
          </a:xfrm>
          <a:prstGeom prst="line">
            <a:avLst/>
          </a:prstGeom>
          <a:noFill/>
          <a:ln w="19050">
            <a:solidFill>
              <a:srgbClr val="7C4DDB"/>
            </a:solidFill>
            <a:prstDash val="solid"/>
            <a:tailEnd type="triangle"/>
          </a:ln>
        </p:spPr>
        <p:txBody>
          <a:bodyPr/>
          <a:lstStyle/>
          <a:p>
            <a:endParaRPr lang="es-ES" noProof="0" dirty="0"/>
          </a:p>
        </p:txBody>
      </p:sp>
      <p:sp>
        <p:nvSpPr>
          <p:cNvPr id="31" name="Shape 24"/>
          <p:cNvSpPr/>
          <p:nvPr/>
        </p:nvSpPr>
        <p:spPr>
          <a:xfrm>
            <a:off x="8732520" y="2935224"/>
            <a:ext cx="731520" cy="356616"/>
          </a:xfrm>
          <a:prstGeom prst="line">
            <a:avLst/>
          </a:prstGeom>
          <a:noFill/>
          <a:ln w="19050">
            <a:solidFill>
              <a:srgbClr val="7C4DDB"/>
            </a:solidFill>
            <a:prstDash val="solid"/>
            <a:tailEnd type="triangle"/>
          </a:ln>
        </p:spPr>
        <p:txBody>
          <a:bodyPr/>
          <a:lstStyle/>
          <a:p>
            <a:endParaRPr lang="es-ES" noProof="0" dirty="0"/>
          </a:p>
        </p:txBody>
      </p:sp>
      <p:sp>
        <p:nvSpPr>
          <p:cNvPr id="32" name="Shape 25"/>
          <p:cNvSpPr/>
          <p:nvPr/>
        </p:nvSpPr>
        <p:spPr>
          <a:xfrm>
            <a:off x="6080760" y="3364992"/>
            <a:ext cx="2651760" cy="566928"/>
          </a:xfrm>
          <a:prstGeom prst="roundRect">
            <a:avLst>
              <a:gd name="adj" fmla="val 19355"/>
            </a:avLst>
          </a:prstGeom>
          <a:solidFill>
            <a:srgbClr val="F4F2FB"/>
          </a:solidFill>
          <a:ln w="12700">
            <a:solidFill>
              <a:srgbClr val="F4F2FB"/>
            </a:solidFill>
            <a:prstDash val="solid"/>
          </a:ln>
        </p:spPr>
        <p:txBody>
          <a:bodyPr/>
          <a:lstStyle/>
          <a:p>
            <a:endParaRPr lang="es-ES" noProof="0" dirty="0"/>
          </a:p>
        </p:txBody>
      </p:sp>
      <p:sp>
        <p:nvSpPr>
          <p:cNvPr id="33" name="Shape 26"/>
          <p:cNvSpPr/>
          <p:nvPr/>
        </p:nvSpPr>
        <p:spPr>
          <a:xfrm>
            <a:off x="6172200" y="3438144"/>
            <a:ext cx="420624" cy="420624"/>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34" name="Image 5" descr="preencoded.png"/>
          <p:cNvPicPr>
            <a:picLocks noChangeAspect="1"/>
          </p:cNvPicPr>
          <p:nvPr/>
        </p:nvPicPr>
        <p:blipFill>
          <a:blip r:embed="rId8"/>
          <a:stretch>
            <a:fillRect/>
          </a:stretch>
        </p:blipFill>
        <p:spPr>
          <a:xfrm>
            <a:off x="6268944" y="3534888"/>
            <a:ext cx="227137" cy="227137"/>
          </a:xfrm>
          <a:prstGeom prst="rect">
            <a:avLst/>
          </a:prstGeom>
        </p:spPr>
      </p:pic>
      <p:sp>
        <p:nvSpPr>
          <p:cNvPr id="35" name="Text 27"/>
          <p:cNvSpPr txBox="1"/>
          <p:nvPr/>
        </p:nvSpPr>
        <p:spPr>
          <a:xfrm>
            <a:off x="6720840" y="3364992"/>
            <a:ext cx="1965960" cy="566928"/>
          </a:xfrm>
          <a:prstGeom prst="rect">
            <a:avLst/>
          </a:prstGeom>
          <a:noFill/>
          <a:ln/>
        </p:spPr>
        <p:txBody>
          <a:bodyPr wrap="square" lIns="0" tIns="0" rIns="0" bIns="0" rtlCol="0" anchor="ctr"/>
          <a:lstStyle/>
          <a:p>
            <a:pPr marL="0" indent="0">
              <a:buNone/>
            </a:pPr>
            <a:r>
              <a:rPr lang="es-ES" sz="1400" b="1" noProof="0" dirty="0">
                <a:solidFill>
                  <a:srgbClr val="1F2328"/>
                </a:solidFill>
                <a:latin typeface="Calibri" pitchFamily="34" charset="0"/>
                <a:ea typeface="Calibri" pitchFamily="34" charset="-122"/>
                <a:cs typeface="Calibri" pitchFamily="34" charset="-120"/>
              </a:rPr>
              <a:t>Tester</a:t>
            </a:r>
            <a:r>
              <a:rPr lang="es-ES" sz="1400" noProof="0" dirty="0">
                <a:solidFill>
                  <a:srgbClr val="5C6470"/>
                </a:solidFill>
                <a:latin typeface="Calibri" pitchFamily="34" charset="0"/>
                <a:ea typeface="Calibri" pitchFamily="34" charset="-122"/>
                <a:cs typeface="Calibri" pitchFamily="34" charset="-120"/>
              </a:rPr>
              <a:t>  ·  pruebas</a:t>
            </a:r>
            <a:endParaRPr lang="es-ES" sz="1400" noProof="0" dirty="0"/>
          </a:p>
        </p:txBody>
      </p:sp>
      <p:sp>
        <p:nvSpPr>
          <p:cNvPr id="36" name="Shape 28"/>
          <p:cNvSpPr/>
          <p:nvPr/>
        </p:nvSpPr>
        <p:spPr>
          <a:xfrm>
            <a:off x="5303520" y="3291840"/>
            <a:ext cx="777240" cy="356616"/>
          </a:xfrm>
          <a:prstGeom prst="line">
            <a:avLst/>
          </a:prstGeom>
          <a:noFill/>
          <a:ln w="19050">
            <a:solidFill>
              <a:srgbClr val="7C4DDB"/>
            </a:solidFill>
            <a:prstDash val="solid"/>
            <a:tailEnd type="triangle"/>
          </a:ln>
        </p:spPr>
        <p:txBody>
          <a:bodyPr/>
          <a:lstStyle/>
          <a:p>
            <a:endParaRPr lang="es-ES" noProof="0" dirty="0"/>
          </a:p>
        </p:txBody>
      </p:sp>
      <p:sp>
        <p:nvSpPr>
          <p:cNvPr id="37" name="Shape 29"/>
          <p:cNvSpPr/>
          <p:nvPr/>
        </p:nvSpPr>
        <p:spPr>
          <a:xfrm flipV="1">
            <a:off x="8732520" y="3291840"/>
            <a:ext cx="731520" cy="356616"/>
          </a:xfrm>
          <a:prstGeom prst="line">
            <a:avLst/>
          </a:prstGeom>
          <a:noFill/>
          <a:ln w="19050">
            <a:solidFill>
              <a:srgbClr val="7C4DDB"/>
            </a:solidFill>
            <a:prstDash val="solid"/>
            <a:tailEnd type="triangle"/>
          </a:ln>
        </p:spPr>
        <p:txBody>
          <a:bodyPr/>
          <a:lstStyle/>
          <a:p>
            <a:endParaRPr lang="es-ES" noProof="0" dirty="0"/>
          </a:p>
        </p:txBody>
      </p:sp>
      <p:sp>
        <p:nvSpPr>
          <p:cNvPr id="38" name="Shape 30"/>
          <p:cNvSpPr/>
          <p:nvPr/>
        </p:nvSpPr>
        <p:spPr>
          <a:xfrm>
            <a:off x="6080760" y="4078224"/>
            <a:ext cx="2651760" cy="566928"/>
          </a:xfrm>
          <a:prstGeom prst="roundRect">
            <a:avLst>
              <a:gd name="adj" fmla="val 19355"/>
            </a:avLst>
          </a:prstGeom>
          <a:solidFill>
            <a:srgbClr val="F4F2FB"/>
          </a:solidFill>
          <a:ln w="12700">
            <a:solidFill>
              <a:srgbClr val="F4F2FB"/>
            </a:solidFill>
            <a:prstDash val="solid"/>
          </a:ln>
        </p:spPr>
        <p:txBody>
          <a:bodyPr/>
          <a:lstStyle/>
          <a:p>
            <a:endParaRPr lang="es-ES" noProof="0" dirty="0"/>
          </a:p>
        </p:txBody>
      </p:sp>
      <p:sp>
        <p:nvSpPr>
          <p:cNvPr id="39" name="Shape 31"/>
          <p:cNvSpPr/>
          <p:nvPr/>
        </p:nvSpPr>
        <p:spPr>
          <a:xfrm>
            <a:off x="6172200" y="4151376"/>
            <a:ext cx="420624" cy="420624"/>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40" name="Image 6" descr="preencoded.png"/>
          <p:cNvPicPr>
            <a:picLocks noChangeAspect="1"/>
          </p:cNvPicPr>
          <p:nvPr/>
        </p:nvPicPr>
        <p:blipFill>
          <a:blip r:embed="rId9"/>
          <a:stretch>
            <a:fillRect/>
          </a:stretch>
        </p:blipFill>
        <p:spPr>
          <a:xfrm>
            <a:off x="6268944" y="4248120"/>
            <a:ext cx="227137" cy="227137"/>
          </a:xfrm>
          <a:prstGeom prst="rect">
            <a:avLst/>
          </a:prstGeom>
        </p:spPr>
      </p:pic>
      <p:sp>
        <p:nvSpPr>
          <p:cNvPr id="41" name="Text 32"/>
          <p:cNvSpPr txBox="1"/>
          <p:nvPr/>
        </p:nvSpPr>
        <p:spPr>
          <a:xfrm>
            <a:off x="6720840" y="4078224"/>
            <a:ext cx="1965960" cy="566928"/>
          </a:xfrm>
          <a:prstGeom prst="rect">
            <a:avLst/>
          </a:prstGeom>
          <a:noFill/>
          <a:ln/>
        </p:spPr>
        <p:txBody>
          <a:bodyPr wrap="square" lIns="0" tIns="0" rIns="0" bIns="0" rtlCol="0" anchor="ctr"/>
          <a:lstStyle/>
          <a:p>
            <a:pPr marL="0" indent="0">
              <a:buNone/>
            </a:pPr>
            <a:r>
              <a:rPr lang="es-ES" sz="1400" b="1" noProof="0" dirty="0" err="1">
                <a:solidFill>
                  <a:srgbClr val="1F2328"/>
                </a:solidFill>
                <a:latin typeface="Calibri" pitchFamily="34" charset="0"/>
                <a:ea typeface="Calibri" pitchFamily="34" charset="-122"/>
                <a:cs typeface="Calibri" pitchFamily="34" charset="-120"/>
              </a:rPr>
              <a:t>Docs</a:t>
            </a:r>
            <a:r>
              <a:rPr lang="es-ES" sz="1400" noProof="0" dirty="0">
                <a:solidFill>
                  <a:srgbClr val="5C6470"/>
                </a:solidFill>
                <a:latin typeface="Calibri" pitchFamily="34" charset="0"/>
                <a:ea typeface="Calibri" pitchFamily="34" charset="-122"/>
                <a:cs typeface="Calibri" pitchFamily="34" charset="-120"/>
              </a:rPr>
              <a:t>  ·  documentación</a:t>
            </a:r>
            <a:endParaRPr lang="es-ES" sz="1400" noProof="0" dirty="0"/>
          </a:p>
        </p:txBody>
      </p:sp>
      <p:sp>
        <p:nvSpPr>
          <p:cNvPr id="42" name="Shape 33"/>
          <p:cNvSpPr/>
          <p:nvPr/>
        </p:nvSpPr>
        <p:spPr>
          <a:xfrm>
            <a:off x="5303520" y="3291840"/>
            <a:ext cx="777240" cy="1069848"/>
          </a:xfrm>
          <a:prstGeom prst="line">
            <a:avLst/>
          </a:prstGeom>
          <a:noFill/>
          <a:ln w="19050">
            <a:solidFill>
              <a:srgbClr val="7C4DDB"/>
            </a:solidFill>
            <a:prstDash val="solid"/>
            <a:tailEnd type="triangle"/>
          </a:ln>
        </p:spPr>
        <p:txBody>
          <a:bodyPr/>
          <a:lstStyle/>
          <a:p>
            <a:endParaRPr lang="es-ES" noProof="0" dirty="0"/>
          </a:p>
        </p:txBody>
      </p:sp>
      <p:sp>
        <p:nvSpPr>
          <p:cNvPr id="43" name="Shape 34"/>
          <p:cNvSpPr/>
          <p:nvPr/>
        </p:nvSpPr>
        <p:spPr>
          <a:xfrm flipV="1">
            <a:off x="8732520" y="3291840"/>
            <a:ext cx="731520" cy="1069848"/>
          </a:xfrm>
          <a:prstGeom prst="line">
            <a:avLst/>
          </a:prstGeom>
          <a:noFill/>
          <a:ln w="19050">
            <a:solidFill>
              <a:srgbClr val="7C4DDB"/>
            </a:solidFill>
            <a:prstDash val="solid"/>
            <a:tailEnd type="triangle"/>
          </a:ln>
        </p:spPr>
        <p:txBody>
          <a:bodyPr/>
          <a:lstStyle/>
          <a:p>
            <a:endParaRPr lang="es-ES" noProof="0" dirty="0"/>
          </a:p>
        </p:txBody>
      </p:sp>
      <p:sp>
        <p:nvSpPr>
          <p:cNvPr id="44" name="Shape 35"/>
          <p:cNvSpPr/>
          <p:nvPr/>
        </p:nvSpPr>
        <p:spPr>
          <a:xfrm>
            <a:off x="2468880" y="3291840"/>
            <a:ext cx="640080" cy="0"/>
          </a:xfrm>
          <a:prstGeom prst="line">
            <a:avLst/>
          </a:prstGeom>
          <a:noFill/>
          <a:ln w="22225">
            <a:solidFill>
              <a:srgbClr val="7C4DDB"/>
            </a:solidFill>
            <a:prstDash val="solid"/>
            <a:tailEnd type="triangle"/>
          </a:ln>
        </p:spPr>
        <p:txBody>
          <a:bodyPr/>
          <a:lstStyle/>
          <a:p>
            <a:endParaRPr lang="es-ES" noProof="0" dirty="0"/>
          </a:p>
        </p:txBody>
      </p:sp>
      <p:sp>
        <p:nvSpPr>
          <p:cNvPr id="45" name="Shape 36"/>
          <p:cNvSpPr/>
          <p:nvPr/>
        </p:nvSpPr>
        <p:spPr>
          <a:xfrm>
            <a:off x="10533888" y="4069080"/>
            <a:ext cx="0" cy="1188720"/>
          </a:xfrm>
          <a:prstGeom prst="line">
            <a:avLst/>
          </a:prstGeom>
          <a:noFill/>
          <a:ln w="19050">
            <a:solidFill>
              <a:srgbClr val="5C6470"/>
            </a:solidFill>
            <a:prstDash val="dash"/>
          </a:ln>
        </p:spPr>
        <p:txBody>
          <a:bodyPr/>
          <a:lstStyle/>
          <a:p>
            <a:endParaRPr lang="es-ES" noProof="0" dirty="0"/>
          </a:p>
        </p:txBody>
      </p:sp>
      <p:sp>
        <p:nvSpPr>
          <p:cNvPr id="46" name="Shape 37"/>
          <p:cNvSpPr/>
          <p:nvPr/>
        </p:nvSpPr>
        <p:spPr>
          <a:xfrm flipH="1">
            <a:off x="1508760" y="5257800"/>
            <a:ext cx="9025128" cy="0"/>
          </a:xfrm>
          <a:prstGeom prst="line">
            <a:avLst/>
          </a:prstGeom>
          <a:noFill/>
          <a:ln w="19050">
            <a:solidFill>
              <a:srgbClr val="5C6470"/>
            </a:solidFill>
            <a:prstDash val="dash"/>
          </a:ln>
        </p:spPr>
        <p:txBody>
          <a:bodyPr/>
          <a:lstStyle/>
          <a:p>
            <a:endParaRPr lang="es-ES" noProof="0" dirty="0"/>
          </a:p>
        </p:txBody>
      </p:sp>
      <p:sp>
        <p:nvSpPr>
          <p:cNvPr id="47" name="Shape 38"/>
          <p:cNvSpPr/>
          <p:nvPr/>
        </p:nvSpPr>
        <p:spPr>
          <a:xfrm flipV="1">
            <a:off x="1508760" y="4069080"/>
            <a:ext cx="0" cy="1188720"/>
          </a:xfrm>
          <a:prstGeom prst="line">
            <a:avLst/>
          </a:prstGeom>
          <a:noFill/>
          <a:ln w="19050">
            <a:solidFill>
              <a:srgbClr val="5C6470"/>
            </a:solidFill>
            <a:prstDash val="dash"/>
            <a:tailEnd type="triangle"/>
          </a:ln>
        </p:spPr>
        <p:txBody>
          <a:bodyPr/>
          <a:lstStyle/>
          <a:p>
            <a:endParaRPr lang="es-ES" noProof="0" dirty="0"/>
          </a:p>
        </p:txBody>
      </p:sp>
      <p:sp>
        <p:nvSpPr>
          <p:cNvPr id="48" name="Text 39"/>
          <p:cNvSpPr txBox="1"/>
          <p:nvPr/>
        </p:nvSpPr>
        <p:spPr>
          <a:xfrm>
            <a:off x="2011680" y="5367528"/>
            <a:ext cx="8138160" cy="320040"/>
          </a:xfrm>
          <a:prstGeom prst="rect">
            <a:avLst/>
          </a:prstGeom>
          <a:noFill/>
          <a:ln/>
        </p:spPr>
        <p:txBody>
          <a:bodyPr wrap="square" lIns="0" tIns="0" rIns="0" bIns="0" rtlCol="0" anchor="t"/>
          <a:lstStyle/>
          <a:p>
            <a:pPr marL="0" indent="0" algn="ctr">
              <a:buNone/>
            </a:pPr>
            <a:r>
              <a:rPr lang="es-ES" sz="1400" noProof="0" dirty="0">
                <a:solidFill>
                  <a:srgbClr val="5C6470"/>
                </a:solidFill>
                <a:latin typeface="Calibri" pitchFamily="34" charset="0"/>
                <a:ea typeface="Calibri" pitchFamily="34" charset="-122"/>
                <a:cs typeface="Calibri" pitchFamily="34" charset="-120"/>
              </a:rPr>
              <a:t>Revisas, apruebas o corriges; la decisión queda en decisions.md para todo el equipo</a:t>
            </a:r>
            <a:endParaRPr lang="es-ES" sz="14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PRESENTANDO SQUAD · 3/4</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El equipo vive en tu repositorio</a:t>
            </a:r>
            <a:endParaRPr lang="es-ES" sz="3200" noProof="0" dirty="0"/>
          </a:p>
        </p:txBody>
      </p:sp>
      <p:sp>
        <p:nvSpPr>
          <p:cNvPr id="4" name="Shape 2"/>
          <p:cNvSpPr/>
          <p:nvPr/>
        </p:nvSpPr>
        <p:spPr>
          <a:xfrm>
            <a:off x="548640" y="1554480"/>
            <a:ext cx="6126480" cy="3703320"/>
          </a:xfrm>
          <a:prstGeom prst="roundRect">
            <a:avLst>
              <a:gd name="adj" fmla="val 2963"/>
            </a:avLst>
          </a:prstGeom>
          <a:solidFill>
            <a:srgbClr val="11151D"/>
          </a:solidFill>
          <a:ln w="12700">
            <a:solidFill>
              <a:srgbClr val="11151D"/>
            </a:solidFill>
            <a:prstDash val="solid"/>
          </a:ln>
        </p:spPr>
        <p:txBody>
          <a:bodyPr/>
          <a:lstStyle/>
          <a:p>
            <a:endParaRPr lang="es-ES" noProof="0" dirty="0"/>
          </a:p>
        </p:txBody>
      </p:sp>
      <p:sp>
        <p:nvSpPr>
          <p:cNvPr id="5" name="Shape 3"/>
          <p:cNvSpPr/>
          <p:nvPr/>
        </p:nvSpPr>
        <p:spPr>
          <a:xfrm>
            <a:off x="777240" y="1737360"/>
            <a:ext cx="118872" cy="118872"/>
          </a:xfrm>
          <a:prstGeom prst="ellipse">
            <a:avLst/>
          </a:prstGeom>
          <a:solidFill>
            <a:srgbClr val="E0524A"/>
          </a:solidFill>
          <a:ln w="12700">
            <a:solidFill>
              <a:srgbClr val="E0524A"/>
            </a:solidFill>
            <a:prstDash val="solid"/>
          </a:ln>
        </p:spPr>
        <p:txBody>
          <a:bodyPr/>
          <a:lstStyle/>
          <a:p>
            <a:endParaRPr lang="es-ES" noProof="0" dirty="0"/>
          </a:p>
        </p:txBody>
      </p:sp>
      <p:sp>
        <p:nvSpPr>
          <p:cNvPr id="6" name="Shape 4"/>
          <p:cNvSpPr/>
          <p:nvPr/>
        </p:nvSpPr>
        <p:spPr>
          <a:xfrm>
            <a:off x="978408" y="1737360"/>
            <a:ext cx="118872" cy="118872"/>
          </a:xfrm>
          <a:prstGeom prst="ellipse">
            <a:avLst/>
          </a:prstGeom>
          <a:solidFill>
            <a:srgbClr val="F2A900"/>
          </a:solidFill>
          <a:ln w="12700">
            <a:solidFill>
              <a:srgbClr val="F2A900"/>
            </a:solidFill>
            <a:prstDash val="solid"/>
          </a:ln>
        </p:spPr>
        <p:txBody>
          <a:bodyPr/>
          <a:lstStyle/>
          <a:p>
            <a:endParaRPr lang="es-ES" noProof="0" dirty="0"/>
          </a:p>
        </p:txBody>
      </p:sp>
      <p:sp>
        <p:nvSpPr>
          <p:cNvPr id="7" name="Shape 5"/>
          <p:cNvSpPr/>
          <p:nvPr/>
        </p:nvSpPr>
        <p:spPr>
          <a:xfrm>
            <a:off x="1179576" y="1737360"/>
            <a:ext cx="118872" cy="118872"/>
          </a:xfrm>
          <a:prstGeom prst="ellipse">
            <a:avLst/>
          </a:prstGeom>
          <a:solidFill>
            <a:srgbClr val="10A38A"/>
          </a:solidFill>
          <a:ln w="12700">
            <a:solidFill>
              <a:srgbClr val="10A38A"/>
            </a:solidFill>
            <a:prstDash val="solid"/>
          </a:ln>
        </p:spPr>
        <p:txBody>
          <a:bodyPr/>
          <a:lstStyle/>
          <a:p>
            <a:endParaRPr lang="es-ES" noProof="0" dirty="0"/>
          </a:p>
        </p:txBody>
      </p:sp>
      <p:sp>
        <p:nvSpPr>
          <p:cNvPr id="8" name="Text 6"/>
          <p:cNvSpPr txBox="1"/>
          <p:nvPr/>
        </p:nvSpPr>
        <p:spPr>
          <a:xfrm>
            <a:off x="1463040" y="1673352"/>
            <a:ext cx="4937760" cy="256032"/>
          </a:xfrm>
          <a:prstGeom prst="rect">
            <a:avLst/>
          </a:prstGeom>
          <a:noFill/>
          <a:ln/>
        </p:spPr>
        <p:txBody>
          <a:bodyPr wrap="square" lIns="0" tIns="0" rIns="0" bIns="0" rtlCol="0" anchor="t"/>
          <a:lstStyle/>
          <a:p>
            <a:pPr marL="0" indent="0">
              <a:buNone/>
            </a:pPr>
            <a:r>
              <a:rPr lang="es-ES" sz="1100" noProof="0" dirty="0" err="1">
                <a:solidFill>
                  <a:srgbClr val="7D8796"/>
                </a:solidFill>
                <a:latin typeface="Consolas" pitchFamily="34" charset="0"/>
                <a:ea typeface="Consolas" pitchFamily="34" charset="-122"/>
                <a:cs typeface="Consolas" pitchFamily="34" charset="-120"/>
              </a:rPr>
              <a:t>tree</a:t>
            </a:r>
            <a:r>
              <a:rPr lang="es-ES" sz="1100" noProof="0" dirty="0">
                <a:solidFill>
                  <a:srgbClr val="7D8796"/>
                </a:solidFill>
                <a:latin typeface="Consolas" pitchFamily="34" charset="0"/>
                <a:ea typeface="Consolas" pitchFamily="34" charset="-122"/>
                <a:cs typeface="Consolas" pitchFamily="34" charset="-120"/>
              </a:rPr>
              <a:t> .</a:t>
            </a:r>
            <a:r>
              <a:rPr lang="es-ES" sz="1100" noProof="0" dirty="0" err="1">
                <a:solidFill>
                  <a:srgbClr val="7D8796"/>
                </a:solidFill>
                <a:latin typeface="Consolas" pitchFamily="34" charset="0"/>
                <a:ea typeface="Consolas" pitchFamily="34" charset="-122"/>
                <a:cs typeface="Consolas" pitchFamily="34" charset="-120"/>
              </a:rPr>
              <a:t>squad</a:t>
            </a:r>
            <a:endParaRPr lang="es-ES" sz="1100" noProof="0" dirty="0"/>
          </a:p>
        </p:txBody>
      </p:sp>
      <p:sp>
        <p:nvSpPr>
          <p:cNvPr id="9" name="Text 7"/>
          <p:cNvSpPr txBox="1"/>
          <p:nvPr/>
        </p:nvSpPr>
        <p:spPr>
          <a:xfrm>
            <a:off x="822960" y="2084832"/>
            <a:ext cx="5623560" cy="3017520"/>
          </a:xfrm>
          <a:prstGeom prst="rect">
            <a:avLst/>
          </a:prstGeom>
          <a:noFill/>
          <a:ln/>
        </p:spPr>
        <p:txBody>
          <a:bodyPr wrap="square" lIns="0" tIns="0" rIns="0" bIns="0" rtlCol="0" anchor="t"/>
          <a:lstStyle/>
          <a:p>
            <a:pPr marL="0" indent="0">
              <a:lnSpc>
                <a:spcPct val="112000"/>
              </a:lnSpc>
              <a:buNone/>
            </a:pPr>
            <a:r>
              <a:rPr lang="es-ES" sz="1600" b="1" noProof="0" dirty="0">
                <a:solidFill>
                  <a:srgbClr val="F2A900"/>
                </a:solidFill>
                <a:latin typeface="Consolas" pitchFamily="34" charset="0"/>
                <a:ea typeface="Consolas" pitchFamily="34" charset="-122"/>
                <a:cs typeface="Consolas" pitchFamily="34" charset="-120"/>
              </a:rPr>
              <a:t>.</a:t>
            </a:r>
            <a:r>
              <a:rPr lang="es-ES" sz="1600" b="1" noProof="0" dirty="0" err="1">
                <a:solidFill>
                  <a:srgbClr val="F2A900"/>
                </a:solidFill>
                <a:latin typeface="Consolas" pitchFamily="34" charset="0"/>
                <a:ea typeface="Consolas" pitchFamily="34" charset="-122"/>
                <a:cs typeface="Consolas" pitchFamily="34" charset="-120"/>
              </a:rPr>
              <a:t>squad</a:t>
            </a:r>
            <a:r>
              <a:rPr lang="es-ES" sz="1600" b="1" noProof="0" dirty="0">
                <a:solidFill>
                  <a:srgbClr val="F2A900"/>
                </a:solidFill>
                <a:latin typeface="Consolas" pitchFamily="34" charset="0"/>
                <a:ea typeface="Consolas" pitchFamily="34" charset="-122"/>
                <a:cs typeface="Consolas" pitchFamily="34" charset="-120"/>
              </a:rPr>
              <a:t>/</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team.md              </a:t>
            </a:r>
            <a:r>
              <a:rPr lang="es-ES" sz="1600" noProof="0" dirty="0">
                <a:solidFill>
                  <a:srgbClr val="7D8796"/>
                </a:solidFill>
                <a:latin typeface="Consolas" pitchFamily="34" charset="0"/>
                <a:ea typeface="Consolas" pitchFamily="34" charset="-122"/>
                <a:cs typeface="Consolas" pitchFamily="34" charset="-120"/>
              </a:rPr>
              <a:t># roster</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routing.md           </a:t>
            </a:r>
            <a:r>
              <a:rPr lang="es-ES" sz="1600" noProof="0" dirty="0">
                <a:solidFill>
                  <a:srgbClr val="7D8796"/>
                </a:solidFill>
                <a:latin typeface="Consolas" pitchFamily="34" charset="0"/>
                <a:ea typeface="Consolas" pitchFamily="34" charset="-122"/>
                <a:cs typeface="Consolas" pitchFamily="34" charset="-120"/>
              </a:rPr>
              <a:t># quién hace qué</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decisions.md         </a:t>
            </a:r>
            <a:r>
              <a:rPr lang="es-ES" sz="1600" noProof="0" dirty="0">
                <a:solidFill>
                  <a:srgbClr val="7D8796"/>
                </a:solidFill>
                <a:latin typeface="Consolas" pitchFamily="34" charset="0"/>
                <a:ea typeface="Consolas" pitchFamily="34" charset="-122"/>
                <a:cs typeface="Consolas" pitchFamily="34" charset="-120"/>
              </a:rPr>
              <a:t># decisiones</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a:t>
            </a:r>
            <a:r>
              <a:rPr lang="es-ES" sz="1600" noProof="0" dirty="0" err="1">
                <a:solidFill>
                  <a:srgbClr val="E6EDF3"/>
                </a:solidFill>
                <a:latin typeface="Consolas" pitchFamily="34" charset="0"/>
                <a:ea typeface="Consolas" pitchFamily="34" charset="-122"/>
                <a:cs typeface="Consolas" pitchFamily="34" charset="-120"/>
              </a:rPr>
              <a:t>config.json</a:t>
            </a:r>
            <a:r>
              <a:rPr lang="es-ES" sz="1600" noProof="0" dirty="0">
                <a:solidFill>
                  <a:srgbClr val="E6EDF3"/>
                </a:solidFill>
                <a:latin typeface="Consolas" pitchFamily="34" charset="0"/>
                <a:ea typeface="Consolas" pitchFamily="34" charset="-122"/>
                <a:cs typeface="Consolas" pitchFamily="34" charset="-120"/>
              </a:rPr>
              <a:t>          </a:t>
            </a:r>
            <a:r>
              <a:rPr lang="es-ES" sz="1600" noProof="0" dirty="0">
                <a:solidFill>
                  <a:srgbClr val="7D8796"/>
                </a:solidFill>
                <a:latin typeface="Consolas" pitchFamily="34" charset="0"/>
                <a:ea typeface="Consolas" pitchFamily="34" charset="-122"/>
                <a:cs typeface="Consolas" pitchFamily="34" charset="-120"/>
              </a:rPr>
              <a:t># modelo por agente</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casting/</a:t>
            </a:r>
            <a:r>
              <a:rPr lang="es-ES" sz="1600" noProof="0" dirty="0" err="1">
                <a:solidFill>
                  <a:srgbClr val="E6EDF3"/>
                </a:solidFill>
                <a:latin typeface="Consolas" pitchFamily="34" charset="0"/>
                <a:ea typeface="Consolas" pitchFamily="34" charset="-122"/>
                <a:cs typeface="Consolas" pitchFamily="34" charset="-120"/>
              </a:rPr>
              <a:t>registry.json</a:t>
            </a:r>
            <a:r>
              <a:rPr lang="es-ES" sz="1600" noProof="0" dirty="0">
                <a:solidFill>
                  <a:srgbClr val="7D8796"/>
                </a:solidFill>
                <a:latin typeface="Consolas" pitchFamily="34" charset="0"/>
                <a:ea typeface="Consolas" pitchFamily="34" charset="-122"/>
                <a:cs typeface="Consolas" pitchFamily="34" charset="-120"/>
              </a:rPr>
              <a:t> # identidades</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a:t>
            </a:r>
            <a:r>
              <a:rPr lang="es-ES" sz="1600" noProof="0" dirty="0" err="1">
                <a:solidFill>
                  <a:srgbClr val="E6EDF3"/>
                </a:solidFill>
                <a:latin typeface="Consolas" pitchFamily="34" charset="0"/>
                <a:ea typeface="Consolas" pitchFamily="34" charset="-122"/>
                <a:cs typeface="Consolas" pitchFamily="34" charset="-120"/>
              </a:rPr>
              <a:t>agents</a:t>
            </a:r>
            <a:r>
              <a:rPr lang="es-ES" sz="1600" noProof="0" dirty="0">
                <a:solidFill>
                  <a:srgbClr val="E6EDF3"/>
                </a:solidFill>
                <a:latin typeface="Consolas" pitchFamily="34" charset="0"/>
                <a:ea typeface="Consolas" pitchFamily="34" charset="-122"/>
                <a:cs typeface="Consolas" pitchFamily="34" charset="-120"/>
              </a:rPr>
              <a:t>/</a:t>
            </a:r>
            <a:r>
              <a:rPr lang="es-ES" sz="1600" noProof="0" dirty="0">
                <a:solidFill>
                  <a:srgbClr val="10A38A"/>
                </a:solidFill>
                <a:latin typeface="Consolas" pitchFamily="34" charset="0"/>
                <a:ea typeface="Consolas" pitchFamily="34" charset="-122"/>
                <a:cs typeface="Consolas" pitchFamily="34" charset="-120"/>
              </a:rPr>
              <a:t>&lt;nombre&gt;</a:t>
            </a:r>
            <a:r>
              <a:rPr lang="es-ES" sz="1600" noProof="0" dirty="0">
                <a:solidFill>
                  <a:srgbClr val="E6EDF3"/>
                </a:solidFill>
                <a:latin typeface="Consolas" pitchFamily="34" charset="0"/>
                <a:ea typeface="Consolas" pitchFamily="34" charset="-122"/>
                <a:cs typeface="Consolas" pitchFamily="34" charset="-120"/>
              </a:rPr>
              <a:t>/</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 charter.md       </a:t>
            </a:r>
            <a:r>
              <a:rPr lang="es-ES" sz="1600" noProof="0" dirty="0">
                <a:solidFill>
                  <a:srgbClr val="7D8796"/>
                </a:solidFill>
                <a:latin typeface="Consolas" pitchFamily="34" charset="0"/>
                <a:ea typeface="Consolas" pitchFamily="34" charset="-122"/>
                <a:cs typeface="Consolas" pitchFamily="34" charset="-120"/>
              </a:rPr>
              <a:t># rol y voz</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 history.md       </a:t>
            </a:r>
            <a:r>
              <a:rPr lang="es-ES" sz="1600" noProof="0" dirty="0">
                <a:solidFill>
                  <a:srgbClr val="7D8796"/>
                </a:solidFill>
                <a:latin typeface="Consolas" pitchFamily="34" charset="0"/>
                <a:ea typeface="Consolas" pitchFamily="34" charset="-122"/>
                <a:cs typeface="Consolas" pitchFamily="34" charset="-120"/>
              </a:rPr>
              <a:t># aprendizajes</a:t>
            </a:r>
            <a:endParaRPr lang="es-ES" sz="1600" noProof="0" dirty="0"/>
          </a:p>
          <a:p>
            <a:pPr marL="0" indent="0">
              <a:lnSpc>
                <a:spcPct val="112000"/>
              </a:lnSpc>
              <a:buNone/>
            </a:pPr>
            <a:r>
              <a:rPr lang="es-ES" sz="1600" noProof="0" dirty="0">
                <a:solidFill>
                  <a:srgbClr val="E6EDF3"/>
                </a:solidFill>
                <a:latin typeface="Consolas" pitchFamily="34" charset="0"/>
                <a:ea typeface="Consolas" pitchFamily="34" charset="-122"/>
                <a:cs typeface="Consolas" pitchFamily="34" charset="-120"/>
              </a:rPr>
              <a:t>└── log/                 </a:t>
            </a:r>
            <a:r>
              <a:rPr lang="es-ES" sz="1600" noProof="0" dirty="0">
                <a:solidFill>
                  <a:srgbClr val="7D8796"/>
                </a:solidFill>
                <a:latin typeface="Consolas" pitchFamily="34" charset="0"/>
                <a:ea typeface="Consolas" pitchFamily="34" charset="-122"/>
                <a:cs typeface="Consolas" pitchFamily="34" charset="-120"/>
              </a:rPr>
              <a:t># rastro de sesiones</a:t>
            </a:r>
            <a:endParaRPr lang="es-ES" sz="1600" noProof="0" dirty="0"/>
          </a:p>
        </p:txBody>
      </p:sp>
      <p:sp>
        <p:nvSpPr>
          <p:cNvPr id="10" name="Shape 8"/>
          <p:cNvSpPr/>
          <p:nvPr/>
        </p:nvSpPr>
        <p:spPr>
          <a:xfrm>
            <a:off x="7132320" y="1645920"/>
            <a:ext cx="731520" cy="73152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11" name="Image 0" descr="preencoded.png"/>
          <p:cNvPicPr>
            <a:picLocks noChangeAspect="1"/>
          </p:cNvPicPr>
          <p:nvPr/>
        </p:nvPicPr>
        <p:blipFill>
          <a:blip r:embed="rId3"/>
          <a:stretch>
            <a:fillRect/>
          </a:stretch>
        </p:blipFill>
        <p:spPr>
          <a:xfrm>
            <a:off x="7300570" y="1814170"/>
            <a:ext cx="395021" cy="395021"/>
          </a:xfrm>
          <a:prstGeom prst="rect">
            <a:avLst/>
          </a:prstGeom>
        </p:spPr>
      </p:pic>
      <p:sp>
        <p:nvSpPr>
          <p:cNvPr id="12" name="Text 9"/>
          <p:cNvSpPr txBox="1"/>
          <p:nvPr/>
        </p:nvSpPr>
        <p:spPr>
          <a:xfrm>
            <a:off x="8092440" y="1627632"/>
            <a:ext cx="356616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Haz </a:t>
            </a:r>
            <a:r>
              <a:rPr lang="es-ES" sz="1900" b="1" noProof="0" dirty="0" err="1">
                <a:solidFill>
                  <a:srgbClr val="1F2328"/>
                </a:solidFill>
                <a:latin typeface="Calibri" pitchFamily="34" charset="0"/>
                <a:ea typeface="Calibri" pitchFamily="34" charset="-122"/>
                <a:cs typeface="Calibri" pitchFamily="34" charset="-120"/>
              </a:rPr>
              <a:t>commit</a:t>
            </a:r>
            <a:r>
              <a:rPr lang="es-ES" sz="1900" b="1" noProof="0" dirty="0">
                <a:solidFill>
                  <a:srgbClr val="1F2328"/>
                </a:solidFill>
                <a:latin typeface="Calibri" pitchFamily="34" charset="0"/>
                <a:ea typeface="Calibri" pitchFamily="34" charset="-122"/>
                <a:cs typeface="Calibri" pitchFamily="34" charset="-120"/>
              </a:rPr>
              <a:t> de .</a:t>
            </a:r>
            <a:r>
              <a:rPr lang="es-ES" sz="1900" b="1" noProof="0" dirty="0" err="1">
                <a:solidFill>
                  <a:srgbClr val="1F2328"/>
                </a:solidFill>
                <a:latin typeface="Calibri" pitchFamily="34" charset="0"/>
                <a:ea typeface="Calibri" pitchFamily="34" charset="-122"/>
                <a:cs typeface="Calibri" pitchFamily="34" charset="-120"/>
              </a:rPr>
              <a:t>squad</a:t>
            </a:r>
            <a:r>
              <a:rPr lang="es-ES" sz="1900" b="1" noProof="0" dirty="0">
                <a:solidFill>
                  <a:srgbClr val="1F2328"/>
                </a:solidFill>
                <a:latin typeface="Calibri" pitchFamily="34" charset="0"/>
                <a:ea typeface="Calibri" pitchFamily="34" charset="-122"/>
                <a:cs typeface="Calibri" pitchFamily="34" charset="-120"/>
              </a:rPr>
              <a:t>/</a:t>
            </a:r>
            <a:endParaRPr lang="es-ES" sz="1900" noProof="0" dirty="0"/>
          </a:p>
        </p:txBody>
      </p:sp>
      <p:sp>
        <p:nvSpPr>
          <p:cNvPr id="13" name="Text 10"/>
          <p:cNvSpPr txBox="1"/>
          <p:nvPr/>
        </p:nvSpPr>
        <p:spPr>
          <a:xfrm>
            <a:off x="8092440" y="2029968"/>
            <a:ext cx="3566160" cy="73152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Quien clona el repositorio hereda el equipo y todo lo que ha aprendido.</a:t>
            </a:r>
            <a:endParaRPr lang="es-ES" sz="1500" noProof="0" dirty="0"/>
          </a:p>
        </p:txBody>
      </p:sp>
      <p:sp>
        <p:nvSpPr>
          <p:cNvPr id="14" name="Shape 11"/>
          <p:cNvSpPr/>
          <p:nvPr/>
        </p:nvSpPr>
        <p:spPr>
          <a:xfrm>
            <a:off x="7132320" y="2971800"/>
            <a:ext cx="731520" cy="73152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5" name="Image 1" descr="preencoded.png"/>
          <p:cNvPicPr>
            <a:picLocks noChangeAspect="1"/>
          </p:cNvPicPr>
          <p:nvPr/>
        </p:nvPicPr>
        <p:blipFill>
          <a:blip r:embed="rId4"/>
          <a:stretch>
            <a:fillRect/>
          </a:stretch>
        </p:blipFill>
        <p:spPr>
          <a:xfrm>
            <a:off x="7300570" y="3140050"/>
            <a:ext cx="395021" cy="395021"/>
          </a:xfrm>
          <a:prstGeom prst="rect">
            <a:avLst/>
          </a:prstGeom>
        </p:spPr>
      </p:pic>
      <p:sp>
        <p:nvSpPr>
          <p:cNvPr id="16" name="Text 12"/>
          <p:cNvSpPr txBox="1"/>
          <p:nvPr/>
        </p:nvSpPr>
        <p:spPr>
          <a:xfrm>
            <a:off x="8092440" y="2953512"/>
            <a:ext cx="356616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Todo es Markdown</a:t>
            </a:r>
            <a:endParaRPr lang="es-ES" sz="1900" noProof="0" dirty="0"/>
          </a:p>
        </p:txBody>
      </p:sp>
      <p:sp>
        <p:nvSpPr>
          <p:cNvPr id="17" name="Text 13"/>
          <p:cNvSpPr txBox="1"/>
          <p:nvPr/>
        </p:nvSpPr>
        <p:spPr>
          <a:xfrm>
            <a:off x="8092440" y="3355848"/>
            <a:ext cx="3566160" cy="73152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Revisa, compara y corrige a tus agentes igual que revisas código.</a:t>
            </a:r>
            <a:endParaRPr lang="es-ES" sz="1500" noProof="0" dirty="0"/>
          </a:p>
        </p:txBody>
      </p:sp>
      <p:sp>
        <p:nvSpPr>
          <p:cNvPr id="18" name="Shape 14"/>
          <p:cNvSpPr/>
          <p:nvPr/>
        </p:nvSpPr>
        <p:spPr>
          <a:xfrm>
            <a:off x="7132320" y="4297680"/>
            <a:ext cx="731520" cy="73152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19" name="Image 2" descr="preencoded.png"/>
          <p:cNvPicPr>
            <a:picLocks noChangeAspect="1"/>
          </p:cNvPicPr>
          <p:nvPr/>
        </p:nvPicPr>
        <p:blipFill>
          <a:blip r:embed="rId5"/>
          <a:stretch>
            <a:fillRect/>
          </a:stretch>
        </p:blipFill>
        <p:spPr>
          <a:xfrm>
            <a:off x="7300570" y="4465930"/>
            <a:ext cx="395021" cy="395021"/>
          </a:xfrm>
          <a:prstGeom prst="rect">
            <a:avLst/>
          </a:prstGeom>
        </p:spPr>
      </p:pic>
      <p:sp>
        <p:nvSpPr>
          <p:cNvPr id="20" name="Text 15"/>
          <p:cNvSpPr txBox="1"/>
          <p:nvPr/>
        </p:nvSpPr>
        <p:spPr>
          <a:xfrm>
            <a:off x="8092440" y="4279392"/>
            <a:ext cx="3566160"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Casting persistente</a:t>
            </a:r>
            <a:endParaRPr lang="es-ES" sz="1900" noProof="0" dirty="0"/>
          </a:p>
        </p:txBody>
      </p:sp>
      <p:sp>
        <p:nvSpPr>
          <p:cNvPr id="21" name="Text 16"/>
          <p:cNvSpPr txBox="1"/>
          <p:nvPr/>
        </p:nvSpPr>
        <p:spPr>
          <a:xfrm>
            <a:off x="8092440" y="4681728"/>
            <a:ext cx="3566160" cy="731520"/>
          </a:xfrm>
          <a:prstGeom prst="rect">
            <a:avLst/>
          </a:prstGeom>
          <a:noFill/>
          <a:ln/>
        </p:spPr>
        <p:txBody>
          <a:bodyPr wrap="square" lIns="0" tIns="0" rIns="0" bIns="0" rtlCol="0" anchor="t"/>
          <a:lstStyle/>
          <a:p>
            <a:pPr marL="0" indent="0">
              <a:buNone/>
            </a:pPr>
            <a:r>
              <a:rPr lang="es-ES" sz="1500" noProof="0" dirty="0">
                <a:solidFill>
                  <a:srgbClr val="5C6470"/>
                </a:solidFill>
                <a:latin typeface="Calibri" pitchFamily="34" charset="0"/>
                <a:ea typeface="Calibri" pitchFamily="34" charset="-122"/>
                <a:cs typeface="Calibri" pitchFamily="34" charset="-120"/>
              </a:rPr>
              <a:t>Los mismos nombres y roles en cada sesión, registrados en casting/.</a:t>
            </a:r>
            <a:endParaRPr lang="es-ES" sz="15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PRESENTANDO SQUAD · 4/4</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Agentes integrados y comandos clave</a:t>
            </a:r>
            <a:endParaRPr lang="es-ES" sz="3200" noProof="0" dirty="0"/>
          </a:p>
        </p:txBody>
      </p:sp>
      <p:sp>
        <p:nvSpPr>
          <p:cNvPr id="4" name="Shape 2"/>
          <p:cNvSpPr/>
          <p:nvPr/>
        </p:nvSpPr>
        <p:spPr>
          <a:xfrm>
            <a:off x="548640" y="1554480"/>
            <a:ext cx="2624328" cy="2148840"/>
          </a:xfrm>
          <a:prstGeom prst="roundRect">
            <a:avLst>
              <a:gd name="adj" fmla="val 5957"/>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822960" y="1783080"/>
            <a:ext cx="640080" cy="64008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970178" y="1930298"/>
            <a:ext cx="345643" cy="345643"/>
          </a:xfrm>
          <a:prstGeom prst="rect">
            <a:avLst/>
          </a:prstGeom>
        </p:spPr>
      </p:pic>
      <p:sp>
        <p:nvSpPr>
          <p:cNvPr id="7" name="Text 4"/>
          <p:cNvSpPr txBox="1"/>
          <p:nvPr/>
        </p:nvSpPr>
        <p:spPr>
          <a:xfrm>
            <a:off x="822960" y="2560320"/>
            <a:ext cx="2167128"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Scribe</a:t>
            </a:r>
            <a:endParaRPr lang="es-ES" sz="1900" noProof="0" dirty="0"/>
          </a:p>
        </p:txBody>
      </p:sp>
      <p:sp>
        <p:nvSpPr>
          <p:cNvPr id="8" name="Text 5"/>
          <p:cNvSpPr txBox="1"/>
          <p:nvPr/>
        </p:nvSpPr>
        <p:spPr>
          <a:xfrm>
            <a:off x="822960" y="2926080"/>
            <a:ext cx="2167128" cy="68580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Registra la sesión, gestiona la memoria y fusiona decisiones.</a:t>
            </a:r>
            <a:endParaRPr lang="es-ES" sz="1350" noProof="0" dirty="0"/>
          </a:p>
        </p:txBody>
      </p:sp>
      <p:sp>
        <p:nvSpPr>
          <p:cNvPr id="9" name="Shape 6"/>
          <p:cNvSpPr/>
          <p:nvPr/>
        </p:nvSpPr>
        <p:spPr>
          <a:xfrm>
            <a:off x="3361944" y="1554480"/>
            <a:ext cx="2624328" cy="2148840"/>
          </a:xfrm>
          <a:prstGeom prst="roundRect">
            <a:avLst>
              <a:gd name="adj" fmla="val 5957"/>
            </a:avLst>
          </a:prstGeom>
          <a:solidFill>
            <a:srgbClr val="F4F2FB"/>
          </a:solidFill>
          <a:ln w="12700">
            <a:solidFill>
              <a:srgbClr val="F4F2FB"/>
            </a:solidFill>
            <a:prstDash val="solid"/>
          </a:ln>
        </p:spPr>
        <p:txBody>
          <a:bodyPr/>
          <a:lstStyle/>
          <a:p>
            <a:endParaRPr lang="es-ES" noProof="0" dirty="0"/>
          </a:p>
        </p:txBody>
      </p:sp>
      <p:sp>
        <p:nvSpPr>
          <p:cNvPr id="10" name="Shape 7"/>
          <p:cNvSpPr/>
          <p:nvPr/>
        </p:nvSpPr>
        <p:spPr>
          <a:xfrm>
            <a:off x="3636264" y="1783080"/>
            <a:ext cx="640080" cy="64008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1" name="Image 1" descr="preencoded.png"/>
          <p:cNvPicPr>
            <a:picLocks noChangeAspect="1"/>
          </p:cNvPicPr>
          <p:nvPr/>
        </p:nvPicPr>
        <p:blipFill>
          <a:blip r:embed="rId4"/>
          <a:stretch>
            <a:fillRect/>
          </a:stretch>
        </p:blipFill>
        <p:spPr>
          <a:xfrm>
            <a:off x="3783482" y="1930298"/>
            <a:ext cx="345643" cy="345643"/>
          </a:xfrm>
          <a:prstGeom prst="rect">
            <a:avLst/>
          </a:prstGeom>
        </p:spPr>
      </p:pic>
      <p:sp>
        <p:nvSpPr>
          <p:cNvPr id="12" name="Text 8"/>
          <p:cNvSpPr txBox="1"/>
          <p:nvPr/>
        </p:nvSpPr>
        <p:spPr>
          <a:xfrm>
            <a:off x="3636264" y="2560320"/>
            <a:ext cx="2167128"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Ralph</a:t>
            </a:r>
            <a:endParaRPr lang="es-ES" sz="1900" noProof="0" dirty="0"/>
          </a:p>
        </p:txBody>
      </p:sp>
      <p:sp>
        <p:nvSpPr>
          <p:cNvPr id="13" name="Text 9"/>
          <p:cNvSpPr txBox="1"/>
          <p:nvPr/>
        </p:nvSpPr>
        <p:spPr>
          <a:xfrm>
            <a:off x="3636264" y="2926080"/>
            <a:ext cx="2167128" cy="68580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Monitor de trabajo; con </a:t>
            </a:r>
            <a:r>
              <a:rPr lang="es-ES" sz="1350" noProof="0" dirty="0" err="1">
                <a:solidFill>
                  <a:srgbClr val="5C6470"/>
                </a:solidFill>
                <a:latin typeface="Calibri" pitchFamily="34" charset="0"/>
                <a:ea typeface="Calibri" pitchFamily="34" charset="-122"/>
                <a:cs typeface="Calibri" pitchFamily="34" charset="-120"/>
              </a:rPr>
              <a:t>squad</a:t>
            </a:r>
            <a:r>
              <a:rPr lang="es-ES" sz="1350" noProof="0" dirty="0">
                <a:solidFill>
                  <a:srgbClr val="5C6470"/>
                </a:solidFill>
                <a:latin typeface="Calibri" pitchFamily="34" charset="0"/>
                <a:ea typeface="Calibri" pitchFamily="34" charset="-122"/>
                <a:cs typeface="Calibri" pitchFamily="34" charset="-120"/>
              </a:rPr>
              <a:t> </a:t>
            </a:r>
            <a:r>
              <a:rPr lang="es-ES" sz="1350" noProof="0" dirty="0" err="1">
                <a:solidFill>
                  <a:srgbClr val="5C6470"/>
                </a:solidFill>
                <a:latin typeface="Calibri" pitchFamily="34" charset="0"/>
                <a:ea typeface="Calibri" pitchFamily="34" charset="-122"/>
                <a:cs typeface="Calibri" pitchFamily="34" charset="-120"/>
              </a:rPr>
              <a:t>watch</a:t>
            </a:r>
            <a:r>
              <a:rPr lang="es-ES" sz="1350" noProof="0" dirty="0">
                <a:solidFill>
                  <a:srgbClr val="5C6470"/>
                </a:solidFill>
                <a:latin typeface="Calibri" pitchFamily="34" charset="0"/>
                <a:ea typeface="Calibri" pitchFamily="34" charset="-122"/>
                <a:cs typeface="Calibri" pitchFamily="34" charset="-120"/>
              </a:rPr>
              <a:t> hace triaje continuo.</a:t>
            </a:r>
            <a:endParaRPr lang="es-ES" sz="1350" noProof="0" dirty="0"/>
          </a:p>
        </p:txBody>
      </p:sp>
      <p:sp>
        <p:nvSpPr>
          <p:cNvPr id="14" name="Shape 10"/>
          <p:cNvSpPr/>
          <p:nvPr/>
        </p:nvSpPr>
        <p:spPr>
          <a:xfrm>
            <a:off x="6175248" y="1554480"/>
            <a:ext cx="2624328" cy="2148840"/>
          </a:xfrm>
          <a:prstGeom prst="roundRect">
            <a:avLst>
              <a:gd name="adj" fmla="val 5957"/>
            </a:avLst>
          </a:prstGeom>
          <a:solidFill>
            <a:srgbClr val="F4F2FB"/>
          </a:solidFill>
          <a:ln w="12700">
            <a:solidFill>
              <a:srgbClr val="F4F2FB"/>
            </a:solidFill>
            <a:prstDash val="solid"/>
          </a:ln>
        </p:spPr>
        <p:txBody>
          <a:bodyPr/>
          <a:lstStyle/>
          <a:p>
            <a:endParaRPr lang="es-ES" noProof="0" dirty="0"/>
          </a:p>
        </p:txBody>
      </p:sp>
      <p:sp>
        <p:nvSpPr>
          <p:cNvPr id="15" name="Shape 11"/>
          <p:cNvSpPr/>
          <p:nvPr/>
        </p:nvSpPr>
        <p:spPr>
          <a:xfrm>
            <a:off x="6449568" y="1783080"/>
            <a:ext cx="640080" cy="64008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16" name="Image 2" descr="preencoded.png"/>
          <p:cNvPicPr>
            <a:picLocks noChangeAspect="1"/>
          </p:cNvPicPr>
          <p:nvPr/>
        </p:nvPicPr>
        <p:blipFill>
          <a:blip r:embed="rId5"/>
          <a:stretch>
            <a:fillRect/>
          </a:stretch>
        </p:blipFill>
        <p:spPr>
          <a:xfrm>
            <a:off x="6596786" y="1930298"/>
            <a:ext cx="345643" cy="345643"/>
          </a:xfrm>
          <a:prstGeom prst="rect">
            <a:avLst/>
          </a:prstGeom>
        </p:spPr>
      </p:pic>
      <p:sp>
        <p:nvSpPr>
          <p:cNvPr id="17" name="Text 12"/>
          <p:cNvSpPr txBox="1"/>
          <p:nvPr/>
        </p:nvSpPr>
        <p:spPr>
          <a:xfrm>
            <a:off x="6449568" y="2560320"/>
            <a:ext cx="2167128" cy="365760"/>
          </a:xfrm>
          <a:prstGeom prst="rect">
            <a:avLst/>
          </a:prstGeom>
          <a:noFill/>
          <a:ln/>
        </p:spPr>
        <p:txBody>
          <a:bodyPr wrap="square" lIns="0" tIns="0" rIns="0" bIns="0" rtlCol="0" anchor="t"/>
          <a:lstStyle/>
          <a:p>
            <a:pPr marL="0" indent="0">
              <a:buNone/>
            </a:pPr>
            <a:r>
              <a:rPr lang="es-ES" sz="1900" b="1" noProof="0" dirty="0">
                <a:solidFill>
                  <a:srgbClr val="1F2328"/>
                </a:solidFill>
                <a:latin typeface="Calibri" pitchFamily="34" charset="0"/>
                <a:ea typeface="Calibri" pitchFamily="34" charset="-122"/>
                <a:cs typeface="Calibri" pitchFamily="34" charset="-120"/>
              </a:rPr>
              <a:t>Rai</a:t>
            </a:r>
            <a:endParaRPr lang="es-ES" sz="1900" noProof="0" dirty="0"/>
          </a:p>
        </p:txBody>
      </p:sp>
      <p:sp>
        <p:nvSpPr>
          <p:cNvPr id="18" name="Text 13"/>
          <p:cNvSpPr txBox="1"/>
          <p:nvPr/>
        </p:nvSpPr>
        <p:spPr>
          <a:xfrm>
            <a:off x="6449568" y="2926080"/>
            <a:ext cx="2167128" cy="68580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Revisor de IA responsable del trabajo del equipo.</a:t>
            </a:r>
            <a:endParaRPr lang="es-ES" sz="1350" noProof="0" dirty="0"/>
          </a:p>
        </p:txBody>
      </p:sp>
      <p:sp>
        <p:nvSpPr>
          <p:cNvPr id="19" name="Shape 14"/>
          <p:cNvSpPr/>
          <p:nvPr/>
        </p:nvSpPr>
        <p:spPr>
          <a:xfrm>
            <a:off x="8988552" y="1554480"/>
            <a:ext cx="2624328" cy="2148840"/>
          </a:xfrm>
          <a:prstGeom prst="roundRect">
            <a:avLst>
              <a:gd name="adj" fmla="val 5957"/>
            </a:avLst>
          </a:prstGeom>
          <a:solidFill>
            <a:srgbClr val="F4F2FB"/>
          </a:solidFill>
          <a:ln w="12700">
            <a:solidFill>
              <a:srgbClr val="F4F2FB"/>
            </a:solidFill>
            <a:prstDash val="solid"/>
          </a:ln>
        </p:spPr>
        <p:txBody>
          <a:bodyPr/>
          <a:lstStyle/>
          <a:p>
            <a:endParaRPr lang="es-ES" noProof="0" dirty="0"/>
          </a:p>
        </p:txBody>
      </p:sp>
      <p:sp>
        <p:nvSpPr>
          <p:cNvPr id="20" name="Shape 15"/>
          <p:cNvSpPr/>
          <p:nvPr/>
        </p:nvSpPr>
        <p:spPr>
          <a:xfrm>
            <a:off x="9262872" y="1783080"/>
            <a:ext cx="640080" cy="640080"/>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21" name="Image 3" descr="preencoded.png"/>
          <p:cNvPicPr>
            <a:picLocks noChangeAspect="1"/>
          </p:cNvPicPr>
          <p:nvPr/>
        </p:nvPicPr>
        <p:blipFill>
          <a:blip r:embed="rId6"/>
          <a:stretch>
            <a:fillRect/>
          </a:stretch>
        </p:blipFill>
        <p:spPr>
          <a:xfrm>
            <a:off x="9410090" y="1930298"/>
            <a:ext cx="345643" cy="345643"/>
          </a:xfrm>
          <a:prstGeom prst="rect">
            <a:avLst/>
          </a:prstGeom>
        </p:spPr>
      </p:pic>
      <p:sp>
        <p:nvSpPr>
          <p:cNvPr id="22" name="Text 16"/>
          <p:cNvSpPr txBox="1"/>
          <p:nvPr/>
        </p:nvSpPr>
        <p:spPr>
          <a:xfrm>
            <a:off x="9262872" y="2560320"/>
            <a:ext cx="2167128" cy="365760"/>
          </a:xfrm>
          <a:prstGeom prst="rect">
            <a:avLst/>
          </a:prstGeom>
          <a:noFill/>
          <a:ln/>
        </p:spPr>
        <p:txBody>
          <a:bodyPr wrap="square" lIns="0" tIns="0" rIns="0" bIns="0" rtlCol="0" anchor="t"/>
          <a:lstStyle/>
          <a:p>
            <a:pPr marL="0" indent="0">
              <a:buNone/>
            </a:pPr>
            <a:r>
              <a:rPr lang="es-ES" sz="1900" b="1" noProof="0" dirty="0" err="1">
                <a:solidFill>
                  <a:srgbClr val="1F2328"/>
                </a:solidFill>
                <a:latin typeface="Calibri" pitchFamily="34" charset="0"/>
                <a:ea typeface="Calibri" pitchFamily="34" charset="-122"/>
                <a:cs typeface="Calibri" pitchFamily="34" charset="-120"/>
              </a:rPr>
              <a:t>Fact</a:t>
            </a:r>
            <a:r>
              <a:rPr lang="es-ES" sz="1900" b="1" noProof="0" dirty="0">
                <a:solidFill>
                  <a:srgbClr val="1F2328"/>
                </a:solidFill>
                <a:latin typeface="Calibri" pitchFamily="34" charset="0"/>
                <a:ea typeface="Calibri" pitchFamily="34" charset="-122"/>
                <a:cs typeface="Calibri" pitchFamily="34" charset="-120"/>
              </a:rPr>
              <a:t> </a:t>
            </a:r>
            <a:r>
              <a:rPr lang="es-ES" sz="1900" b="1" noProof="0" dirty="0" err="1">
                <a:solidFill>
                  <a:srgbClr val="1F2328"/>
                </a:solidFill>
                <a:latin typeface="Calibri" pitchFamily="34" charset="0"/>
                <a:ea typeface="Calibri" pitchFamily="34" charset="-122"/>
                <a:cs typeface="Calibri" pitchFamily="34" charset="-120"/>
              </a:rPr>
              <a:t>Checker</a:t>
            </a:r>
            <a:endParaRPr lang="es-ES" sz="1900" noProof="0" dirty="0"/>
          </a:p>
        </p:txBody>
      </p:sp>
      <p:sp>
        <p:nvSpPr>
          <p:cNvPr id="23" name="Text 17"/>
          <p:cNvSpPr txBox="1"/>
          <p:nvPr/>
        </p:nvSpPr>
        <p:spPr>
          <a:xfrm>
            <a:off x="9262872" y="2926080"/>
            <a:ext cx="2167128" cy="68580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Abogado del diablo: verifica antes de dar algo por bueno.</a:t>
            </a:r>
            <a:endParaRPr lang="es-ES" sz="1350" noProof="0" dirty="0"/>
          </a:p>
        </p:txBody>
      </p:sp>
      <p:sp>
        <p:nvSpPr>
          <p:cNvPr id="24" name="Text 18"/>
          <p:cNvSpPr txBox="1"/>
          <p:nvPr/>
        </p:nvSpPr>
        <p:spPr>
          <a:xfrm>
            <a:off x="548639" y="3977640"/>
            <a:ext cx="6393789" cy="320040"/>
          </a:xfrm>
          <a:prstGeom prst="rect">
            <a:avLst/>
          </a:prstGeom>
          <a:noFill/>
          <a:ln/>
        </p:spPr>
        <p:txBody>
          <a:bodyPr wrap="square" lIns="0" tIns="0" rIns="0" bIns="0" rtlCol="0" anchor="t"/>
          <a:lstStyle/>
          <a:p>
            <a:pPr marL="0" indent="0">
              <a:buNone/>
            </a:pPr>
            <a:r>
              <a:rPr lang="es-ES" sz="1700" b="1" noProof="0" dirty="0">
                <a:solidFill>
                  <a:srgbClr val="1F2328"/>
                </a:solidFill>
                <a:latin typeface="Calibri" pitchFamily="34" charset="0"/>
                <a:ea typeface="Calibri" pitchFamily="34" charset="-122"/>
                <a:cs typeface="Calibri" pitchFamily="34" charset="-120"/>
              </a:rPr>
              <a:t>Principales </a:t>
            </a:r>
            <a:r>
              <a:rPr lang="es-ES" sz="1700" b="1" noProof="0" dirty="0" err="1">
                <a:solidFill>
                  <a:srgbClr val="1F2328"/>
                </a:solidFill>
                <a:latin typeface="Calibri" pitchFamily="34" charset="0"/>
                <a:ea typeface="Calibri" pitchFamily="34" charset="-122"/>
                <a:cs typeface="Calibri" pitchFamily="34" charset="-120"/>
              </a:rPr>
              <a:t>commandos</a:t>
            </a:r>
            <a:r>
              <a:rPr lang="es-ES" sz="1700" b="1" noProof="0" dirty="0">
                <a:solidFill>
                  <a:srgbClr val="1F2328"/>
                </a:solidFill>
                <a:latin typeface="Calibri" pitchFamily="34" charset="0"/>
                <a:ea typeface="Calibri" pitchFamily="34" charset="-122"/>
                <a:cs typeface="Calibri" pitchFamily="34" charset="-120"/>
              </a:rPr>
              <a:t>… no son todos, pero si los más habituales</a:t>
            </a:r>
            <a:endParaRPr lang="es-ES" sz="1700" noProof="0" dirty="0"/>
          </a:p>
        </p:txBody>
      </p:sp>
      <p:sp>
        <p:nvSpPr>
          <p:cNvPr id="25" name="Shape 19"/>
          <p:cNvSpPr/>
          <p:nvPr/>
        </p:nvSpPr>
        <p:spPr>
          <a:xfrm>
            <a:off x="548640" y="4434840"/>
            <a:ext cx="3566160" cy="777240"/>
          </a:xfrm>
          <a:prstGeom prst="roundRect">
            <a:avLst>
              <a:gd name="adj" fmla="val 11765"/>
            </a:avLst>
          </a:prstGeom>
          <a:solidFill>
            <a:srgbClr val="F4F2FB"/>
          </a:solidFill>
          <a:ln w="12700">
            <a:solidFill>
              <a:srgbClr val="F4F2FB"/>
            </a:solidFill>
            <a:prstDash val="solid"/>
          </a:ln>
        </p:spPr>
        <p:txBody>
          <a:bodyPr/>
          <a:lstStyle/>
          <a:p>
            <a:endParaRPr lang="es-ES" noProof="0" dirty="0"/>
          </a:p>
        </p:txBody>
      </p:sp>
      <p:sp>
        <p:nvSpPr>
          <p:cNvPr id="26" name="Text 20"/>
          <p:cNvSpPr txBox="1"/>
          <p:nvPr/>
        </p:nvSpPr>
        <p:spPr>
          <a:xfrm>
            <a:off x="777240" y="4526280"/>
            <a:ext cx="3200400" cy="301752"/>
          </a:xfrm>
          <a:prstGeom prst="rect">
            <a:avLst/>
          </a:prstGeom>
          <a:noFill/>
          <a:ln/>
        </p:spPr>
        <p:txBody>
          <a:bodyPr wrap="square" lIns="0" tIns="0" rIns="0" bIns="0" rtlCol="0" anchor="t"/>
          <a:lstStyle/>
          <a:p>
            <a:pPr marL="0" indent="0">
              <a:buNone/>
            </a:pPr>
            <a:r>
              <a:rPr lang="es-ES" sz="1500" b="1" noProof="0" dirty="0" err="1">
                <a:solidFill>
                  <a:srgbClr val="5B34B0"/>
                </a:solidFill>
                <a:latin typeface="Consolas" pitchFamily="34" charset="0"/>
                <a:ea typeface="Consolas" pitchFamily="34" charset="-122"/>
                <a:cs typeface="Consolas" pitchFamily="34" charset="-120"/>
              </a:rPr>
              <a:t>squad</a:t>
            </a:r>
            <a:r>
              <a:rPr lang="es-ES" sz="1500" b="1" noProof="0" dirty="0">
                <a:solidFill>
                  <a:srgbClr val="5B34B0"/>
                </a:solidFill>
                <a:latin typeface="Consolas" pitchFamily="34" charset="0"/>
                <a:ea typeface="Consolas" pitchFamily="34" charset="-122"/>
                <a:cs typeface="Consolas" pitchFamily="34" charset="-120"/>
              </a:rPr>
              <a:t> </a:t>
            </a:r>
            <a:r>
              <a:rPr lang="es-ES" sz="1500" b="1" noProof="0" dirty="0" err="1">
                <a:solidFill>
                  <a:srgbClr val="5B34B0"/>
                </a:solidFill>
                <a:latin typeface="Consolas" pitchFamily="34" charset="0"/>
                <a:ea typeface="Consolas" pitchFamily="34" charset="-122"/>
                <a:cs typeface="Consolas" pitchFamily="34" charset="-120"/>
              </a:rPr>
              <a:t>init</a:t>
            </a:r>
            <a:endParaRPr lang="es-ES" sz="1500" noProof="0" dirty="0"/>
          </a:p>
        </p:txBody>
      </p:sp>
      <p:sp>
        <p:nvSpPr>
          <p:cNvPr id="27" name="Text 21"/>
          <p:cNvSpPr txBox="1"/>
          <p:nvPr/>
        </p:nvSpPr>
        <p:spPr>
          <a:xfrm>
            <a:off x="777240" y="4846320"/>
            <a:ext cx="3200400" cy="2743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prepara .</a:t>
            </a:r>
            <a:r>
              <a:rPr lang="es-ES" sz="1300" noProof="0" dirty="0" err="1">
                <a:solidFill>
                  <a:srgbClr val="5C6470"/>
                </a:solidFill>
                <a:latin typeface="Calibri" pitchFamily="34" charset="0"/>
                <a:ea typeface="Calibri" pitchFamily="34" charset="-122"/>
                <a:cs typeface="Calibri" pitchFamily="34" charset="-120"/>
              </a:rPr>
              <a:t>squad</a:t>
            </a:r>
            <a:r>
              <a:rPr lang="es-ES" sz="1300" noProof="0" dirty="0">
                <a:solidFill>
                  <a:srgbClr val="5C6470"/>
                </a:solidFill>
                <a:latin typeface="Calibri" pitchFamily="34" charset="0"/>
                <a:ea typeface="Calibri" pitchFamily="34" charset="-122"/>
                <a:cs typeface="Calibri" pitchFamily="34" charset="-120"/>
              </a:rPr>
              <a:t>/ (idempotente)</a:t>
            </a:r>
            <a:endParaRPr lang="es-ES" sz="1300" noProof="0" dirty="0"/>
          </a:p>
        </p:txBody>
      </p:sp>
      <p:sp>
        <p:nvSpPr>
          <p:cNvPr id="28" name="Shape 22"/>
          <p:cNvSpPr/>
          <p:nvPr/>
        </p:nvSpPr>
        <p:spPr>
          <a:xfrm>
            <a:off x="4297680" y="4434840"/>
            <a:ext cx="3566160" cy="777240"/>
          </a:xfrm>
          <a:prstGeom prst="roundRect">
            <a:avLst>
              <a:gd name="adj" fmla="val 11765"/>
            </a:avLst>
          </a:prstGeom>
          <a:solidFill>
            <a:srgbClr val="F4F2FB"/>
          </a:solidFill>
          <a:ln w="28575">
            <a:solidFill>
              <a:srgbClr val="FF0000"/>
            </a:solidFill>
            <a:prstDash val="solid"/>
          </a:ln>
        </p:spPr>
        <p:txBody>
          <a:bodyPr/>
          <a:lstStyle/>
          <a:p>
            <a:endParaRPr lang="es-ES" noProof="0" dirty="0"/>
          </a:p>
        </p:txBody>
      </p:sp>
      <p:sp>
        <p:nvSpPr>
          <p:cNvPr id="29" name="Text 23"/>
          <p:cNvSpPr txBox="1"/>
          <p:nvPr/>
        </p:nvSpPr>
        <p:spPr>
          <a:xfrm>
            <a:off x="4526280" y="4526280"/>
            <a:ext cx="3200400" cy="301752"/>
          </a:xfrm>
          <a:prstGeom prst="rect">
            <a:avLst/>
          </a:prstGeom>
          <a:noFill/>
          <a:ln/>
        </p:spPr>
        <p:txBody>
          <a:bodyPr wrap="square" lIns="0" tIns="0" rIns="0" bIns="0" rtlCol="0" anchor="t"/>
          <a:lstStyle/>
          <a:p>
            <a:pPr marL="0" indent="0">
              <a:buNone/>
            </a:pPr>
            <a:r>
              <a:rPr lang="es-ES" sz="1500" b="1" noProof="0" dirty="0" err="1">
                <a:solidFill>
                  <a:srgbClr val="5B34B0"/>
                </a:solidFill>
                <a:latin typeface="Consolas" pitchFamily="34" charset="0"/>
                <a:ea typeface="Consolas" pitchFamily="34" charset="-122"/>
                <a:cs typeface="Consolas" pitchFamily="34" charset="-120"/>
              </a:rPr>
              <a:t>squad</a:t>
            </a:r>
            <a:r>
              <a:rPr lang="es-ES" sz="1500" b="1" noProof="0" dirty="0">
                <a:solidFill>
                  <a:srgbClr val="5B34B0"/>
                </a:solidFill>
                <a:latin typeface="Consolas" pitchFamily="34" charset="0"/>
                <a:ea typeface="Consolas" pitchFamily="34" charset="-122"/>
                <a:cs typeface="Consolas" pitchFamily="34" charset="-120"/>
              </a:rPr>
              <a:t> </a:t>
            </a:r>
            <a:r>
              <a:rPr lang="es-ES" sz="1500" b="1" noProof="0" dirty="0" err="1">
                <a:solidFill>
                  <a:srgbClr val="5B34B0"/>
                </a:solidFill>
                <a:latin typeface="Consolas" pitchFamily="34" charset="0"/>
                <a:ea typeface="Consolas" pitchFamily="34" charset="-122"/>
                <a:cs typeface="Consolas" pitchFamily="34" charset="-120"/>
              </a:rPr>
              <a:t>cast</a:t>
            </a:r>
            <a:endParaRPr lang="es-ES" sz="1500" noProof="0" dirty="0"/>
          </a:p>
        </p:txBody>
      </p:sp>
      <p:sp>
        <p:nvSpPr>
          <p:cNvPr id="30" name="Text 24"/>
          <p:cNvSpPr txBox="1"/>
          <p:nvPr/>
        </p:nvSpPr>
        <p:spPr>
          <a:xfrm>
            <a:off x="4526280" y="4846320"/>
            <a:ext cx="3200400" cy="2743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muestra el reparto de agentes</a:t>
            </a:r>
            <a:endParaRPr lang="es-ES" sz="1300" noProof="0" dirty="0"/>
          </a:p>
        </p:txBody>
      </p:sp>
      <p:sp>
        <p:nvSpPr>
          <p:cNvPr id="34" name="Shape 28"/>
          <p:cNvSpPr/>
          <p:nvPr/>
        </p:nvSpPr>
        <p:spPr>
          <a:xfrm>
            <a:off x="548640" y="5349240"/>
            <a:ext cx="3566160" cy="777240"/>
          </a:xfrm>
          <a:prstGeom prst="roundRect">
            <a:avLst>
              <a:gd name="adj" fmla="val 11765"/>
            </a:avLst>
          </a:prstGeom>
          <a:solidFill>
            <a:srgbClr val="F4F2FB"/>
          </a:solidFill>
          <a:ln w="12700">
            <a:solidFill>
              <a:srgbClr val="F4F2FB"/>
            </a:solidFill>
            <a:prstDash val="solid"/>
          </a:ln>
        </p:spPr>
        <p:txBody>
          <a:bodyPr/>
          <a:lstStyle/>
          <a:p>
            <a:endParaRPr lang="es-ES" noProof="0" dirty="0"/>
          </a:p>
        </p:txBody>
      </p:sp>
      <p:sp>
        <p:nvSpPr>
          <p:cNvPr id="35" name="Text 29"/>
          <p:cNvSpPr txBox="1"/>
          <p:nvPr/>
        </p:nvSpPr>
        <p:spPr>
          <a:xfrm>
            <a:off x="777240" y="5440680"/>
            <a:ext cx="3200400" cy="301752"/>
          </a:xfrm>
          <a:prstGeom prst="rect">
            <a:avLst/>
          </a:prstGeom>
          <a:noFill/>
          <a:ln/>
        </p:spPr>
        <p:txBody>
          <a:bodyPr wrap="square" lIns="0" tIns="0" rIns="0" bIns="0" rtlCol="0" anchor="t"/>
          <a:lstStyle/>
          <a:p>
            <a:pPr marL="0" indent="0">
              <a:buNone/>
            </a:pPr>
            <a:r>
              <a:rPr lang="es-ES" sz="1500" b="1" noProof="0" dirty="0" err="1">
                <a:solidFill>
                  <a:srgbClr val="5B34B0"/>
                </a:solidFill>
                <a:latin typeface="Consolas" pitchFamily="34" charset="0"/>
                <a:ea typeface="Consolas" pitchFamily="34" charset="-122"/>
                <a:cs typeface="Consolas" pitchFamily="34" charset="-120"/>
              </a:rPr>
              <a:t>squad</a:t>
            </a:r>
            <a:r>
              <a:rPr lang="es-ES" sz="1500" b="1" noProof="0" dirty="0">
                <a:solidFill>
                  <a:srgbClr val="5B34B0"/>
                </a:solidFill>
                <a:latin typeface="Consolas" pitchFamily="34" charset="0"/>
                <a:ea typeface="Consolas" pitchFamily="34" charset="-122"/>
                <a:cs typeface="Consolas" pitchFamily="34" charset="-120"/>
              </a:rPr>
              <a:t> doctor</a:t>
            </a:r>
            <a:endParaRPr lang="es-ES" sz="1500" noProof="0" dirty="0"/>
          </a:p>
        </p:txBody>
      </p:sp>
      <p:sp>
        <p:nvSpPr>
          <p:cNvPr id="36" name="Text 30"/>
          <p:cNvSpPr txBox="1"/>
          <p:nvPr/>
        </p:nvSpPr>
        <p:spPr>
          <a:xfrm>
            <a:off x="777240" y="5760720"/>
            <a:ext cx="3200400" cy="2743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diagnostica la instalación</a:t>
            </a:r>
            <a:endParaRPr lang="es-ES" sz="1300" noProof="0" dirty="0"/>
          </a:p>
        </p:txBody>
      </p:sp>
      <p:sp>
        <p:nvSpPr>
          <p:cNvPr id="37" name="Shape 31"/>
          <p:cNvSpPr/>
          <p:nvPr/>
        </p:nvSpPr>
        <p:spPr>
          <a:xfrm>
            <a:off x="4297680" y="5349240"/>
            <a:ext cx="3566160" cy="777240"/>
          </a:xfrm>
          <a:prstGeom prst="roundRect">
            <a:avLst>
              <a:gd name="adj" fmla="val 11765"/>
            </a:avLst>
          </a:prstGeom>
          <a:solidFill>
            <a:srgbClr val="F4F2FB"/>
          </a:solidFill>
          <a:ln w="12700">
            <a:solidFill>
              <a:srgbClr val="F4F2FB"/>
            </a:solidFill>
            <a:prstDash val="solid"/>
          </a:ln>
        </p:spPr>
        <p:txBody>
          <a:bodyPr/>
          <a:lstStyle/>
          <a:p>
            <a:endParaRPr lang="es-ES" noProof="0" dirty="0"/>
          </a:p>
        </p:txBody>
      </p:sp>
      <p:sp>
        <p:nvSpPr>
          <p:cNvPr id="38" name="Text 32"/>
          <p:cNvSpPr txBox="1"/>
          <p:nvPr/>
        </p:nvSpPr>
        <p:spPr>
          <a:xfrm>
            <a:off x="4526280" y="5440680"/>
            <a:ext cx="3200400" cy="301752"/>
          </a:xfrm>
          <a:prstGeom prst="rect">
            <a:avLst/>
          </a:prstGeom>
          <a:noFill/>
          <a:ln/>
        </p:spPr>
        <p:txBody>
          <a:bodyPr wrap="square" lIns="0" tIns="0" rIns="0" bIns="0" rtlCol="0" anchor="t"/>
          <a:lstStyle/>
          <a:p>
            <a:pPr marL="0" indent="0">
              <a:buNone/>
            </a:pPr>
            <a:r>
              <a:rPr lang="es-ES" sz="1500" b="1" noProof="0" dirty="0" err="1">
                <a:solidFill>
                  <a:srgbClr val="5B34B0"/>
                </a:solidFill>
                <a:latin typeface="Consolas" pitchFamily="34" charset="0"/>
                <a:ea typeface="Consolas" pitchFamily="34" charset="-122"/>
                <a:cs typeface="Consolas" pitchFamily="34" charset="-120"/>
              </a:rPr>
              <a:t>squad</a:t>
            </a:r>
            <a:r>
              <a:rPr lang="es-ES" sz="1500" b="1" noProof="0" dirty="0">
                <a:solidFill>
                  <a:srgbClr val="5B34B0"/>
                </a:solidFill>
                <a:latin typeface="Consolas" pitchFamily="34" charset="0"/>
                <a:ea typeface="Consolas" pitchFamily="34" charset="-122"/>
                <a:cs typeface="Consolas" pitchFamily="34" charset="-120"/>
              </a:rPr>
              <a:t> </a:t>
            </a:r>
            <a:r>
              <a:rPr lang="es-ES" sz="1500" b="1" noProof="0" dirty="0" err="1">
                <a:solidFill>
                  <a:srgbClr val="5B34B0"/>
                </a:solidFill>
                <a:latin typeface="Consolas" pitchFamily="34" charset="0"/>
                <a:ea typeface="Consolas" pitchFamily="34" charset="-122"/>
                <a:cs typeface="Consolas" pitchFamily="34" charset="-120"/>
              </a:rPr>
              <a:t>upgrade</a:t>
            </a:r>
            <a:endParaRPr lang="es-ES" sz="1500" noProof="0" dirty="0"/>
          </a:p>
        </p:txBody>
      </p:sp>
      <p:sp>
        <p:nvSpPr>
          <p:cNvPr id="39" name="Text 33"/>
          <p:cNvSpPr txBox="1"/>
          <p:nvPr/>
        </p:nvSpPr>
        <p:spPr>
          <a:xfrm>
            <a:off x="4526280" y="5760720"/>
            <a:ext cx="3200400" cy="2743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actualiza sin tocar el equipo</a:t>
            </a:r>
            <a:endParaRPr lang="es-ES" sz="1300" noProof="0" dirty="0"/>
          </a:p>
        </p:txBody>
      </p:sp>
      <p:sp>
        <p:nvSpPr>
          <p:cNvPr id="32" name="Arrow: Down 31">
            <a:extLst>
              <a:ext uri="{FF2B5EF4-FFF2-40B4-BE49-F238E27FC236}">
                <a16:creationId xmlns:a16="http://schemas.microsoft.com/office/drawing/2014/main" id="{072F2671-400F-5920-2349-F466EC1DE717}"/>
              </a:ext>
            </a:extLst>
          </p:cNvPr>
          <p:cNvSpPr/>
          <p:nvPr/>
        </p:nvSpPr>
        <p:spPr>
          <a:xfrm rot="5400000">
            <a:off x="8032509" y="4599927"/>
            <a:ext cx="234779" cy="389238"/>
          </a:xfrm>
          <a:prstGeom prst="downArrow">
            <a:avLst/>
          </a:prstGeom>
          <a:solidFill>
            <a:schemeClr val="accent2">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dirty="0"/>
          </a:p>
        </p:txBody>
      </p:sp>
      <p:sp>
        <p:nvSpPr>
          <p:cNvPr id="33" name="TextBox 32">
            <a:extLst>
              <a:ext uri="{FF2B5EF4-FFF2-40B4-BE49-F238E27FC236}">
                <a16:creationId xmlns:a16="http://schemas.microsoft.com/office/drawing/2014/main" id="{45392DA6-62D1-F78E-C08E-9EF3F48D1734}"/>
              </a:ext>
            </a:extLst>
          </p:cNvPr>
          <p:cNvSpPr txBox="1"/>
          <p:nvPr/>
        </p:nvSpPr>
        <p:spPr>
          <a:xfrm>
            <a:off x="8429631" y="4346406"/>
            <a:ext cx="3489319" cy="954107"/>
          </a:xfrm>
          <a:prstGeom prst="rect">
            <a:avLst/>
          </a:prstGeom>
          <a:noFill/>
        </p:spPr>
        <p:txBody>
          <a:bodyPr wrap="square" rtlCol="0">
            <a:spAutoFit/>
          </a:bodyPr>
          <a:lstStyle/>
          <a:p>
            <a:r>
              <a:rPr lang="es-ES" sz="1400" noProof="0" dirty="0"/>
              <a:t>Lamentablemente, en la versión actual de Squads, este comando no está funcionando del todo bien, así que se “contrata” al Squad con un prompt desde GitHub Copilot.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10A38A"/>
                </a:solidFill>
                <a:latin typeface="Calibri" pitchFamily="34" charset="0"/>
                <a:ea typeface="Calibri" pitchFamily="34" charset="-122"/>
                <a:cs typeface="Calibri" pitchFamily="34" charset="-120"/>
              </a:rPr>
              <a:t>LA DEMO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FFFFFF"/>
                </a:solidFill>
                <a:latin typeface="Calibri" pitchFamily="34" charset="0"/>
                <a:ea typeface="Calibri" pitchFamily="34" charset="-122"/>
                <a:cs typeface="Calibri" pitchFamily="34" charset="-120"/>
              </a:rPr>
              <a:t>La ruta de cada token</a:t>
            </a:r>
            <a:endParaRPr lang="es-ES" sz="3200" noProof="0" dirty="0"/>
          </a:p>
        </p:txBody>
      </p:sp>
      <p:sp>
        <p:nvSpPr>
          <p:cNvPr id="4" name="Text 2"/>
          <p:cNvSpPr txBox="1"/>
          <p:nvPr/>
        </p:nvSpPr>
        <p:spPr>
          <a:xfrm>
            <a:off x="548640" y="1325880"/>
            <a:ext cx="11064240" cy="365760"/>
          </a:xfrm>
          <a:prstGeom prst="rect">
            <a:avLst/>
          </a:prstGeom>
          <a:noFill/>
          <a:ln/>
        </p:spPr>
        <p:txBody>
          <a:bodyPr wrap="square" lIns="0" tIns="0" rIns="0" bIns="0" rtlCol="0" anchor="t"/>
          <a:lstStyle/>
          <a:p>
            <a:pPr marL="0" indent="0">
              <a:buNone/>
            </a:pPr>
            <a:r>
              <a:rPr lang="es-ES" sz="1600" noProof="0" dirty="0">
                <a:solidFill>
                  <a:srgbClr val="A3ACBA"/>
                </a:solidFill>
                <a:latin typeface="Calibri" pitchFamily="34" charset="0"/>
                <a:ea typeface="Calibri" pitchFamily="34" charset="-122"/>
                <a:cs typeface="Calibri" pitchFamily="34" charset="-120"/>
              </a:rPr>
              <a:t>Squad construye un Tetris de terminal en .NET 10 y C#, y la documentación de arquitectura correspondiente. </a:t>
            </a:r>
            <a:br>
              <a:rPr lang="es-ES" sz="1600" noProof="0" dirty="0">
                <a:solidFill>
                  <a:srgbClr val="A3ACBA"/>
                </a:solidFill>
                <a:latin typeface="Calibri" pitchFamily="34" charset="0"/>
                <a:ea typeface="Calibri" pitchFamily="34" charset="-122"/>
                <a:cs typeface="Calibri" pitchFamily="34" charset="-120"/>
              </a:rPr>
            </a:br>
            <a:r>
              <a:rPr lang="es-ES" sz="1600" noProof="0" dirty="0">
                <a:solidFill>
                  <a:srgbClr val="A3ACBA"/>
                </a:solidFill>
                <a:latin typeface="Calibri" pitchFamily="34" charset="0"/>
                <a:ea typeface="Calibri" pitchFamily="34" charset="-122"/>
                <a:cs typeface="Calibri" pitchFamily="34" charset="-120"/>
              </a:rPr>
              <a:t>Cada llamada al modelo cruza nuestro API Gateway.</a:t>
            </a:r>
            <a:endParaRPr lang="es-ES" sz="1600" noProof="0" dirty="0"/>
          </a:p>
        </p:txBody>
      </p:sp>
      <p:sp>
        <p:nvSpPr>
          <p:cNvPr id="5" name="Shape 3"/>
          <p:cNvSpPr/>
          <p:nvPr/>
        </p:nvSpPr>
        <p:spPr>
          <a:xfrm>
            <a:off x="548640" y="2286000"/>
            <a:ext cx="2103120" cy="1737360"/>
          </a:xfrm>
          <a:prstGeom prst="roundRect">
            <a:avLst>
              <a:gd name="adj" fmla="val 7368"/>
            </a:avLst>
          </a:prstGeom>
          <a:solidFill>
            <a:srgbClr val="1F2738"/>
          </a:solidFill>
          <a:ln w="12700">
            <a:solidFill>
              <a:srgbClr val="1F2738"/>
            </a:solidFill>
            <a:prstDash val="solid"/>
          </a:ln>
        </p:spPr>
        <p:txBody>
          <a:bodyPr/>
          <a:lstStyle/>
          <a:p>
            <a:endParaRPr lang="es-ES" noProof="0" dirty="0"/>
          </a:p>
        </p:txBody>
      </p:sp>
      <p:sp>
        <p:nvSpPr>
          <p:cNvPr id="6" name="Shape 4"/>
          <p:cNvSpPr/>
          <p:nvPr/>
        </p:nvSpPr>
        <p:spPr>
          <a:xfrm>
            <a:off x="777240" y="2496312"/>
            <a:ext cx="621792" cy="621792"/>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7" name="Image 0" descr="preencoded.png"/>
          <p:cNvPicPr>
            <a:picLocks noChangeAspect="1"/>
          </p:cNvPicPr>
          <p:nvPr/>
        </p:nvPicPr>
        <p:blipFill>
          <a:blip r:embed="rId3"/>
          <a:stretch>
            <a:fillRect/>
          </a:stretch>
        </p:blipFill>
        <p:spPr>
          <a:xfrm>
            <a:off x="920252" y="2639324"/>
            <a:ext cx="335768" cy="335768"/>
          </a:xfrm>
          <a:prstGeom prst="rect">
            <a:avLst/>
          </a:prstGeom>
        </p:spPr>
      </p:pic>
      <p:sp>
        <p:nvSpPr>
          <p:cNvPr id="8" name="Text 5"/>
          <p:cNvSpPr txBox="1"/>
          <p:nvPr/>
        </p:nvSpPr>
        <p:spPr>
          <a:xfrm>
            <a:off x="777240" y="3246120"/>
            <a:ext cx="1737360" cy="320040"/>
          </a:xfrm>
          <a:prstGeom prst="rect">
            <a:avLst/>
          </a:prstGeom>
          <a:noFill/>
          <a:ln/>
        </p:spPr>
        <p:txBody>
          <a:bodyPr wrap="square" lIns="0" tIns="0" rIns="0" bIns="0" rtlCol="0" anchor="t"/>
          <a:lstStyle/>
          <a:p>
            <a:pPr marL="0" indent="0">
              <a:buNone/>
            </a:pPr>
            <a:r>
              <a:rPr lang="es-ES" sz="1600" b="1" noProof="0" dirty="0">
                <a:solidFill>
                  <a:srgbClr val="FFFFFF"/>
                </a:solidFill>
                <a:latin typeface="Calibri" pitchFamily="34" charset="0"/>
                <a:ea typeface="Calibri" pitchFamily="34" charset="-122"/>
                <a:cs typeface="Calibri" pitchFamily="34" charset="-120"/>
              </a:rPr>
              <a:t>Squad</a:t>
            </a:r>
            <a:endParaRPr lang="es-ES" sz="1600" noProof="0" dirty="0"/>
          </a:p>
        </p:txBody>
      </p:sp>
      <p:sp>
        <p:nvSpPr>
          <p:cNvPr id="9" name="Text 6"/>
          <p:cNvSpPr txBox="1"/>
          <p:nvPr/>
        </p:nvSpPr>
        <p:spPr>
          <a:xfrm>
            <a:off x="777240" y="3566160"/>
            <a:ext cx="1737360" cy="274320"/>
          </a:xfrm>
          <a:prstGeom prst="rect">
            <a:avLst/>
          </a:prstGeom>
          <a:noFill/>
          <a:ln/>
        </p:spPr>
        <p:txBody>
          <a:bodyPr wrap="square" lIns="0" tIns="0" rIns="0" bIns="0" rtlCol="0" anchor="t"/>
          <a:lstStyle/>
          <a:p>
            <a:pPr marL="0" indent="0">
              <a:buNone/>
            </a:pPr>
            <a:r>
              <a:rPr lang="es-ES" sz="1250" noProof="0" dirty="0">
                <a:solidFill>
                  <a:srgbClr val="A3ACBA"/>
                </a:solidFill>
                <a:latin typeface="Calibri" pitchFamily="34" charset="0"/>
                <a:ea typeface="Calibri" pitchFamily="34" charset="-122"/>
                <a:cs typeface="Calibri" pitchFamily="34" charset="-120"/>
              </a:rPr>
              <a:t>9 agentes, 3 modelos</a:t>
            </a:r>
            <a:endParaRPr lang="es-ES" sz="1250" noProof="0" dirty="0"/>
          </a:p>
        </p:txBody>
      </p:sp>
      <p:sp>
        <p:nvSpPr>
          <p:cNvPr id="10" name="Shape 7"/>
          <p:cNvSpPr/>
          <p:nvPr/>
        </p:nvSpPr>
        <p:spPr>
          <a:xfrm>
            <a:off x="3063240" y="2286000"/>
            <a:ext cx="2286000" cy="1737360"/>
          </a:xfrm>
          <a:prstGeom prst="roundRect">
            <a:avLst>
              <a:gd name="adj" fmla="val 7368"/>
            </a:avLst>
          </a:prstGeom>
          <a:solidFill>
            <a:srgbClr val="1F2738"/>
          </a:solidFill>
          <a:ln w="12700">
            <a:solidFill>
              <a:srgbClr val="1F2738"/>
            </a:solidFill>
            <a:prstDash val="solid"/>
          </a:ln>
        </p:spPr>
        <p:txBody>
          <a:bodyPr/>
          <a:lstStyle/>
          <a:p>
            <a:endParaRPr lang="es-ES" noProof="0" dirty="0"/>
          </a:p>
        </p:txBody>
      </p:sp>
      <p:sp>
        <p:nvSpPr>
          <p:cNvPr id="11" name="Shape 8"/>
          <p:cNvSpPr/>
          <p:nvPr/>
        </p:nvSpPr>
        <p:spPr>
          <a:xfrm>
            <a:off x="3291840" y="2496312"/>
            <a:ext cx="621792" cy="621792"/>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2" name="Image 1" descr="preencoded.png"/>
          <p:cNvPicPr>
            <a:picLocks noChangeAspect="1"/>
          </p:cNvPicPr>
          <p:nvPr/>
        </p:nvPicPr>
        <p:blipFill>
          <a:blip r:embed="rId4"/>
          <a:stretch>
            <a:fillRect/>
          </a:stretch>
        </p:blipFill>
        <p:spPr>
          <a:xfrm>
            <a:off x="3434852" y="2639324"/>
            <a:ext cx="335768" cy="335768"/>
          </a:xfrm>
          <a:prstGeom prst="rect">
            <a:avLst/>
          </a:prstGeom>
        </p:spPr>
      </p:pic>
      <p:sp>
        <p:nvSpPr>
          <p:cNvPr id="13" name="Text 9"/>
          <p:cNvSpPr txBox="1"/>
          <p:nvPr/>
        </p:nvSpPr>
        <p:spPr>
          <a:xfrm>
            <a:off x="3291840" y="3246120"/>
            <a:ext cx="1920240" cy="320040"/>
          </a:xfrm>
          <a:prstGeom prst="rect">
            <a:avLst/>
          </a:prstGeom>
          <a:noFill/>
          <a:ln/>
        </p:spPr>
        <p:txBody>
          <a:bodyPr wrap="square" lIns="0" tIns="0" rIns="0" bIns="0" rtlCol="0" anchor="t"/>
          <a:lstStyle/>
          <a:p>
            <a:pPr marL="0" indent="0">
              <a:buNone/>
            </a:pPr>
            <a:r>
              <a:rPr lang="es-ES" sz="1600" b="1" noProof="0" dirty="0">
                <a:solidFill>
                  <a:srgbClr val="FFFFFF"/>
                </a:solidFill>
                <a:latin typeface="Calibri" pitchFamily="34" charset="0"/>
                <a:ea typeface="Calibri" pitchFamily="34" charset="-122"/>
                <a:cs typeface="Calibri" pitchFamily="34" charset="-120"/>
              </a:rPr>
              <a:t>GitHub Copilot CLI</a:t>
            </a:r>
            <a:endParaRPr lang="es-ES" sz="1600" noProof="0" dirty="0"/>
          </a:p>
        </p:txBody>
      </p:sp>
      <p:sp>
        <p:nvSpPr>
          <p:cNvPr id="14" name="Text 10"/>
          <p:cNvSpPr txBox="1"/>
          <p:nvPr/>
        </p:nvSpPr>
        <p:spPr>
          <a:xfrm>
            <a:off x="3291840" y="3566160"/>
            <a:ext cx="1920240" cy="274320"/>
          </a:xfrm>
          <a:prstGeom prst="rect">
            <a:avLst/>
          </a:prstGeom>
          <a:noFill/>
          <a:ln/>
        </p:spPr>
        <p:txBody>
          <a:bodyPr wrap="square" lIns="0" tIns="0" rIns="0" bIns="0" rtlCol="0" anchor="t"/>
          <a:lstStyle/>
          <a:p>
            <a:pPr marL="0" indent="0">
              <a:buNone/>
            </a:pPr>
            <a:r>
              <a:rPr lang="es-ES" sz="1250" noProof="0" dirty="0">
                <a:solidFill>
                  <a:srgbClr val="A3ACBA"/>
                </a:solidFill>
                <a:latin typeface="Calibri" pitchFamily="34" charset="0"/>
                <a:ea typeface="Calibri" pitchFamily="34" charset="-122"/>
                <a:cs typeface="Calibri" pitchFamily="34" charset="-120"/>
              </a:rPr>
              <a:t>BYOK · Responses API</a:t>
            </a:r>
            <a:endParaRPr lang="es-ES" sz="1250" noProof="0" dirty="0"/>
          </a:p>
        </p:txBody>
      </p:sp>
      <p:sp>
        <p:nvSpPr>
          <p:cNvPr id="15" name="Shape 11"/>
          <p:cNvSpPr/>
          <p:nvPr/>
        </p:nvSpPr>
        <p:spPr>
          <a:xfrm>
            <a:off x="5760720" y="2286000"/>
            <a:ext cx="2423160" cy="1737360"/>
          </a:xfrm>
          <a:prstGeom prst="roundRect">
            <a:avLst>
              <a:gd name="adj" fmla="val 7368"/>
            </a:avLst>
          </a:prstGeom>
          <a:solidFill>
            <a:srgbClr val="1F2738"/>
          </a:solidFill>
          <a:ln w="12700">
            <a:solidFill>
              <a:srgbClr val="1F2738"/>
            </a:solidFill>
            <a:prstDash val="solid"/>
          </a:ln>
        </p:spPr>
        <p:txBody>
          <a:bodyPr/>
          <a:lstStyle/>
          <a:p>
            <a:endParaRPr lang="es-ES" noProof="0" dirty="0"/>
          </a:p>
        </p:txBody>
      </p:sp>
      <p:sp>
        <p:nvSpPr>
          <p:cNvPr id="16" name="Shape 12"/>
          <p:cNvSpPr/>
          <p:nvPr/>
        </p:nvSpPr>
        <p:spPr>
          <a:xfrm>
            <a:off x="5989320" y="2496312"/>
            <a:ext cx="621792" cy="621792"/>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17" name="Image 2" descr="preencoded.png"/>
          <p:cNvPicPr>
            <a:picLocks noChangeAspect="1"/>
          </p:cNvPicPr>
          <p:nvPr/>
        </p:nvPicPr>
        <p:blipFill>
          <a:blip r:embed="rId5"/>
          <a:stretch>
            <a:fillRect/>
          </a:stretch>
        </p:blipFill>
        <p:spPr>
          <a:xfrm>
            <a:off x="6132332" y="2639324"/>
            <a:ext cx="335768" cy="335768"/>
          </a:xfrm>
          <a:prstGeom prst="rect">
            <a:avLst/>
          </a:prstGeom>
        </p:spPr>
      </p:pic>
      <p:sp>
        <p:nvSpPr>
          <p:cNvPr id="18" name="Text 13"/>
          <p:cNvSpPr txBox="1"/>
          <p:nvPr/>
        </p:nvSpPr>
        <p:spPr>
          <a:xfrm>
            <a:off x="5989320" y="3246120"/>
            <a:ext cx="2057400" cy="320040"/>
          </a:xfrm>
          <a:prstGeom prst="rect">
            <a:avLst/>
          </a:prstGeom>
          <a:noFill/>
          <a:ln/>
        </p:spPr>
        <p:txBody>
          <a:bodyPr wrap="square" lIns="0" tIns="0" rIns="0" bIns="0" rtlCol="0" anchor="t"/>
          <a:lstStyle/>
          <a:p>
            <a:pPr marL="0" indent="0">
              <a:buNone/>
            </a:pPr>
            <a:r>
              <a:rPr lang="es-ES" sz="1600" b="1" noProof="0" dirty="0">
                <a:solidFill>
                  <a:srgbClr val="FFFFFF"/>
                </a:solidFill>
                <a:latin typeface="Calibri" pitchFamily="34" charset="0"/>
                <a:ea typeface="Calibri" pitchFamily="34" charset="-122"/>
                <a:cs typeface="Calibri" pitchFamily="34" charset="-120"/>
              </a:rPr>
              <a:t>Azure API Management</a:t>
            </a:r>
            <a:endParaRPr lang="es-ES" sz="1600" noProof="0" dirty="0"/>
          </a:p>
        </p:txBody>
      </p:sp>
      <p:sp>
        <p:nvSpPr>
          <p:cNvPr id="19" name="Text 14"/>
          <p:cNvSpPr txBox="1"/>
          <p:nvPr/>
        </p:nvSpPr>
        <p:spPr>
          <a:xfrm>
            <a:off x="5989320" y="3566160"/>
            <a:ext cx="2057400" cy="274320"/>
          </a:xfrm>
          <a:prstGeom prst="rect">
            <a:avLst/>
          </a:prstGeom>
          <a:noFill/>
          <a:ln/>
        </p:spPr>
        <p:txBody>
          <a:bodyPr wrap="square" lIns="0" tIns="0" rIns="0" bIns="0" rtlCol="0" anchor="t"/>
          <a:lstStyle/>
          <a:p>
            <a:pPr marL="0" indent="0">
              <a:buNone/>
            </a:pPr>
            <a:r>
              <a:rPr lang="es-ES" sz="1250" noProof="0" dirty="0">
                <a:solidFill>
                  <a:srgbClr val="A3ACBA"/>
                </a:solidFill>
                <a:latin typeface="Calibri" pitchFamily="34" charset="0"/>
                <a:ea typeface="Calibri" pitchFamily="34" charset="-122"/>
                <a:cs typeface="Calibri" pitchFamily="34" charset="-120"/>
              </a:rPr>
              <a:t>tokens · identidad · pool</a:t>
            </a:r>
            <a:endParaRPr lang="es-ES" sz="1250" noProof="0" dirty="0"/>
          </a:p>
        </p:txBody>
      </p:sp>
      <p:sp>
        <p:nvSpPr>
          <p:cNvPr id="20" name="Shape 15"/>
          <p:cNvSpPr/>
          <p:nvPr/>
        </p:nvSpPr>
        <p:spPr>
          <a:xfrm>
            <a:off x="2651760" y="3154680"/>
            <a:ext cx="411480" cy="0"/>
          </a:xfrm>
          <a:prstGeom prst="line">
            <a:avLst/>
          </a:prstGeom>
          <a:noFill/>
          <a:ln w="22225">
            <a:solidFill>
              <a:srgbClr val="A3ACBA"/>
            </a:solidFill>
            <a:prstDash val="solid"/>
            <a:tailEnd type="triangle"/>
          </a:ln>
        </p:spPr>
        <p:txBody>
          <a:bodyPr/>
          <a:lstStyle/>
          <a:p>
            <a:endParaRPr lang="es-ES" noProof="0" dirty="0"/>
          </a:p>
        </p:txBody>
      </p:sp>
      <p:sp>
        <p:nvSpPr>
          <p:cNvPr id="21" name="Shape 16"/>
          <p:cNvSpPr/>
          <p:nvPr/>
        </p:nvSpPr>
        <p:spPr>
          <a:xfrm>
            <a:off x="5349240" y="3154680"/>
            <a:ext cx="411480" cy="0"/>
          </a:xfrm>
          <a:prstGeom prst="line">
            <a:avLst/>
          </a:prstGeom>
          <a:noFill/>
          <a:ln w="22225">
            <a:solidFill>
              <a:srgbClr val="A3ACBA"/>
            </a:solidFill>
            <a:prstDash val="solid"/>
            <a:tailEnd type="triangle"/>
          </a:ln>
        </p:spPr>
        <p:txBody>
          <a:bodyPr/>
          <a:lstStyle/>
          <a:p>
            <a:endParaRPr lang="es-ES" noProof="0" dirty="0"/>
          </a:p>
        </p:txBody>
      </p:sp>
      <p:sp>
        <p:nvSpPr>
          <p:cNvPr id="22" name="Shape 17"/>
          <p:cNvSpPr/>
          <p:nvPr/>
        </p:nvSpPr>
        <p:spPr>
          <a:xfrm>
            <a:off x="8732520" y="2011680"/>
            <a:ext cx="2907792" cy="1097280"/>
          </a:xfrm>
          <a:prstGeom prst="roundRect">
            <a:avLst>
              <a:gd name="adj" fmla="val 11667"/>
            </a:avLst>
          </a:prstGeom>
          <a:solidFill>
            <a:srgbClr val="1F2738"/>
          </a:solidFill>
          <a:ln w="12700">
            <a:solidFill>
              <a:srgbClr val="1F2738"/>
            </a:solidFill>
            <a:prstDash val="solid"/>
          </a:ln>
        </p:spPr>
        <p:txBody>
          <a:bodyPr/>
          <a:lstStyle/>
          <a:p>
            <a:endParaRPr lang="es-ES" noProof="0" dirty="0"/>
          </a:p>
        </p:txBody>
      </p:sp>
      <p:sp>
        <p:nvSpPr>
          <p:cNvPr id="23" name="Shape 18"/>
          <p:cNvSpPr/>
          <p:nvPr/>
        </p:nvSpPr>
        <p:spPr>
          <a:xfrm>
            <a:off x="8915400" y="2258568"/>
            <a:ext cx="603504" cy="603504"/>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24" name="Image 3" descr="preencoded.png"/>
          <p:cNvPicPr>
            <a:picLocks noChangeAspect="1"/>
          </p:cNvPicPr>
          <p:nvPr/>
        </p:nvPicPr>
        <p:blipFill>
          <a:blip r:embed="rId6"/>
          <a:stretch>
            <a:fillRect/>
          </a:stretch>
        </p:blipFill>
        <p:spPr>
          <a:xfrm>
            <a:off x="9054206" y="2397374"/>
            <a:ext cx="325892" cy="325892"/>
          </a:xfrm>
          <a:prstGeom prst="rect">
            <a:avLst/>
          </a:prstGeom>
        </p:spPr>
      </p:pic>
      <p:sp>
        <p:nvSpPr>
          <p:cNvPr id="25" name="Text 19"/>
          <p:cNvSpPr txBox="1"/>
          <p:nvPr/>
        </p:nvSpPr>
        <p:spPr>
          <a:xfrm>
            <a:off x="9692640" y="2231136"/>
            <a:ext cx="1874520" cy="320040"/>
          </a:xfrm>
          <a:prstGeom prst="rect">
            <a:avLst/>
          </a:prstGeom>
          <a:noFill/>
          <a:ln/>
        </p:spPr>
        <p:txBody>
          <a:bodyPr wrap="square" lIns="0" tIns="0" rIns="0" bIns="0" rtlCol="0" anchor="t"/>
          <a:lstStyle/>
          <a:p>
            <a:pPr marL="0" indent="0">
              <a:buNone/>
            </a:pPr>
            <a:r>
              <a:rPr lang="es-ES" sz="1500" b="1" noProof="0" dirty="0" err="1">
                <a:solidFill>
                  <a:srgbClr val="FFFFFF"/>
                </a:solidFill>
                <a:latin typeface="Calibri" pitchFamily="34" charset="0"/>
                <a:ea typeface="Calibri" pitchFamily="34" charset="-122"/>
                <a:cs typeface="Calibri" pitchFamily="34" charset="-120"/>
              </a:rPr>
              <a:t>Foundry</a:t>
            </a:r>
            <a:r>
              <a:rPr lang="es-ES" sz="1500" b="1" noProof="0" dirty="0">
                <a:solidFill>
                  <a:srgbClr val="FFFFFF"/>
                </a:solidFill>
                <a:latin typeface="Calibri" pitchFamily="34" charset="0"/>
                <a:ea typeface="Calibri" pitchFamily="34" charset="-122"/>
                <a:cs typeface="Calibri" pitchFamily="34" charset="-120"/>
              </a:rPr>
              <a:t> primario</a:t>
            </a:r>
            <a:endParaRPr lang="es-ES" sz="1500" noProof="0" dirty="0"/>
          </a:p>
        </p:txBody>
      </p:sp>
      <p:sp>
        <p:nvSpPr>
          <p:cNvPr id="26" name="Text 20"/>
          <p:cNvSpPr txBox="1"/>
          <p:nvPr/>
        </p:nvSpPr>
        <p:spPr>
          <a:xfrm>
            <a:off x="9692640" y="2560320"/>
            <a:ext cx="1874520" cy="320040"/>
          </a:xfrm>
          <a:prstGeom prst="rect">
            <a:avLst/>
          </a:prstGeom>
          <a:noFill/>
          <a:ln/>
        </p:spPr>
        <p:txBody>
          <a:bodyPr wrap="square" lIns="0" tIns="0" rIns="0" bIns="0" rtlCol="0" anchor="t"/>
          <a:lstStyle/>
          <a:p>
            <a:pPr marL="0" indent="0">
              <a:buNone/>
            </a:pPr>
            <a:r>
              <a:rPr lang="es-ES" sz="1200" noProof="0" dirty="0" err="1">
                <a:solidFill>
                  <a:srgbClr val="A3ACBA"/>
                </a:solidFill>
                <a:latin typeface="Calibri" pitchFamily="34" charset="0"/>
                <a:ea typeface="Calibri" pitchFamily="34" charset="-122"/>
                <a:cs typeface="Calibri" pitchFamily="34" charset="-120"/>
              </a:rPr>
              <a:t>francecentral</a:t>
            </a:r>
            <a:endParaRPr lang="es-ES" sz="1200" noProof="0" dirty="0"/>
          </a:p>
        </p:txBody>
      </p:sp>
      <p:sp>
        <p:nvSpPr>
          <p:cNvPr id="27" name="Shape 21"/>
          <p:cNvSpPr/>
          <p:nvPr/>
        </p:nvSpPr>
        <p:spPr>
          <a:xfrm>
            <a:off x="8732520" y="3200400"/>
            <a:ext cx="2907792" cy="1097280"/>
          </a:xfrm>
          <a:prstGeom prst="roundRect">
            <a:avLst>
              <a:gd name="adj" fmla="val 11667"/>
            </a:avLst>
          </a:prstGeom>
          <a:solidFill>
            <a:srgbClr val="1F2738"/>
          </a:solidFill>
          <a:ln w="12700">
            <a:solidFill>
              <a:srgbClr val="1F2738"/>
            </a:solidFill>
            <a:prstDash val="solid"/>
          </a:ln>
        </p:spPr>
        <p:txBody>
          <a:bodyPr/>
          <a:lstStyle/>
          <a:p>
            <a:endParaRPr lang="es-ES" noProof="0" dirty="0"/>
          </a:p>
        </p:txBody>
      </p:sp>
      <p:sp>
        <p:nvSpPr>
          <p:cNvPr id="28" name="Shape 22"/>
          <p:cNvSpPr/>
          <p:nvPr/>
        </p:nvSpPr>
        <p:spPr>
          <a:xfrm>
            <a:off x="8915400" y="3447288"/>
            <a:ext cx="603504" cy="603504"/>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29" name="Image 4" descr="preencoded.png"/>
          <p:cNvPicPr>
            <a:picLocks noChangeAspect="1"/>
          </p:cNvPicPr>
          <p:nvPr/>
        </p:nvPicPr>
        <p:blipFill>
          <a:blip r:embed="rId6"/>
          <a:stretch>
            <a:fillRect/>
          </a:stretch>
        </p:blipFill>
        <p:spPr>
          <a:xfrm>
            <a:off x="9054206" y="3586094"/>
            <a:ext cx="325892" cy="325892"/>
          </a:xfrm>
          <a:prstGeom prst="rect">
            <a:avLst/>
          </a:prstGeom>
        </p:spPr>
      </p:pic>
      <p:sp>
        <p:nvSpPr>
          <p:cNvPr id="30" name="Text 23"/>
          <p:cNvSpPr txBox="1"/>
          <p:nvPr/>
        </p:nvSpPr>
        <p:spPr>
          <a:xfrm>
            <a:off x="9692640" y="3419856"/>
            <a:ext cx="1874520" cy="320040"/>
          </a:xfrm>
          <a:prstGeom prst="rect">
            <a:avLst/>
          </a:prstGeom>
          <a:noFill/>
          <a:ln/>
        </p:spPr>
        <p:txBody>
          <a:bodyPr wrap="square" lIns="0" tIns="0" rIns="0" bIns="0" rtlCol="0" anchor="t"/>
          <a:lstStyle/>
          <a:p>
            <a:pPr marL="0" indent="0">
              <a:buNone/>
            </a:pPr>
            <a:r>
              <a:rPr lang="es-ES" sz="1500" b="1" noProof="0" dirty="0" err="1">
                <a:solidFill>
                  <a:srgbClr val="FFFFFF"/>
                </a:solidFill>
                <a:latin typeface="Calibri" pitchFamily="34" charset="0"/>
                <a:ea typeface="Calibri" pitchFamily="34" charset="-122"/>
                <a:cs typeface="Calibri" pitchFamily="34" charset="-120"/>
              </a:rPr>
              <a:t>Foundry</a:t>
            </a:r>
            <a:r>
              <a:rPr lang="es-ES" sz="1500" b="1" noProof="0" dirty="0">
                <a:solidFill>
                  <a:srgbClr val="FFFFFF"/>
                </a:solidFill>
                <a:latin typeface="Calibri" pitchFamily="34" charset="0"/>
                <a:ea typeface="Calibri" pitchFamily="34" charset="-122"/>
                <a:cs typeface="Calibri" pitchFamily="34" charset="-120"/>
              </a:rPr>
              <a:t> secundario</a:t>
            </a:r>
            <a:endParaRPr lang="es-ES" sz="1500" noProof="0" dirty="0"/>
          </a:p>
        </p:txBody>
      </p:sp>
      <p:sp>
        <p:nvSpPr>
          <p:cNvPr id="31" name="Text 24"/>
          <p:cNvSpPr txBox="1"/>
          <p:nvPr/>
        </p:nvSpPr>
        <p:spPr>
          <a:xfrm>
            <a:off x="9692640" y="3749040"/>
            <a:ext cx="1874520" cy="320040"/>
          </a:xfrm>
          <a:prstGeom prst="rect">
            <a:avLst/>
          </a:prstGeom>
          <a:noFill/>
          <a:ln/>
        </p:spPr>
        <p:txBody>
          <a:bodyPr wrap="square" lIns="0" tIns="0" rIns="0" bIns="0" rtlCol="0" anchor="t"/>
          <a:lstStyle/>
          <a:p>
            <a:pPr marL="0" indent="0">
              <a:buNone/>
            </a:pPr>
            <a:r>
              <a:rPr lang="es-ES" sz="1200" noProof="0" dirty="0" err="1">
                <a:solidFill>
                  <a:srgbClr val="A3ACBA"/>
                </a:solidFill>
                <a:latin typeface="Calibri" pitchFamily="34" charset="0"/>
                <a:ea typeface="Calibri" pitchFamily="34" charset="-122"/>
                <a:cs typeface="Calibri" pitchFamily="34" charset="-120"/>
              </a:rPr>
              <a:t>switzerlandnorth</a:t>
            </a:r>
            <a:endParaRPr lang="es-ES" sz="1200" noProof="0" dirty="0"/>
          </a:p>
        </p:txBody>
      </p:sp>
      <p:sp>
        <p:nvSpPr>
          <p:cNvPr id="32" name="Shape 25"/>
          <p:cNvSpPr/>
          <p:nvPr/>
        </p:nvSpPr>
        <p:spPr>
          <a:xfrm flipV="1">
            <a:off x="8183880" y="2560320"/>
            <a:ext cx="548640" cy="594360"/>
          </a:xfrm>
          <a:prstGeom prst="line">
            <a:avLst/>
          </a:prstGeom>
          <a:noFill/>
          <a:ln w="22225">
            <a:solidFill>
              <a:srgbClr val="10A38A"/>
            </a:solidFill>
            <a:prstDash val="solid"/>
            <a:tailEnd type="triangle"/>
          </a:ln>
        </p:spPr>
        <p:txBody>
          <a:bodyPr/>
          <a:lstStyle/>
          <a:p>
            <a:endParaRPr lang="es-ES" noProof="0" dirty="0"/>
          </a:p>
        </p:txBody>
      </p:sp>
      <p:sp>
        <p:nvSpPr>
          <p:cNvPr id="33" name="Shape 26"/>
          <p:cNvSpPr/>
          <p:nvPr/>
        </p:nvSpPr>
        <p:spPr>
          <a:xfrm>
            <a:off x="8183880" y="3154680"/>
            <a:ext cx="548640" cy="594360"/>
          </a:xfrm>
          <a:prstGeom prst="line">
            <a:avLst/>
          </a:prstGeom>
          <a:noFill/>
          <a:ln w="22225">
            <a:solidFill>
              <a:srgbClr val="A3ACBA"/>
            </a:solidFill>
            <a:prstDash val="dash"/>
            <a:tailEnd type="triangle"/>
          </a:ln>
        </p:spPr>
        <p:txBody>
          <a:bodyPr/>
          <a:lstStyle/>
          <a:p>
            <a:endParaRPr lang="es-ES" noProof="0" dirty="0"/>
          </a:p>
        </p:txBody>
      </p:sp>
      <p:sp>
        <p:nvSpPr>
          <p:cNvPr id="34" name="Text 27"/>
          <p:cNvSpPr txBox="1"/>
          <p:nvPr/>
        </p:nvSpPr>
        <p:spPr>
          <a:xfrm>
            <a:off x="8732520" y="4434840"/>
            <a:ext cx="2907792" cy="876178"/>
          </a:xfrm>
          <a:prstGeom prst="rect">
            <a:avLst/>
          </a:prstGeom>
          <a:noFill/>
          <a:ln/>
        </p:spPr>
        <p:txBody>
          <a:bodyPr wrap="square" lIns="0" tIns="0" rIns="0" bIns="0" rtlCol="0" anchor="t"/>
          <a:lstStyle/>
          <a:p>
            <a:pPr marL="0" indent="0">
              <a:buNone/>
            </a:pPr>
            <a:r>
              <a:rPr lang="es-ES" sz="1200" noProof="0" dirty="0">
                <a:solidFill>
                  <a:srgbClr val="A3ACBA"/>
                </a:solidFill>
                <a:latin typeface="Calibri" pitchFamily="34" charset="0"/>
                <a:ea typeface="Calibri" pitchFamily="34" charset="-122"/>
                <a:cs typeface="Calibri" pitchFamily="34" charset="-120"/>
              </a:rPr>
              <a:t>Tres despliegues en cada región:</a:t>
            </a:r>
            <a:endParaRPr lang="es-ES" sz="1200" noProof="0" dirty="0"/>
          </a:p>
          <a:p>
            <a:pPr marL="355600" indent="-171450">
              <a:buFont typeface="Arial" panose="020B0604020202020204" pitchFamily="34" charset="0"/>
              <a:buChar char="•"/>
            </a:pPr>
            <a:r>
              <a:rPr lang="es-ES" sz="1200" noProof="0" dirty="0">
                <a:solidFill>
                  <a:srgbClr val="FFFFFF"/>
                </a:solidFill>
                <a:latin typeface="Consolas" pitchFamily="34" charset="0"/>
                <a:ea typeface="Consolas" pitchFamily="34" charset="-122"/>
                <a:cs typeface="Consolas" pitchFamily="34" charset="-120"/>
              </a:rPr>
              <a:t>gpt-5.6-sol </a:t>
            </a:r>
          </a:p>
          <a:p>
            <a:pPr marL="355600" indent="-171450">
              <a:buFont typeface="Arial" panose="020B0604020202020204" pitchFamily="34" charset="0"/>
              <a:buChar char="•"/>
            </a:pPr>
            <a:r>
              <a:rPr lang="es-ES" sz="1200" noProof="0" dirty="0">
                <a:solidFill>
                  <a:srgbClr val="FFFFFF"/>
                </a:solidFill>
                <a:latin typeface="Consolas" pitchFamily="34" charset="0"/>
                <a:ea typeface="Consolas" pitchFamily="34" charset="-122"/>
                <a:cs typeface="Consolas" pitchFamily="34" charset="-120"/>
              </a:rPr>
              <a:t>gpt-5.6-terra </a:t>
            </a:r>
          </a:p>
          <a:p>
            <a:pPr marL="355600" indent="-171450">
              <a:buFont typeface="Arial" panose="020B0604020202020204" pitchFamily="34" charset="0"/>
              <a:buChar char="•"/>
            </a:pPr>
            <a:r>
              <a:rPr lang="es-ES" sz="1200" noProof="0" dirty="0">
                <a:solidFill>
                  <a:srgbClr val="FFFFFF"/>
                </a:solidFill>
                <a:latin typeface="Consolas" pitchFamily="34" charset="0"/>
                <a:ea typeface="Consolas" pitchFamily="34" charset="-122"/>
                <a:cs typeface="Consolas" pitchFamily="34" charset="-120"/>
              </a:rPr>
              <a:t>gpt-5.6-luna</a:t>
            </a:r>
            <a:endParaRPr lang="es-ES" sz="1200" noProof="0" dirty="0"/>
          </a:p>
        </p:txBody>
      </p:sp>
      <p:sp>
        <p:nvSpPr>
          <p:cNvPr id="35" name="Shape 28"/>
          <p:cNvSpPr/>
          <p:nvPr/>
        </p:nvSpPr>
        <p:spPr>
          <a:xfrm>
            <a:off x="5760720" y="4617720"/>
            <a:ext cx="2423160" cy="1097280"/>
          </a:xfrm>
          <a:prstGeom prst="roundRect">
            <a:avLst>
              <a:gd name="adj" fmla="val 11667"/>
            </a:avLst>
          </a:prstGeom>
          <a:solidFill>
            <a:srgbClr val="1F2738"/>
          </a:solidFill>
          <a:ln w="12700">
            <a:solidFill>
              <a:srgbClr val="1F2738"/>
            </a:solidFill>
            <a:prstDash val="solid"/>
          </a:ln>
        </p:spPr>
        <p:txBody>
          <a:bodyPr/>
          <a:lstStyle/>
          <a:p>
            <a:endParaRPr lang="es-ES" noProof="0" dirty="0"/>
          </a:p>
        </p:txBody>
      </p:sp>
      <p:sp>
        <p:nvSpPr>
          <p:cNvPr id="36" name="Shape 29"/>
          <p:cNvSpPr/>
          <p:nvPr/>
        </p:nvSpPr>
        <p:spPr>
          <a:xfrm>
            <a:off x="5943600" y="4864608"/>
            <a:ext cx="603504" cy="603504"/>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37" name="Image 5" descr="preencoded.png"/>
          <p:cNvPicPr>
            <a:picLocks noChangeAspect="1"/>
          </p:cNvPicPr>
          <p:nvPr/>
        </p:nvPicPr>
        <p:blipFill>
          <a:blip r:embed="rId7"/>
          <a:stretch>
            <a:fillRect/>
          </a:stretch>
        </p:blipFill>
        <p:spPr>
          <a:xfrm>
            <a:off x="6082406" y="5003414"/>
            <a:ext cx="325892" cy="325892"/>
          </a:xfrm>
          <a:prstGeom prst="rect">
            <a:avLst/>
          </a:prstGeom>
        </p:spPr>
      </p:pic>
      <p:sp>
        <p:nvSpPr>
          <p:cNvPr id="38" name="Text 30"/>
          <p:cNvSpPr txBox="1"/>
          <p:nvPr/>
        </p:nvSpPr>
        <p:spPr>
          <a:xfrm>
            <a:off x="6720840" y="4837176"/>
            <a:ext cx="1417320" cy="320040"/>
          </a:xfrm>
          <a:prstGeom prst="rect">
            <a:avLst/>
          </a:prstGeom>
          <a:noFill/>
          <a:ln/>
        </p:spPr>
        <p:txBody>
          <a:bodyPr wrap="square" lIns="0" tIns="0" rIns="0" bIns="0" rtlCol="0" anchor="t"/>
          <a:lstStyle/>
          <a:p>
            <a:pPr marL="0" indent="0">
              <a:buNone/>
            </a:pPr>
            <a:r>
              <a:rPr lang="es-ES" sz="1500" b="1" noProof="0" dirty="0">
                <a:solidFill>
                  <a:srgbClr val="FFFFFF"/>
                </a:solidFill>
                <a:latin typeface="Calibri" pitchFamily="34" charset="0"/>
                <a:ea typeface="Calibri" pitchFamily="34" charset="-122"/>
                <a:cs typeface="Calibri" pitchFamily="34" charset="-120"/>
              </a:rPr>
              <a:t>App Insights</a:t>
            </a:r>
            <a:endParaRPr lang="es-ES" sz="1500" noProof="0" dirty="0"/>
          </a:p>
        </p:txBody>
      </p:sp>
      <p:sp>
        <p:nvSpPr>
          <p:cNvPr id="39" name="Text 31"/>
          <p:cNvSpPr txBox="1"/>
          <p:nvPr/>
        </p:nvSpPr>
        <p:spPr>
          <a:xfrm>
            <a:off x="6720840" y="5166360"/>
            <a:ext cx="1417320" cy="320040"/>
          </a:xfrm>
          <a:prstGeom prst="rect">
            <a:avLst/>
          </a:prstGeom>
          <a:noFill/>
          <a:ln/>
        </p:spPr>
        <p:txBody>
          <a:bodyPr wrap="square" lIns="0" tIns="0" rIns="0" bIns="0" rtlCol="0" anchor="t"/>
          <a:lstStyle/>
          <a:p>
            <a:pPr marL="0" indent="0">
              <a:buNone/>
            </a:pPr>
            <a:r>
              <a:rPr lang="es-ES" sz="1200" noProof="0" dirty="0">
                <a:solidFill>
                  <a:srgbClr val="A3ACBA"/>
                </a:solidFill>
                <a:latin typeface="Calibri" pitchFamily="34" charset="0"/>
                <a:ea typeface="Calibri" pitchFamily="34" charset="-122"/>
                <a:cs typeface="Calibri" pitchFamily="34" charset="-120"/>
              </a:rPr>
              <a:t>métricas de tokens</a:t>
            </a:r>
            <a:endParaRPr lang="es-ES" sz="1200" noProof="0" dirty="0"/>
          </a:p>
        </p:txBody>
      </p:sp>
      <p:sp>
        <p:nvSpPr>
          <p:cNvPr id="40" name="Shape 32"/>
          <p:cNvSpPr/>
          <p:nvPr/>
        </p:nvSpPr>
        <p:spPr>
          <a:xfrm>
            <a:off x="6972300" y="4023360"/>
            <a:ext cx="0" cy="594360"/>
          </a:xfrm>
          <a:prstGeom prst="line">
            <a:avLst/>
          </a:prstGeom>
          <a:noFill/>
          <a:ln w="22225">
            <a:solidFill>
              <a:srgbClr val="A3ACBA"/>
            </a:solidFill>
            <a:prstDash val="solid"/>
            <a:tailEnd type="triangle"/>
          </a:ln>
        </p:spPr>
        <p:txBody>
          <a:bodyPr/>
          <a:lstStyle/>
          <a:p>
            <a:endParaRPr lang="es-ES" noProof="0" dirty="0"/>
          </a:p>
        </p:txBody>
      </p:sp>
      <p:sp>
        <p:nvSpPr>
          <p:cNvPr id="43" name="Text 34"/>
          <p:cNvSpPr txBox="1"/>
          <p:nvPr/>
        </p:nvSpPr>
        <p:spPr>
          <a:xfrm>
            <a:off x="1371600" y="4828032"/>
            <a:ext cx="4023360" cy="731520"/>
          </a:xfrm>
          <a:prstGeom prst="rect">
            <a:avLst/>
          </a:prstGeom>
          <a:noFill/>
          <a:ln/>
        </p:spPr>
        <p:txBody>
          <a:bodyPr wrap="square" lIns="0" tIns="0" rIns="0" bIns="0" rtlCol="0" anchor="t"/>
          <a:lstStyle/>
          <a:p>
            <a:pPr marL="0" indent="0">
              <a:buNone/>
            </a:pPr>
            <a:r>
              <a:rPr lang="es-ES" sz="1400" b="1" noProof="0" dirty="0">
                <a:solidFill>
                  <a:srgbClr val="FFFFFF"/>
                </a:solidFill>
                <a:latin typeface="Calibri" pitchFamily="34" charset="0"/>
                <a:ea typeface="Calibri" pitchFamily="34" charset="-122"/>
                <a:cs typeface="Calibri" pitchFamily="34" charset="-120"/>
              </a:rPr>
              <a:t>Infraestructura como código. </a:t>
            </a:r>
            <a:r>
              <a:rPr lang="es-ES" sz="1400" noProof="0" dirty="0">
                <a:solidFill>
                  <a:srgbClr val="A3ACBA"/>
                </a:solidFill>
                <a:latin typeface="Calibri" pitchFamily="34" charset="0"/>
                <a:ea typeface="Calibri" pitchFamily="34" charset="-122"/>
                <a:cs typeface="Calibri" pitchFamily="34" charset="-120"/>
              </a:rPr>
              <a:t>Terraform en dos capas (backend → </a:t>
            </a:r>
            <a:r>
              <a:rPr lang="es-ES" sz="1400" noProof="0" dirty="0" err="1">
                <a:solidFill>
                  <a:srgbClr val="A3ACBA"/>
                </a:solidFill>
                <a:latin typeface="Calibri" pitchFamily="34" charset="0"/>
                <a:ea typeface="Calibri" pitchFamily="34" charset="-122"/>
                <a:cs typeface="Calibri" pitchFamily="34" charset="-120"/>
              </a:rPr>
              <a:t>resources</a:t>
            </a:r>
            <a:r>
              <a:rPr lang="es-ES" sz="1400" noProof="0" dirty="0">
                <a:solidFill>
                  <a:srgbClr val="A3ACBA"/>
                </a:solidFill>
                <a:latin typeface="Calibri" pitchFamily="34" charset="0"/>
                <a:ea typeface="Calibri" pitchFamily="34" charset="-122"/>
                <a:cs typeface="Calibri" pitchFamily="34" charset="-120"/>
              </a:rPr>
              <a:t>), aprovisionado con </a:t>
            </a:r>
            <a:r>
              <a:rPr lang="es-ES" sz="1400" noProof="0" dirty="0" err="1">
                <a:solidFill>
                  <a:srgbClr val="A3ACBA"/>
                </a:solidFill>
                <a:latin typeface="Calibri" pitchFamily="34" charset="0"/>
                <a:ea typeface="Calibri" pitchFamily="34" charset="-122"/>
                <a:cs typeface="Calibri" pitchFamily="34" charset="-120"/>
              </a:rPr>
              <a:t>azd</a:t>
            </a:r>
            <a:r>
              <a:rPr lang="es-ES" sz="1400" noProof="0" dirty="0">
                <a:solidFill>
                  <a:srgbClr val="A3ACBA"/>
                </a:solidFill>
                <a:latin typeface="Calibri" pitchFamily="34" charset="0"/>
                <a:ea typeface="Calibri" pitchFamily="34" charset="-122"/>
                <a:cs typeface="Calibri" pitchFamily="34" charset="-120"/>
              </a:rPr>
              <a:t> up.</a:t>
            </a:r>
            <a:endParaRPr lang="es-ES" sz="1400" noProof="0" dirty="0"/>
          </a:p>
        </p:txBody>
      </p:sp>
      <p:grpSp>
        <p:nvGrpSpPr>
          <p:cNvPr id="50" name="Group 49">
            <a:extLst>
              <a:ext uri="{FF2B5EF4-FFF2-40B4-BE49-F238E27FC236}">
                <a16:creationId xmlns:a16="http://schemas.microsoft.com/office/drawing/2014/main" id="{5E8DCF44-8E49-6FEF-DF92-4944E97E4B9B}"/>
              </a:ext>
            </a:extLst>
          </p:cNvPr>
          <p:cNvGrpSpPr/>
          <p:nvPr/>
        </p:nvGrpSpPr>
        <p:grpSpPr>
          <a:xfrm>
            <a:off x="672206" y="4747467"/>
            <a:ext cx="603504" cy="603504"/>
            <a:chOff x="672206" y="4747467"/>
            <a:chExt cx="603504" cy="603504"/>
          </a:xfrm>
        </p:grpSpPr>
        <p:sp>
          <p:nvSpPr>
            <p:cNvPr id="41" name="Shape 33"/>
            <p:cNvSpPr/>
            <p:nvPr/>
          </p:nvSpPr>
          <p:spPr>
            <a:xfrm>
              <a:off x="672206" y="4747467"/>
              <a:ext cx="603504" cy="603504"/>
            </a:xfrm>
            <a:prstGeom prst="roundRect">
              <a:avLst>
                <a:gd name="adj" fmla="val 20000"/>
              </a:avLst>
            </a:prstGeom>
            <a:solidFill>
              <a:srgbClr val="1F2738"/>
            </a:solidFill>
            <a:ln w="12700">
              <a:solidFill>
                <a:srgbClr val="1F2738"/>
              </a:solidFill>
              <a:prstDash val="solid"/>
            </a:ln>
          </p:spPr>
          <p:txBody>
            <a:bodyPr/>
            <a:lstStyle/>
            <a:p>
              <a:endParaRPr lang="es-ES" noProof="0" dirty="0"/>
            </a:p>
          </p:txBody>
        </p:sp>
        <p:pic>
          <p:nvPicPr>
            <p:cNvPr id="49" name="Graphic 48">
              <a:extLst>
                <a:ext uri="{FF2B5EF4-FFF2-40B4-BE49-F238E27FC236}">
                  <a16:creationId xmlns:a16="http://schemas.microsoft.com/office/drawing/2014/main" id="{3EC9D3FC-8001-8425-4203-0A1FAF6FC1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7870" y="4794382"/>
              <a:ext cx="534924" cy="534924"/>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LA DEMO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Nuestro </a:t>
            </a:r>
            <a:r>
              <a:rPr lang="es-ES" sz="3200" b="1" noProof="0" dirty="0" err="1">
                <a:solidFill>
                  <a:srgbClr val="1F2328"/>
                </a:solidFill>
                <a:latin typeface="Calibri" pitchFamily="34" charset="0"/>
                <a:ea typeface="Calibri" pitchFamily="34" charset="-122"/>
                <a:cs typeface="Calibri" pitchFamily="34" charset="-120"/>
              </a:rPr>
              <a:t>squad</a:t>
            </a:r>
            <a:r>
              <a:rPr lang="es-ES" sz="3200" b="1" noProof="0" dirty="0">
                <a:solidFill>
                  <a:srgbClr val="1F2328"/>
                </a:solidFill>
                <a:latin typeface="Calibri" pitchFamily="34" charset="0"/>
                <a:ea typeface="Calibri" pitchFamily="34" charset="-122"/>
                <a:cs typeface="Calibri" pitchFamily="34" charset="-120"/>
              </a:rPr>
              <a:t>: 9 agentes, 3 modelos</a:t>
            </a:r>
            <a:endParaRPr lang="es-ES" sz="3200" noProof="0" dirty="0"/>
          </a:p>
        </p:txBody>
      </p:sp>
      <p:sp>
        <p:nvSpPr>
          <p:cNvPr id="4" name="Shape 2"/>
          <p:cNvSpPr/>
          <p:nvPr/>
        </p:nvSpPr>
        <p:spPr>
          <a:xfrm>
            <a:off x="548640" y="1554480"/>
            <a:ext cx="6675120" cy="640080"/>
          </a:xfrm>
          <a:prstGeom prst="roundRect">
            <a:avLst>
              <a:gd name="adj" fmla="val 17143"/>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658368" y="1645920"/>
            <a:ext cx="457200" cy="45720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763524" y="1751076"/>
            <a:ext cx="246888" cy="246888"/>
          </a:xfrm>
          <a:prstGeom prst="rect">
            <a:avLst/>
          </a:prstGeom>
        </p:spPr>
      </p:pic>
      <p:sp>
        <p:nvSpPr>
          <p:cNvPr id="7" name="Text 4"/>
          <p:cNvSpPr txBox="1"/>
          <p:nvPr/>
        </p:nvSpPr>
        <p:spPr>
          <a:xfrm>
            <a:off x="1325880" y="1554480"/>
            <a:ext cx="1463040" cy="640080"/>
          </a:xfrm>
          <a:prstGeom prst="rect">
            <a:avLst/>
          </a:prstGeom>
          <a:noFill/>
          <a:ln/>
        </p:spPr>
        <p:txBody>
          <a:bodyPr wrap="square" lIns="0" tIns="0" rIns="0" bIns="0" rtlCol="0" anchor="ctr"/>
          <a:lstStyle/>
          <a:p>
            <a:pPr marL="0" indent="0">
              <a:buNone/>
            </a:pPr>
            <a:r>
              <a:rPr lang="es-ES" sz="1700" b="1" noProof="0" dirty="0" err="1">
                <a:solidFill>
                  <a:srgbClr val="1F2328"/>
                </a:solidFill>
                <a:latin typeface="Consolas" pitchFamily="34" charset="0"/>
                <a:ea typeface="Consolas" pitchFamily="34" charset="-122"/>
                <a:cs typeface="Consolas" pitchFamily="34" charset="-120"/>
              </a:rPr>
              <a:t>shuri</a:t>
            </a:r>
            <a:endParaRPr lang="es-ES" sz="1700" noProof="0" dirty="0"/>
          </a:p>
        </p:txBody>
      </p:sp>
      <p:sp>
        <p:nvSpPr>
          <p:cNvPr id="8" name="Text 5"/>
          <p:cNvSpPr txBox="1"/>
          <p:nvPr/>
        </p:nvSpPr>
        <p:spPr>
          <a:xfrm>
            <a:off x="2834640" y="1554480"/>
            <a:ext cx="2286000" cy="640080"/>
          </a:xfrm>
          <a:prstGeom prst="rect">
            <a:avLst/>
          </a:prstGeom>
          <a:noFill/>
          <a:ln/>
        </p:spPr>
        <p:txBody>
          <a:bodyPr wrap="square" lIns="0" tIns="0" rIns="0" bIns="0" rtlCol="0" anchor="ctr"/>
          <a:lstStyle/>
          <a:p>
            <a:pPr marL="0" indent="0">
              <a:buNone/>
            </a:pPr>
            <a:r>
              <a:rPr lang="es-ES" sz="1500" noProof="0" dirty="0">
                <a:solidFill>
                  <a:srgbClr val="5C6470"/>
                </a:solidFill>
                <a:latin typeface="Calibri" pitchFamily="34" charset="0"/>
                <a:ea typeface="Calibri" pitchFamily="34" charset="-122"/>
                <a:cs typeface="Calibri" pitchFamily="34" charset="-120"/>
              </a:rPr>
              <a:t>Lead</a:t>
            </a:r>
            <a:endParaRPr lang="es-ES" sz="1500" noProof="0" dirty="0"/>
          </a:p>
        </p:txBody>
      </p:sp>
      <p:sp>
        <p:nvSpPr>
          <p:cNvPr id="9" name="Shape 6"/>
          <p:cNvSpPr/>
          <p:nvPr/>
        </p:nvSpPr>
        <p:spPr>
          <a:xfrm>
            <a:off x="5257800" y="1691640"/>
            <a:ext cx="1783080" cy="365760"/>
          </a:xfrm>
          <a:prstGeom prst="roundRect">
            <a:avLst>
              <a:gd name="adj" fmla="val 50000"/>
            </a:avLst>
          </a:prstGeom>
          <a:solidFill>
            <a:srgbClr val="F2A900"/>
          </a:solidFill>
          <a:ln w="12700">
            <a:solidFill>
              <a:srgbClr val="F2A900"/>
            </a:solidFill>
            <a:prstDash val="solid"/>
          </a:ln>
        </p:spPr>
        <p:txBody>
          <a:bodyPr/>
          <a:lstStyle/>
          <a:p>
            <a:endParaRPr lang="es-ES" noProof="0" dirty="0"/>
          </a:p>
        </p:txBody>
      </p:sp>
      <p:sp>
        <p:nvSpPr>
          <p:cNvPr id="10" name="Text 7"/>
          <p:cNvSpPr txBox="1"/>
          <p:nvPr/>
        </p:nvSpPr>
        <p:spPr>
          <a:xfrm>
            <a:off x="5257800" y="1691640"/>
            <a:ext cx="1783080" cy="365760"/>
          </a:xfrm>
          <a:prstGeom prst="rect">
            <a:avLst/>
          </a:prstGeom>
          <a:noFill/>
          <a:ln/>
        </p:spPr>
        <p:txBody>
          <a:bodyPr wrap="square" lIns="0" tIns="0" rIns="0" bIns="0" rtlCol="0" anchor="ctr"/>
          <a:lstStyle/>
          <a:p>
            <a:pPr marL="0" indent="0" algn="ctr">
              <a:buNone/>
            </a:pPr>
            <a:r>
              <a:rPr lang="es-ES" sz="1200" b="1" noProof="0" dirty="0">
                <a:solidFill>
                  <a:srgbClr val="0E1116"/>
                </a:solidFill>
                <a:latin typeface="Consolas" pitchFamily="34" charset="0"/>
                <a:ea typeface="Consolas" pitchFamily="34" charset="-122"/>
                <a:cs typeface="Consolas" pitchFamily="34" charset="-120"/>
              </a:rPr>
              <a:t>gpt-5.6-sol</a:t>
            </a:r>
            <a:endParaRPr lang="es-ES" sz="1200" noProof="0" dirty="0"/>
          </a:p>
        </p:txBody>
      </p:sp>
      <p:sp>
        <p:nvSpPr>
          <p:cNvPr id="11" name="Shape 8"/>
          <p:cNvSpPr/>
          <p:nvPr/>
        </p:nvSpPr>
        <p:spPr>
          <a:xfrm>
            <a:off x="548640" y="2322576"/>
            <a:ext cx="6675120" cy="640080"/>
          </a:xfrm>
          <a:prstGeom prst="roundRect">
            <a:avLst>
              <a:gd name="adj" fmla="val 17143"/>
            </a:avLst>
          </a:prstGeom>
          <a:solidFill>
            <a:srgbClr val="F4F2FB"/>
          </a:solidFill>
          <a:ln w="12700">
            <a:solidFill>
              <a:srgbClr val="F4F2FB"/>
            </a:solidFill>
            <a:prstDash val="solid"/>
          </a:ln>
        </p:spPr>
        <p:txBody>
          <a:bodyPr/>
          <a:lstStyle/>
          <a:p>
            <a:endParaRPr lang="es-ES" noProof="0" dirty="0"/>
          </a:p>
        </p:txBody>
      </p:sp>
      <p:sp>
        <p:nvSpPr>
          <p:cNvPr id="12" name="Shape 9"/>
          <p:cNvSpPr/>
          <p:nvPr/>
        </p:nvSpPr>
        <p:spPr>
          <a:xfrm>
            <a:off x="658368" y="2414016"/>
            <a:ext cx="457200" cy="45720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3" name="Image 1" descr="preencoded.png"/>
          <p:cNvPicPr>
            <a:picLocks noChangeAspect="1"/>
          </p:cNvPicPr>
          <p:nvPr/>
        </p:nvPicPr>
        <p:blipFill>
          <a:blip r:embed="rId4"/>
          <a:stretch>
            <a:fillRect/>
          </a:stretch>
        </p:blipFill>
        <p:spPr>
          <a:xfrm>
            <a:off x="763524" y="2519172"/>
            <a:ext cx="246888" cy="246888"/>
          </a:xfrm>
          <a:prstGeom prst="rect">
            <a:avLst/>
          </a:prstGeom>
        </p:spPr>
      </p:pic>
      <p:sp>
        <p:nvSpPr>
          <p:cNvPr id="14" name="Text 10"/>
          <p:cNvSpPr txBox="1"/>
          <p:nvPr/>
        </p:nvSpPr>
        <p:spPr>
          <a:xfrm>
            <a:off x="1325880" y="2322576"/>
            <a:ext cx="1463040" cy="640080"/>
          </a:xfrm>
          <a:prstGeom prst="rect">
            <a:avLst/>
          </a:prstGeom>
          <a:noFill/>
          <a:ln/>
        </p:spPr>
        <p:txBody>
          <a:bodyPr wrap="square" lIns="0" tIns="0" rIns="0" bIns="0" rtlCol="0" anchor="ctr"/>
          <a:lstStyle/>
          <a:p>
            <a:pPr marL="0" indent="0">
              <a:buNone/>
            </a:pPr>
            <a:r>
              <a:rPr lang="es-ES" sz="1700" b="1" noProof="0" dirty="0">
                <a:solidFill>
                  <a:srgbClr val="1F2328"/>
                </a:solidFill>
                <a:latin typeface="Consolas" pitchFamily="34" charset="0"/>
                <a:ea typeface="Consolas" pitchFamily="34" charset="-122"/>
                <a:cs typeface="Consolas" pitchFamily="34" charset="-120"/>
              </a:rPr>
              <a:t>arcade</a:t>
            </a:r>
            <a:endParaRPr lang="es-ES" sz="1700" noProof="0" dirty="0"/>
          </a:p>
        </p:txBody>
      </p:sp>
      <p:sp>
        <p:nvSpPr>
          <p:cNvPr id="15" name="Text 11"/>
          <p:cNvSpPr txBox="1"/>
          <p:nvPr/>
        </p:nvSpPr>
        <p:spPr>
          <a:xfrm>
            <a:off x="2834640" y="2322576"/>
            <a:ext cx="2286000" cy="640080"/>
          </a:xfrm>
          <a:prstGeom prst="rect">
            <a:avLst/>
          </a:prstGeom>
          <a:noFill/>
          <a:ln/>
        </p:spPr>
        <p:txBody>
          <a:bodyPr wrap="square" lIns="0" tIns="0" rIns="0" bIns="0" rtlCol="0" anchor="ctr"/>
          <a:lstStyle/>
          <a:p>
            <a:pPr marL="0" indent="0">
              <a:buNone/>
            </a:pPr>
            <a:r>
              <a:rPr lang="es-ES" sz="1500" noProof="0" dirty="0" err="1">
                <a:solidFill>
                  <a:srgbClr val="5C6470"/>
                </a:solidFill>
                <a:latin typeface="Calibri" pitchFamily="34" charset="0"/>
                <a:ea typeface="Calibri" pitchFamily="34" charset="-122"/>
                <a:cs typeface="Calibri" pitchFamily="34" charset="-120"/>
              </a:rPr>
              <a:t>Game</a:t>
            </a:r>
            <a:r>
              <a:rPr lang="es-ES" sz="1500" noProof="0" dirty="0">
                <a:solidFill>
                  <a:srgbClr val="5C6470"/>
                </a:solidFill>
                <a:latin typeface="Calibri" pitchFamily="34" charset="0"/>
                <a:ea typeface="Calibri" pitchFamily="34" charset="-122"/>
                <a:cs typeface="Calibri" pitchFamily="34" charset="-120"/>
              </a:rPr>
              <a:t> </a:t>
            </a:r>
            <a:r>
              <a:rPr lang="es-ES" sz="1500" noProof="0" dirty="0" err="1">
                <a:solidFill>
                  <a:srgbClr val="5C6470"/>
                </a:solidFill>
                <a:latin typeface="Calibri" pitchFamily="34" charset="0"/>
                <a:ea typeface="Calibri" pitchFamily="34" charset="-122"/>
                <a:cs typeface="Calibri" pitchFamily="34" charset="-120"/>
              </a:rPr>
              <a:t>Developer</a:t>
            </a:r>
            <a:endParaRPr lang="es-ES" sz="1500" noProof="0" dirty="0"/>
          </a:p>
        </p:txBody>
      </p:sp>
      <p:sp>
        <p:nvSpPr>
          <p:cNvPr id="16" name="Shape 12"/>
          <p:cNvSpPr/>
          <p:nvPr/>
        </p:nvSpPr>
        <p:spPr>
          <a:xfrm>
            <a:off x="5257800" y="2459736"/>
            <a:ext cx="1783080" cy="365760"/>
          </a:xfrm>
          <a:prstGeom prst="roundRect">
            <a:avLst>
              <a:gd name="adj" fmla="val 50000"/>
            </a:avLst>
          </a:prstGeom>
          <a:solidFill>
            <a:srgbClr val="10A38A"/>
          </a:solidFill>
          <a:ln w="12700">
            <a:solidFill>
              <a:srgbClr val="10A38A"/>
            </a:solidFill>
            <a:prstDash val="solid"/>
          </a:ln>
        </p:spPr>
        <p:txBody>
          <a:bodyPr/>
          <a:lstStyle/>
          <a:p>
            <a:endParaRPr lang="es-ES" noProof="0" dirty="0"/>
          </a:p>
        </p:txBody>
      </p:sp>
      <p:sp>
        <p:nvSpPr>
          <p:cNvPr id="17" name="Text 13"/>
          <p:cNvSpPr txBox="1"/>
          <p:nvPr/>
        </p:nvSpPr>
        <p:spPr>
          <a:xfrm>
            <a:off x="5257800" y="2459736"/>
            <a:ext cx="1783080" cy="365760"/>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gpt-5.6-terra</a:t>
            </a:r>
            <a:endParaRPr lang="es-ES" sz="1200" noProof="0" dirty="0"/>
          </a:p>
        </p:txBody>
      </p:sp>
      <p:sp>
        <p:nvSpPr>
          <p:cNvPr id="18" name="Shape 14"/>
          <p:cNvSpPr/>
          <p:nvPr/>
        </p:nvSpPr>
        <p:spPr>
          <a:xfrm>
            <a:off x="548640" y="3090672"/>
            <a:ext cx="6675120" cy="640080"/>
          </a:xfrm>
          <a:prstGeom prst="roundRect">
            <a:avLst>
              <a:gd name="adj" fmla="val 17143"/>
            </a:avLst>
          </a:prstGeom>
          <a:solidFill>
            <a:srgbClr val="F4F2FB"/>
          </a:solidFill>
          <a:ln w="12700">
            <a:solidFill>
              <a:srgbClr val="F4F2FB"/>
            </a:solidFill>
            <a:prstDash val="solid"/>
          </a:ln>
        </p:spPr>
        <p:txBody>
          <a:bodyPr/>
          <a:lstStyle/>
          <a:p>
            <a:endParaRPr lang="es-ES" noProof="0" dirty="0"/>
          </a:p>
        </p:txBody>
      </p:sp>
      <p:sp>
        <p:nvSpPr>
          <p:cNvPr id="19" name="Shape 15"/>
          <p:cNvSpPr/>
          <p:nvPr/>
        </p:nvSpPr>
        <p:spPr>
          <a:xfrm>
            <a:off x="658368" y="3182112"/>
            <a:ext cx="457200" cy="45720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20" name="Image 2" descr="preencoded.png"/>
          <p:cNvPicPr>
            <a:picLocks noChangeAspect="1"/>
          </p:cNvPicPr>
          <p:nvPr/>
        </p:nvPicPr>
        <p:blipFill>
          <a:blip r:embed="rId5"/>
          <a:stretch>
            <a:fillRect/>
          </a:stretch>
        </p:blipFill>
        <p:spPr>
          <a:xfrm>
            <a:off x="763524" y="3287268"/>
            <a:ext cx="246888" cy="246888"/>
          </a:xfrm>
          <a:prstGeom prst="rect">
            <a:avLst/>
          </a:prstGeom>
        </p:spPr>
      </p:pic>
      <p:sp>
        <p:nvSpPr>
          <p:cNvPr id="21" name="Text 16"/>
          <p:cNvSpPr txBox="1"/>
          <p:nvPr/>
        </p:nvSpPr>
        <p:spPr>
          <a:xfrm>
            <a:off x="1325880" y="3090672"/>
            <a:ext cx="1463040" cy="640080"/>
          </a:xfrm>
          <a:prstGeom prst="rect">
            <a:avLst/>
          </a:prstGeom>
          <a:noFill/>
          <a:ln/>
        </p:spPr>
        <p:txBody>
          <a:bodyPr wrap="square" lIns="0" tIns="0" rIns="0" bIns="0" rtlCol="0" anchor="ctr"/>
          <a:lstStyle/>
          <a:p>
            <a:pPr marL="0" indent="0">
              <a:buNone/>
            </a:pPr>
            <a:r>
              <a:rPr lang="es-ES" sz="1700" b="1" noProof="0" dirty="0" err="1">
                <a:solidFill>
                  <a:srgbClr val="1F2328"/>
                </a:solidFill>
                <a:latin typeface="Consolas" pitchFamily="34" charset="0"/>
                <a:ea typeface="Consolas" pitchFamily="34" charset="-122"/>
                <a:cs typeface="Consolas" pitchFamily="34" charset="-120"/>
              </a:rPr>
              <a:t>ironman</a:t>
            </a:r>
            <a:endParaRPr lang="es-ES" sz="1700" noProof="0" dirty="0"/>
          </a:p>
        </p:txBody>
      </p:sp>
      <p:sp>
        <p:nvSpPr>
          <p:cNvPr id="22" name="Text 17"/>
          <p:cNvSpPr txBox="1"/>
          <p:nvPr/>
        </p:nvSpPr>
        <p:spPr>
          <a:xfrm>
            <a:off x="2834640" y="3090672"/>
            <a:ext cx="2286000" cy="640080"/>
          </a:xfrm>
          <a:prstGeom prst="rect">
            <a:avLst/>
          </a:prstGeom>
          <a:noFill/>
          <a:ln/>
        </p:spPr>
        <p:txBody>
          <a:bodyPr wrap="square" lIns="0" tIns="0" rIns="0" bIns="0" rtlCol="0" anchor="ctr"/>
          <a:lstStyle/>
          <a:p>
            <a:pPr marL="0" indent="0">
              <a:buNone/>
            </a:pPr>
            <a:r>
              <a:rPr lang="es-ES" sz="1500" noProof="0" dirty="0">
                <a:solidFill>
                  <a:srgbClr val="5C6470"/>
                </a:solidFill>
                <a:latin typeface="Calibri" pitchFamily="34" charset="0"/>
                <a:ea typeface="Calibri" pitchFamily="34" charset="-122"/>
                <a:cs typeface="Calibri" pitchFamily="34" charset="-120"/>
              </a:rPr>
              <a:t>Backend</a:t>
            </a:r>
            <a:endParaRPr lang="es-ES" sz="1500" noProof="0" dirty="0"/>
          </a:p>
        </p:txBody>
      </p:sp>
      <p:sp>
        <p:nvSpPr>
          <p:cNvPr id="23" name="Shape 18"/>
          <p:cNvSpPr/>
          <p:nvPr/>
        </p:nvSpPr>
        <p:spPr>
          <a:xfrm>
            <a:off x="5257800" y="3227832"/>
            <a:ext cx="1783080" cy="365760"/>
          </a:xfrm>
          <a:prstGeom prst="roundRect">
            <a:avLst>
              <a:gd name="adj" fmla="val 50000"/>
            </a:avLst>
          </a:prstGeom>
          <a:solidFill>
            <a:srgbClr val="10A38A"/>
          </a:solidFill>
          <a:ln w="12700">
            <a:solidFill>
              <a:srgbClr val="10A38A"/>
            </a:solidFill>
            <a:prstDash val="solid"/>
          </a:ln>
        </p:spPr>
        <p:txBody>
          <a:bodyPr/>
          <a:lstStyle/>
          <a:p>
            <a:endParaRPr lang="es-ES" noProof="0" dirty="0"/>
          </a:p>
        </p:txBody>
      </p:sp>
      <p:sp>
        <p:nvSpPr>
          <p:cNvPr id="24" name="Text 19"/>
          <p:cNvSpPr txBox="1"/>
          <p:nvPr/>
        </p:nvSpPr>
        <p:spPr>
          <a:xfrm>
            <a:off x="5257800" y="3227832"/>
            <a:ext cx="1783080" cy="365760"/>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gpt-5.6-terra</a:t>
            </a:r>
            <a:endParaRPr lang="es-ES" sz="1200" noProof="0" dirty="0"/>
          </a:p>
        </p:txBody>
      </p:sp>
      <p:sp>
        <p:nvSpPr>
          <p:cNvPr id="25" name="Shape 20"/>
          <p:cNvSpPr/>
          <p:nvPr/>
        </p:nvSpPr>
        <p:spPr>
          <a:xfrm>
            <a:off x="548640" y="3858768"/>
            <a:ext cx="6675120" cy="640080"/>
          </a:xfrm>
          <a:prstGeom prst="roundRect">
            <a:avLst>
              <a:gd name="adj" fmla="val 17143"/>
            </a:avLst>
          </a:prstGeom>
          <a:solidFill>
            <a:srgbClr val="F4F2FB"/>
          </a:solidFill>
          <a:ln w="12700">
            <a:solidFill>
              <a:srgbClr val="F4F2FB"/>
            </a:solidFill>
            <a:prstDash val="solid"/>
          </a:ln>
        </p:spPr>
        <p:txBody>
          <a:bodyPr/>
          <a:lstStyle/>
          <a:p>
            <a:endParaRPr lang="es-ES" noProof="0" dirty="0"/>
          </a:p>
        </p:txBody>
      </p:sp>
      <p:sp>
        <p:nvSpPr>
          <p:cNvPr id="26" name="Shape 21"/>
          <p:cNvSpPr/>
          <p:nvPr/>
        </p:nvSpPr>
        <p:spPr>
          <a:xfrm>
            <a:off x="658368" y="3950208"/>
            <a:ext cx="457200" cy="45720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27" name="Image 3" descr="preencoded.png"/>
          <p:cNvPicPr>
            <a:picLocks noChangeAspect="1"/>
          </p:cNvPicPr>
          <p:nvPr/>
        </p:nvPicPr>
        <p:blipFill>
          <a:blip r:embed="rId6"/>
          <a:stretch>
            <a:fillRect/>
          </a:stretch>
        </p:blipFill>
        <p:spPr>
          <a:xfrm>
            <a:off x="763524" y="4055364"/>
            <a:ext cx="246888" cy="246888"/>
          </a:xfrm>
          <a:prstGeom prst="rect">
            <a:avLst/>
          </a:prstGeom>
        </p:spPr>
      </p:pic>
      <p:sp>
        <p:nvSpPr>
          <p:cNvPr id="28" name="Text 22"/>
          <p:cNvSpPr txBox="1"/>
          <p:nvPr/>
        </p:nvSpPr>
        <p:spPr>
          <a:xfrm>
            <a:off x="1325880" y="3858768"/>
            <a:ext cx="1463040" cy="640080"/>
          </a:xfrm>
          <a:prstGeom prst="rect">
            <a:avLst/>
          </a:prstGeom>
          <a:noFill/>
          <a:ln/>
        </p:spPr>
        <p:txBody>
          <a:bodyPr wrap="square" lIns="0" tIns="0" rIns="0" bIns="0" rtlCol="0" anchor="ctr"/>
          <a:lstStyle/>
          <a:p>
            <a:pPr marL="0" indent="0">
              <a:buNone/>
            </a:pPr>
            <a:r>
              <a:rPr lang="es-ES" sz="1700" b="1" noProof="0" dirty="0" err="1">
                <a:solidFill>
                  <a:srgbClr val="1F2328"/>
                </a:solidFill>
                <a:latin typeface="Consolas" pitchFamily="34" charset="0"/>
                <a:ea typeface="Consolas" pitchFamily="34" charset="-122"/>
                <a:cs typeface="Consolas" pitchFamily="34" charset="-120"/>
              </a:rPr>
              <a:t>hulk</a:t>
            </a:r>
            <a:endParaRPr lang="es-ES" sz="1700" noProof="0" dirty="0"/>
          </a:p>
        </p:txBody>
      </p:sp>
      <p:sp>
        <p:nvSpPr>
          <p:cNvPr id="29" name="Text 23"/>
          <p:cNvSpPr txBox="1"/>
          <p:nvPr/>
        </p:nvSpPr>
        <p:spPr>
          <a:xfrm>
            <a:off x="2834640" y="3858768"/>
            <a:ext cx="2286000" cy="640080"/>
          </a:xfrm>
          <a:prstGeom prst="rect">
            <a:avLst/>
          </a:prstGeom>
          <a:noFill/>
          <a:ln/>
        </p:spPr>
        <p:txBody>
          <a:bodyPr wrap="square" lIns="0" tIns="0" rIns="0" bIns="0" rtlCol="0" anchor="ctr"/>
          <a:lstStyle/>
          <a:p>
            <a:pPr marL="0" indent="0">
              <a:buNone/>
            </a:pPr>
            <a:r>
              <a:rPr lang="es-ES" sz="1500" noProof="0" dirty="0">
                <a:solidFill>
                  <a:srgbClr val="5C6470"/>
                </a:solidFill>
                <a:latin typeface="Calibri" pitchFamily="34" charset="0"/>
                <a:ea typeface="Calibri" pitchFamily="34" charset="-122"/>
                <a:cs typeface="Calibri" pitchFamily="34" charset="-120"/>
              </a:rPr>
              <a:t>Tester</a:t>
            </a:r>
            <a:endParaRPr lang="es-ES" sz="1500" noProof="0" dirty="0"/>
          </a:p>
        </p:txBody>
      </p:sp>
      <p:sp>
        <p:nvSpPr>
          <p:cNvPr id="30" name="Shape 24"/>
          <p:cNvSpPr/>
          <p:nvPr/>
        </p:nvSpPr>
        <p:spPr>
          <a:xfrm>
            <a:off x="5257800" y="3995928"/>
            <a:ext cx="1783080" cy="365760"/>
          </a:xfrm>
          <a:prstGeom prst="roundRect">
            <a:avLst>
              <a:gd name="adj" fmla="val 50000"/>
            </a:avLst>
          </a:prstGeom>
          <a:solidFill>
            <a:srgbClr val="10A38A"/>
          </a:solidFill>
          <a:ln w="12700">
            <a:solidFill>
              <a:srgbClr val="10A38A"/>
            </a:solidFill>
            <a:prstDash val="solid"/>
          </a:ln>
        </p:spPr>
        <p:txBody>
          <a:bodyPr/>
          <a:lstStyle/>
          <a:p>
            <a:endParaRPr lang="es-ES" noProof="0" dirty="0"/>
          </a:p>
        </p:txBody>
      </p:sp>
      <p:sp>
        <p:nvSpPr>
          <p:cNvPr id="31" name="Text 25"/>
          <p:cNvSpPr txBox="1"/>
          <p:nvPr/>
        </p:nvSpPr>
        <p:spPr>
          <a:xfrm>
            <a:off x="5257800" y="3995928"/>
            <a:ext cx="1783080" cy="365760"/>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gpt-5.6-terra</a:t>
            </a:r>
            <a:endParaRPr lang="es-ES" sz="1200" noProof="0" dirty="0"/>
          </a:p>
        </p:txBody>
      </p:sp>
      <p:sp>
        <p:nvSpPr>
          <p:cNvPr id="32" name="Shape 26"/>
          <p:cNvSpPr/>
          <p:nvPr/>
        </p:nvSpPr>
        <p:spPr>
          <a:xfrm>
            <a:off x="548640" y="4626864"/>
            <a:ext cx="6675120" cy="640080"/>
          </a:xfrm>
          <a:prstGeom prst="roundRect">
            <a:avLst>
              <a:gd name="adj" fmla="val 17143"/>
            </a:avLst>
          </a:prstGeom>
          <a:solidFill>
            <a:srgbClr val="F4F2FB"/>
          </a:solidFill>
          <a:ln w="12700">
            <a:solidFill>
              <a:srgbClr val="F4F2FB"/>
            </a:solidFill>
            <a:prstDash val="solid"/>
          </a:ln>
        </p:spPr>
        <p:txBody>
          <a:bodyPr/>
          <a:lstStyle/>
          <a:p>
            <a:endParaRPr lang="es-ES" noProof="0" dirty="0"/>
          </a:p>
        </p:txBody>
      </p:sp>
      <p:sp>
        <p:nvSpPr>
          <p:cNvPr id="33" name="Shape 27"/>
          <p:cNvSpPr/>
          <p:nvPr/>
        </p:nvSpPr>
        <p:spPr>
          <a:xfrm>
            <a:off x="658368" y="4718304"/>
            <a:ext cx="457200" cy="45720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34" name="Image 4" descr="preencoded.png"/>
          <p:cNvPicPr>
            <a:picLocks noChangeAspect="1"/>
          </p:cNvPicPr>
          <p:nvPr/>
        </p:nvPicPr>
        <p:blipFill>
          <a:blip r:embed="rId7"/>
          <a:stretch>
            <a:fillRect/>
          </a:stretch>
        </p:blipFill>
        <p:spPr>
          <a:xfrm>
            <a:off x="763524" y="4823460"/>
            <a:ext cx="246888" cy="246888"/>
          </a:xfrm>
          <a:prstGeom prst="rect">
            <a:avLst/>
          </a:prstGeom>
        </p:spPr>
      </p:pic>
      <p:sp>
        <p:nvSpPr>
          <p:cNvPr id="35" name="Text 28"/>
          <p:cNvSpPr txBox="1"/>
          <p:nvPr/>
        </p:nvSpPr>
        <p:spPr>
          <a:xfrm>
            <a:off x="1325880" y="4626864"/>
            <a:ext cx="1463040" cy="640080"/>
          </a:xfrm>
          <a:prstGeom prst="rect">
            <a:avLst/>
          </a:prstGeom>
          <a:noFill/>
          <a:ln/>
        </p:spPr>
        <p:txBody>
          <a:bodyPr wrap="square" lIns="0" tIns="0" rIns="0" bIns="0" rtlCol="0" anchor="ctr"/>
          <a:lstStyle/>
          <a:p>
            <a:pPr marL="0" indent="0">
              <a:buNone/>
            </a:pPr>
            <a:r>
              <a:rPr lang="es-ES" sz="1700" b="1" noProof="0" dirty="0" err="1">
                <a:solidFill>
                  <a:srgbClr val="1F2328"/>
                </a:solidFill>
                <a:latin typeface="Consolas" pitchFamily="34" charset="0"/>
                <a:ea typeface="Consolas" pitchFamily="34" charset="-122"/>
                <a:cs typeface="Consolas" pitchFamily="34" charset="-120"/>
              </a:rPr>
              <a:t>vision</a:t>
            </a:r>
            <a:endParaRPr lang="es-ES" sz="1700" noProof="0" dirty="0"/>
          </a:p>
        </p:txBody>
      </p:sp>
      <p:sp>
        <p:nvSpPr>
          <p:cNvPr id="36" name="Text 29"/>
          <p:cNvSpPr txBox="1"/>
          <p:nvPr/>
        </p:nvSpPr>
        <p:spPr>
          <a:xfrm>
            <a:off x="2834640" y="4626864"/>
            <a:ext cx="2286000" cy="640080"/>
          </a:xfrm>
          <a:prstGeom prst="rect">
            <a:avLst/>
          </a:prstGeom>
          <a:noFill/>
          <a:ln/>
        </p:spPr>
        <p:txBody>
          <a:bodyPr wrap="square" lIns="0" tIns="0" rIns="0" bIns="0" rtlCol="0" anchor="ctr"/>
          <a:lstStyle/>
          <a:p>
            <a:pPr marL="0" indent="0">
              <a:buNone/>
            </a:pPr>
            <a:r>
              <a:rPr lang="es-ES" sz="1500" noProof="0" dirty="0" err="1">
                <a:solidFill>
                  <a:srgbClr val="5C6470"/>
                </a:solidFill>
                <a:latin typeface="Calibri" pitchFamily="34" charset="0"/>
                <a:ea typeface="Calibri" pitchFamily="34" charset="-122"/>
                <a:cs typeface="Calibri" pitchFamily="34" charset="-120"/>
              </a:rPr>
              <a:t>Docs</a:t>
            </a:r>
            <a:endParaRPr lang="es-ES" sz="1500" noProof="0" dirty="0"/>
          </a:p>
        </p:txBody>
      </p:sp>
      <p:sp>
        <p:nvSpPr>
          <p:cNvPr id="37" name="Shape 30"/>
          <p:cNvSpPr/>
          <p:nvPr/>
        </p:nvSpPr>
        <p:spPr>
          <a:xfrm>
            <a:off x="5257800" y="4764024"/>
            <a:ext cx="1783080" cy="365760"/>
          </a:xfrm>
          <a:prstGeom prst="roundRect">
            <a:avLst>
              <a:gd name="adj" fmla="val 50000"/>
            </a:avLst>
          </a:prstGeom>
          <a:solidFill>
            <a:srgbClr val="7C4DDB"/>
          </a:solidFill>
          <a:ln w="12700">
            <a:solidFill>
              <a:srgbClr val="7C4DDB"/>
            </a:solidFill>
            <a:prstDash val="solid"/>
          </a:ln>
        </p:spPr>
        <p:txBody>
          <a:bodyPr/>
          <a:lstStyle/>
          <a:p>
            <a:endParaRPr lang="es-ES" noProof="0" dirty="0"/>
          </a:p>
        </p:txBody>
      </p:sp>
      <p:sp>
        <p:nvSpPr>
          <p:cNvPr id="38" name="Text 31"/>
          <p:cNvSpPr txBox="1"/>
          <p:nvPr/>
        </p:nvSpPr>
        <p:spPr>
          <a:xfrm>
            <a:off x="5257800" y="4764024"/>
            <a:ext cx="1783080" cy="365760"/>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gpt-5.6-luna</a:t>
            </a:r>
            <a:endParaRPr lang="es-ES" sz="1200" noProof="0" dirty="0"/>
          </a:p>
        </p:txBody>
      </p:sp>
      <p:sp>
        <p:nvSpPr>
          <p:cNvPr id="39" name="Text 32"/>
          <p:cNvSpPr txBox="1"/>
          <p:nvPr/>
        </p:nvSpPr>
        <p:spPr>
          <a:xfrm>
            <a:off x="493037" y="5532120"/>
            <a:ext cx="2404110" cy="384048"/>
          </a:xfrm>
          <a:prstGeom prst="rect">
            <a:avLst/>
          </a:prstGeom>
          <a:noFill/>
          <a:ln/>
        </p:spPr>
        <p:txBody>
          <a:bodyPr wrap="square" lIns="0" tIns="0" rIns="0" bIns="0" rtlCol="0" anchor="ctr"/>
          <a:lstStyle/>
          <a:p>
            <a:pPr marL="0" indent="0">
              <a:buNone/>
            </a:pPr>
            <a:r>
              <a:rPr lang="es-ES" sz="1400" b="1" noProof="0" dirty="0">
                <a:solidFill>
                  <a:srgbClr val="1F2328"/>
                </a:solidFill>
                <a:latin typeface="Calibri" pitchFamily="34" charset="0"/>
                <a:ea typeface="Calibri" pitchFamily="34" charset="-122"/>
                <a:cs typeface="Calibri" pitchFamily="34" charset="-120"/>
              </a:rPr>
              <a:t>+ 4 agentes integrados (</a:t>
            </a:r>
            <a:r>
              <a:rPr lang="es-ES" sz="1400" b="1" i="1" noProof="0" dirty="0" err="1">
                <a:solidFill>
                  <a:srgbClr val="1F2328"/>
                </a:solidFill>
                <a:latin typeface="Calibri" pitchFamily="34" charset="0"/>
                <a:ea typeface="Calibri" pitchFamily="34" charset="-122"/>
                <a:cs typeface="Calibri" pitchFamily="34" charset="-120"/>
              </a:rPr>
              <a:t>built</a:t>
            </a:r>
            <a:r>
              <a:rPr lang="es-ES" sz="1400" b="1" i="1" noProof="0" dirty="0">
                <a:solidFill>
                  <a:srgbClr val="1F2328"/>
                </a:solidFill>
                <a:latin typeface="Calibri" pitchFamily="34" charset="0"/>
                <a:ea typeface="Calibri" pitchFamily="34" charset="-122"/>
                <a:cs typeface="Calibri" pitchFamily="34" charset="-120"/>
              </a:rPr>
              <a:t>-in</a:t>
            </a:r>
            <a:r>
              <a:rPr lang="es-ES" sz="1400" b="1" noProof="0" dirty="0">
                <a:solidFill>
                  <a:srgbClr val="1F2328"/>
                </a:solidFill>
                <a:latin typeface="Calibri" pitchFamily="34" charset="0"/>
                <a:ea typeface="Calibri" pitchFamily="34" charset="-122"/>
                <a:cs typeface="Calibri" pitchFamily="34" charset="-120"/>
              </a:rPr>
              <a:t>):</a:t>
            </a:r>
            <a:endParaRPr lang="es-ES" sz="1400" noProof="0" dirty="0"/>
          </a:p>
        </p:txBody>
      </p:sp>
      <p:grpSp>
        <p:nvGrpSpPr>
          <p:cNvPr id="57" name="Group 56">
            <a:extLst>
              <a:ext uri="{FF2B5EF4-FFF2-40B4-BE49-F238E27FC236}">
                <a16:creationId xmlns:a16="http://schemas.microsoft.com/office/drawing/2014/main" id="{F0B57E7B-E378-92DC-8D68-CE4148C8D7CC}"/>
              </a:ext>
            </a:extLst>
          </p:cNvPr>
          <p:cNvGrpSpPr/>
          <p:nvPr/>
        </p:nvGrpSpPr>
        <p:grpSpPr>
          <a:xfrm>
            <a:off x="2975817" y="5532120"/>
            <a:ext cx="1051560" cy="384048"/>
            <a:chOff x="2975817" y="5532120"/>
            <a:chExt cx="1051560" cy="384048"/>
          </a:xfrm>
        </p:grpSpPr>
        <p:sp>
          <p:nvSpPr>
            <p:cNvPr id="40" name="Shape 33"/>
            <p:cNvSpPr/>
            <p:nvPr/>
          </p:nvSpPr>
          <p:spPr>
            <a:xfrm>
              <a:off x="2975817" y="5532120"/>
              <a:ext cx="1051560" cy="384048"/>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41" name="Text 34"/>
            <p:cNvSpPr txBox="1"/>
            <p:nvPr/>
          </p:nvSpPr>
          <p:spPr>
            <a:xfrm>
              <a:off x="2975817" y="5532120"/>
              <a:ext cx="1051560" cy="384048"/>
            </a:xfrm>
            <a:prstGeom prst="rect">
              <a:avLst/>
            </a:prstGeom>
            <a:noFill/>
            <a:ln/>
          </p:spPr>
          <p:txBody>
            <a:bodyPr wrap="square" lIns="0" tIns="0" rIns="0" bIns="0" rtlCol="0" anchor="ctr"/>
            <a:lstStyle/>
            <a:p>
              <a:pPr marL="0" indent="0" algn="ctr">
                <a:buNone/>
              </a:pPr>
              <a:r>
                <a:rPr lang="es-ES" sz="1250" b="1" noProof="0" dirty="0">
                  <a:solidFill>
                    <a:srgbClr val="1F2328"/>
                  </a:solidFill>
                  <a:latin typeface="Calibri" pitchFamily="34" charset="0"/>
                  <a:ea typeface="Calibri" pitchFamily="34" charset="-122"/>
                  <a:cs typeface="Calibri" pitchFamily="34" charset="-120"/>
                </a:rPr>
                <a:t>Scribe</a:t>
              </a:r>
              <a:endParaRPr lang="es-ES" sz="1250" noProof="0" dirty="0"/>
            </a:p>
          </p:txBody>
        </p:sp>
      </p:grpSp>
      <p:grpSp>
        <p:nvGrpSpPr>
          <p:cNvPr id="58" name="Group 57">
            <a:extLst>
              <a:ext uri="{FF2B5EF4-FFF2-40B4-BE49-F238E27FC236}">
                <a16:creationId xmlns:a16="http://schemas.microsoft.com/office/drawing/2014/main" id="{46AE79FC-E0DB-A218-B45C-51EEE220924E}"/>
              </a:ext>
            </a:extLst>
          </p:cNvPr>
          <p:cNvGrpSpPr/>
          <p:nvPr/>
        </p:nvGrpSpPr>
        <p:grpSpPr>
          <a:xfrm>
            <a:off x="4082158" y="5532120"/>
            <a:ext cx="960120" cy="384048"/>
            <a:chOff x="3966821" y="5532120"/>
            <a:chExt cx="960120" cy="384048"/>
          </a:xfrm>
        </p:grpSpPr>
        <p:sp>
          <p:nvSpPr>
            <p:cNvPr id="42" name="Shape 35"/>
            <p:cNvSpPr/>
            <p:nvPr/>
          </p:nvSpPr>
          <p:spPr>
            <a:xfrm>
              <a:off x="3966821" y="5532120"/>
              <a:ext cx="960120" cy="384048"/>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43" name="Text 36"/>
            <p:cNvSpPr txBox="1"/>
            <p:nvPr/>
          </p:nvSpPr>
          <p:spPr>
            <a:xfrm>
              <a:off x="3966821" y="5532120"/>
              <a:ext cx="960120" cy="384048"/>
            </a:xfrm>
            <a:prstGeom prst="rect">
              <a:avLst/>
            </a:prstGeom>
            <a:noFill/>
            <a:ln/>
          </p:spPr>
          <p:txBody>
            <a:bodyPr wrap="square" lIns="0" tIns="0" rIns="0" bIns="0" rtlCol="0" anchor="ctr"/>
            <a:lstStyle/>
            <a:p>
              <a:pPr marL="0" indent="0" algn="ctr">
                <a:buNone/>
              </a:pPr>
              <a:r>
                <a:rPr lang="es-ES" sz="1250" b="1" noProof="0" dirty="0">
                  <a:solidFill>
                    <a:srgbClr val="1F2328"/>
                  </a:solidFill>
                  <a:latin typeface="Calibri" pitchFamily="34" charset="0"/>
                  <a:ea typeface="Calibri" pitchFamily="34" charset="-122"/>
                  <a:cs typeface="Calibri" pitchFamily="34" charset="-120"/>
                </a:rPr>
                <a:t>Ralph</a:t>
              </a:r>
              <a:endParaRPr lang="es-ES" sz="1250" noProof="0" dirty="0"/>
            </a:p>
          </p:txBody>
        </p:sp>
      </p:grpSp>
      <p:grpSp>
        <p:nvGrpSpPr>
          <p:cNvPr id="59" name="Group 58">
            <a:extLst>
              <a:ext uri="{FF2B5EF4-FFF2-40B4-BE49-F238E27FC236}">
                <a16:creationId xmlns:a16="http://schemas.microsoft.com/office/drawing/2014/main" id="{59B39B1C-2E36-C6FE-5C60-BC31EB1D21A0}"/>
              </a:ext>
            </a:extLst>
          </p:cNvPr>
          <p:cNvGrpSpPr/>
          <p:nvPr/>
        </p:nvGrpSpPr>
        <p:grpSpPr>
          <a:xfrm>
            <a:off x="5097059" y="5532120"/>
            <a:ext cx="731520" cy="384048"/>
            <a:chOff x="5020856" y="5532120"/>
            <a:chExt cx="731520" cy="384048"/>
          </a:xfrm>
        </p:grpSpPr>
        <p:sp>
          <p:nvSpPr>
            <p:cNvPr id="44" name="Shape 37"/>
            <p:cNvSpPr/>
            <p:nvPr/>
          </p:nvSpPr>
          <p:spPr>
            <a:xfrm>
              <a:off x="5020856" y="5532120"/>
              <a:ext cx="731520" cy="384048"/>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45" name="Text 38"/>
            <p:cNvSpPr txBox="1"/>
            <p:nvPr/>
          </p:nvSpPr>
          <p:spPr>
            <a:xfrm>
              <a:off x="5020856" y="5532120"/>
              <a:ext cx="731520" cy="384048"/>
            </a:xfrm>
            <a:prstGeom prst="rect">
              <a:avLst/>
            </a:prstGeom>
            <a:noFill/>
            <a:ln/>
          </p:spPr>
          <p:txBody>
            <a:bodyPr wrap="square" lIns="0" tIns="0" rIns="0" bIns="0" rtlCol="0" anchor="ctr"/>
            <a:lstStyle/>
            <a:p>
              <a:pPr marL="0" indent="0" algn="ctr">
                <a:buNone/>
              </a:pPr>
              <a:r>
                <a:rPr lang="es-ES" sz="1250" b="1" noProof="0" dirty="0">
                  <a:solidFill>
                    <a:srgbClr val="1F2328"/>
                  </a:solidFill>
                  <a:latin typeface="Calibri" pitchFamily="34" charset="0"/>
                  <a:ea typeface="Calibri" pitchFamily="34" charset="-122"/>
                  <a:cs typeface="Calibri" pitchFamily="34" charset="-120"/>
                </a:rPr>
                <a:t>Rai</a:t>
              </a:r>
              <a:endParaRPr lang="es-ES" sz="1250" noProof="0" dirty="0"/>
            </a:p>
          </p:txBody>
        </p:sp>
      </p:grpSp>
      <p:grpSp>
        <p:nvGrpSpPr>
          <p:cNvPr id="60" name="Group 59">
            <a:extLst>
              <a:ext uri="{FF2B5EF4-FFF2-40B4-BE49-F238E27FC236}">
                <a16:creationId xmlns:a16="http://schemas.microsoft.com/office/drawing/2014/main" id="{40067325-2761-8DDA-FD13-23189C171B41}"/>
              </a:ext>
            </a:extLst>
          </p:cNvPr>
          <p:cNvGrpSpPr/>
          <p:nvPr/>
        </p:nvGrpSpPr>
        <p:grpSpPr>
          <a:xfrm>
            <a:off x="5883359" y="5532120"/>
            <a:ext cx="1417320" cy="384048"/>
            <a:chOff x="5883359" y="5532120"/>
            <a:chExt cx="1417320" cy="384048"/>
          </a:xfrm>
        </p:grpSpPr>
        <p:sp>
          <p:nvSpPr>
            <p:cNvPr id="46" name="Shape 39"/>
            <p:cNvSpPr/>
            <p:nvPr/>
          </p:nvSpPr>
          <p:spPr>
            <a:xfrm>
              <a:off x="5883359" y="5532120"/>
              <a:ext cx="1417320" cy="384048"/>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47" name="Text 40"/>
            <p:cNvSpPr txBox="1"/>
            <p:nvPr/>
          </p:nvSpPr>
          <p:spPr>
            <a:xfrm>
              <a:off x="5883359" y="5532120"/>
              <a:ext cx="1417320" cy="384048"/>
            </a:xfrm>
            <a:prstGeom prst="rect">
              <a:avLst/>
            </a:prstGeom>
            <a:noFill/>
            <a:ln/>
          </p:spPr>
          <p:txBody>
            <a:bodyPr wrap="square" lIns="0" tIns="0" rIns="0" bIns="0" rtlCol="0" anchor="ctr"/>
            <a:lstStyle/>
            <a:p>
              <a:pPr marL="0" indent="0" algn="ctr">
                <a:buNone/>
              </a:pPr>
              <a:r>
                <a:rPr lang="es-ES" sz="1250" b="1" noProof="0" dirty="0" err="1">
                  <a:solidFill>
                    <a:srgbClr val="1F2328"/>
                  </a:solidFill>
                  <a:latin typeface="Calibri" pitchFamily="34" charset="0"/>
                  <a:ea typeface="Calibri" pitchFamily="34" charset="-122"/>
                  <a:cs typeface="Calibri" pitchFamily="34" charset="-120"/>
                </a:rPr>
                <a:t>Fact</a:t>
              </a:r>
              <a:r>
                <a:rPr lang="es-ES" sz="1250" b="1" noProof="0" dirty="0">
                  <a:solidFill>
                    <a:srgbClr val="1F2328"/>
                  </a:solidFill>
                  <a:latin typeface="Calibri" pitchFamily="34" charset="0"/>
                  <a:ea typeface="Calibri" pitchFamily="34" charset="-122"/>
                  <a:cs typeface="Calibri" pitchFamily="34" charset="-120"/>
                </a:rPr>
                <a:t> </a:t>
              </a:r>
              <a:r>
                <a:rPr lang="es-ES" sz="1250" b="1" noProof="0" dirty="0" err="1">
                  <a:solidFill>
                    <a:srgbClr val="1F2328"/>
                  </a:solidFill>
                  <a:latin typeface="Calibri" pitchFamily="34" charset="0"/>
                  <a:ea typeface="Calibri" pitchFamily="34" charset="-122"/>
                  <a:cs typeface="Calibri" pitchFamily="34" charset="-120"/>
                </a:rPr>
                <a:t>Checker</a:t>
              </a:r>
              <a:endParaRPr lang="es-ES" sz="1250" noProof="0" dirty="0"/>
            </a:p>
          </p:txBody>
        </p:sp>
      </p:grpSp>
      <p:sp>
        <p:nvSpPr>
          <p:cNvPr id="48" name="Shape 41"/>
          <p:cNvSpPr/>
          <p:nvPr/>
        </p:nvSpPr>
        <p:spPr>
          <a:xfrm>
            <a:off x="7589520" y="1554480"/>
            <a:ext cx="4050792" cy="3712464"/>
          </a:xfrm>
          <a:prstGeom prst="roundRect">
            <a:avLst>
              <a:gd name="adj" fmla="val 2956"/>
            </a:avLst>
          </a:prstGeom>
          <a:solidFill>
            <a:srgbClr val="11151D"/>
          </a:solidFill>
          <a:ln w="12700">
            <a:solidFill>
              <a:srgbClr val="11151D"/>
            </a:solidFill>
            <a:prstDash val="solid"/>
          </a:ln>
        </p:spPr>
        <p:txBody>
          <a:bodyPr/>
          <a:lstStyle/>
          <a:p>
            <a:endParaRPr lang="es-ES" noProof="0" dirty="0"/>
          </a:p>
        </p:txBody>
      </p:sp>
      <p:sp>
        <p:nvSpPr>
          <p:cNvPr id="49" name="Shape 42"/>
          <p:cNvSpPr/>
          <p:nvPr/>
        </p:nvSpPr>
        <p:spPr>
          <a:xfrm>
            <a:off x="7818120" y="1737360"/>
            <a:ext cx="118872" cy="118872"/>
          </a:xfrm>
          <a:prstGeom prst="ellipse">
            <a:avLst/>
          </a:prstGeom>
          <a:solidFill>
            <a:srgbClr val="E0524A"/>
          </a:solidFill>
          <a:ln w="12700">
            <a:solidFill>
              <a:srgbClr val="E0524A"/>
            </a:solidFill>
            <a:prstDash val="solid"/>
          </a:ln>
        </p:spPr>
        <p:txBody>
          <a:bodyPr/>
          <a:lstStyle/>
          <a:p>
            <a:endParaRPr lang="es-ES" noProof="0" dirty="0"/>
          </a:p>
        </p:txBody>
      </p:sp>
      <p:sp>
        <p:nvSpPr>
          <p:cNvPr id="50" name="Shape 43"/>
          <p:cNvSpPr/>
          <p:nvPr/>
        </p:nvSpPr>
        <p:spPr>
          <a:xfrm>
            <a:off x="8019288" y="1737360"/>
            <a:ext cx="118872" cy="118872"/>
          </a:xfrm>
          <a:prstGeom prst="ellipse">
            <a:avLst/>
          </a:prstGeom>
          <a:solidFill>
            <a:srgbClr val="F2A900"/>
          </a:solidFill>
          <a:ln w="12700">
            <a:solidFill>
              <a:srgbClr val="F2A900"/>
            </a:solidFill>
            <a:prstDash val="solid"/>
          </a:ln>
        </p:spPr>
        <p:txBody>
          <a:bodyPr/>
          <a:lstStyle/>
          <a:p>
            <a:endParaRPr lang="es-ES" noProof="0" dirty="0"/>
          </a:p>
        </p:txBody>
      </p:sp>
      <p:sp>
        <p:nvSpPr>
          <p:cNvPr id="51" name="Shape 44"/>
          <p:cNvSpPr/>
          <p:nvPr/>
        </p:nvSpPr>
        <p:spPr>
          <a:xfrm>
            <a:off x="8220456" y="1737360"/>
            <a:ext cx="118872" cy="118872"/>
          </a:xfrm>
          <a:prstGeom prst="ellipse">
            <a:avLst/>
          </a:prstGeom>
          <a:solidFill>
            <a:srgbClr val="10A38A"/>
          </a:solidFill>
          <a:ln w="12700">
            <a:solidFill>
              <a:srgbClr val="10A38A"/>
            </a:solidFill>
            <a:prstDash val="solid"/>
          </a:ln>
        </p:spPr>
        <p:txBody>
          <a:bodyPr/>
          <a:lstStyle/>
          <a:p>
            <a:endParaRPr lang="es-ES" noProof="0" dirty="0"/>
          </a:p>
        </p:txBody>
      </p:sp>
      <p:sp>
        <p:nvSpPr>
          <p:cNvPr id="52" name="Text 45"/>
          <p:cNvSpPr txBox="1"/>
          <p:nvPr/>
        </p:nvSpPr>
        <p:spPr>
          <a:xfrm>
            <a:off x="8503920" y="1673352"/>
            <a:ext cx="2862072" cy="256032"/>
          </a:xfrm>
          <a:prstGeom prst="rect">
            <a:avLst/>
          </a:prstGeom>
          <a:noFill/>
          <a:ln/>
        </p:spPr>
        <p:txBody>
          <a:bodyPr wrap="square" lIns="0" tIns="0" rIns="0" bIns="0" rtlCol="0" anchor="t"/>
          <a:lstStyle/>
          <a:p>
            <a:pPr marL="0" indent="0">
              <a:buNone/>
            </a:pPr>
            <a:r>
              <a:rPr lang="es-ES" sz="1100" noProof="0" dirty="0">
                <a:solidFill>
                  <a:srgbClr val="7D8796"/>
                </a:solidFill>
                <a:latin typeface="Consolas" pitchFamily="34" charset="0"/>
                <a:ea typeface="Consolas" pitchFamily="34" charset="-122"/>
                <a:cs typeface="Consolas" pitchFamily="34" charset="-120"/>
              </a:rPr>
              <a:t>.</a:t>
            </a:r>
            <a:r>
              <a:rPr lang="es-ES" sz="1100" noProof="0" dirty="0" err="1">
                <a:solidFill>
                  <a:srgbClr val="7D8796"/>
                </a:solidFill>
                <a:latin typeface="Consolas" pitchFamily="34" charset="0"/>
                <a:ea typeface="Consolas" pitchFamily="34" charset="-122"/>
                <a:cs typeface="Consolas" pitchFamily="34" charset="-120"/>
              </a:rPr>
              <a:t>squad</a:t>
            </a:r>
            <a:r>
              <a:rPr lang="es-ES" sz="1100" noProof="0" dirty="0">
                <a:solidFill>
                  <a:srgbClr val="7D8796"/>
                </a:solidFill>
                <a:latin typeface="Consolas" pitchFamily="34" charset="0"/>
                <a:ea typeface="Consolas" pitchFamily="34" charset="-122"/>
                <a:cs typeface="Consolas" pitchFamily="34" charset="-120"/>
              </a:rPr>
              <a:t>/</a:t>
            </a:r>
            <a:r>
              <a:rPr lang="es-ES" sz="1100" noProof="0" dirty="0" err="1">
                <a:solidFill>
                  <a:srgbClr val="7D8796"/>
                </a:solidFill>
                <a:latin typeface="Consolas" pitchFamily="34" charset="0"/>
                <a:ea typeface="Consolas" pitchFamily="34" charset="-122"/>
                <a:cs typeface="Consolas" pitchFamily="34" charset="-120"/>
              </a:rPr>
              <a:t>config.json</a:t>
            </a:r>
            <a:endParaRPr lang="es-ES" sz="1100" noProof="0" dirty="0"/>
          </a:p>
        </p:txBody>
      </p:sp>
      <p:sp>
        <p:nvSpPr>
          <p:cNvPr id="53" name="Text 46"/>
          <p:cNvSpPr txBox="1"/>
          <p:nvPr/>
        </p:nvSpPr>
        <p:spPr>
          <a:xfrm>
            <a:off x="7818120" y="2103120"/>
            <a:ext cx="3547872" cy="3026664"/>
          </a:xfrm>
          <a:prstGeom prst="rect">
            <a:avLst/>
          </a:prstGeom>
          <a:noFill/>
          <a:ln/>
        </p:spPr>
        <p:txBody>
          <a:bodyPr wrap="square" lIns="0" tIns="0" rIns="0" bIns="0" rtlCol="0" anchor="t"/>
          <a:lstStyle/>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version</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1,</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stateBackend</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F2A900"/>
                </a:solidFill>
                <a:latin typeface="Consolas" pitchFamily="34" charset="0"/>
                <a:ea typeface="Consolas" pitchFamily="34" charset="-122"/>
                <a:cs typeface="Consolas" pitchFamily="34" charset="-120"/>
              </a:rPr>
              <a:t>"local"</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agentModelOverrides</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shuri</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F2A900"/>
                </a:solidFill>
                <a:latin typeface="Consolas" pitchFamily="34" charset="0"/>
                <a:ea typeface="Consolas" pitchFamily="34" charset="-122"/>
                <a:cs typeface="Consolas" pitchFamily="34" charset="-120"/>
              </a:rPr>
              <a:t>"gpt-5.6-sol"</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"arcade"</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"gpt-5.6-terra"</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ironman</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"gpt-5.6-terra"</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hulk</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"gpt-5.6-terra"</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10A38A"/>
                </a:solidFill>
                <a:latin typeface="Consolas" pitchFamily="34" charset="0"/>
                <a:ea typeface="Consolas" pitchFamily="34" charset="-122"/>
                <a:cs typeface="Consolas" pitchFamily="34" charset="-120"/>
              </a:rPr>
              <a:t>"</a:t>
            </a:r>
            <a:r>
              <a:rPr lang="es-ES" sz="1300" noProof="0" dirty="0" err="1">
                <a:solidFill>
                  <a:srgbClr val="10A38A"/>
                </a:solidFill>
                <a:latin typeface="Consolas" pitchFamily="34" charset="0"/>
                <a:ea typeface="Consolas" pitchFamily="34" charset="-122"/>
                <a:cs typeface="Consolas" pitchFamily="34" charset="-120"/>
              </a:rPr>
              <a:t>vision</a:t>
            </a:r>
            <a:r>
              <a:rPr lang="es-ES" sz="1300" noProof="0" dirty="0">
                <a:solidFill>
                  <a:srgbClr val="10A38A"/>
                </a:solidFill>
                <a:latin typeface="Consolas" pitchFamily="34" charset="0"/>
                <a:ea typeface="Consolas" pitchFamily="34" charset="-122"/>
                <a:cs typeface="Consolas" pitchFamily="34" charset="-120"/>
              </a:rPr>
              <a:t>"</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a:solidFill>
                  <a:srgbClr val="B79BFF"/>
                </a:solidFill>
                <a:latin typeface="Consolas" pitchFamily="34" charset="0"/>
                <a:ea typeface="Consolas" pitchFamily="34" charset="-122"/>
                <a:cs typeface="Consolas" pitchFamily="34" charset="-120"/>
              </a:rPr>
              <a:t>"gpt-5.6-luna"</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LA DEMO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BYOK: Copilot CLI habla con nuestro API (AI) Gateway</a:t>
            </a:r>
            <a:endParaRPr lang="es-ES" sz="3200" noProof="0" dirty="0"/>
          </a:p>
        </p:txBody>
      </p:sp>
      <p:sp>
        <p:nvSpPr>
          <p:cNvPr id="4" name="Shape 2"/>
          <p:cNvSpPr/>
          <p:nvPr/>
        </p:nvSpPr>
        <p:spPr>
          <a:xfrm>
            <a:off x="548640" y="1554480"/>
            <a:ext cx="6858000" cy="2606040"/>
          </a:xfrm>
          <a:prstGeom prst="roundRect">
            <a:avLst>
              <a:gd name="adj" fmla="val 4211"/>
            </a:avLst>
          </a:prstGeom>
          <a:solidFill>
            <a:srgbClr val="11151D"/>
          </a:solidFill>
          <a:ln w="12700">
            <a:solidFill>
              <a:srgbClr val="11151D"/>
            </a:solidFill>
            <a:prstDash val="solid"/>
          </a:ln>
        </p:spPr>
        <p:txBody>
          <a:bodyPr/>
          <a:lstStyle/>
          <a:p>
            <a:endParaRPr lang="es-ES" noProof="0" dirty="0"/>
          </a:p>
        </p:txBody>
      </p:sp>
      <p:sp>
        <p:nvSpPr>
          <p:cNvPr id="5" name="Shape 3"/>
          <p:cNvSpPr/>
          <p:nvPr/>
        </p:nvSpPr>
        <p:spPr>
          <a:xfrm>
            <a:off x="777240" y="1737360"/>
            <a:ext cx="118872" cy="118872"/>
          </a:xfrm>
          <a:prstGeom prst="ellipse">
            <a:avLst/>
          </a:prstGeom>
          <a:solidFill>
            <a:srgbClr val="E0524A"/>
          </a:solidFill>
          <a:ln w="12700">
            <a:solidFill>
              <a:srgbClr val="E0524A"/>
            </a:solidFill>
            <a:prstDash val="solid"/>
          </a:ln>
        </p:spPr>
        <p:txBody>
          <a:bodyPr/>
          <a:lstStyle/>
          <a:p>
            <a:endParaRPr lang="es-ES" noProof="0" dirty="0"/>
          </a:p>
        </p:txBody>
      </p:sp>
      <p:sp>
        <p:nvSpPr>
          <p:cNvPr id="6" name="Shape 4"/>
          <p:cNvSpPr/>
          <p:nvPr/>
        </p:nvSpPr>
        <p:spPr>
          <a:xfrm>
            <a:off x="978408" y="1737360"/>
            <a:ext cx="118872" cy="118872"/>
          </a:xfrm>
          <a:prstGeom prst="ellipse">
            <a:avLst/>
          </a:prstGeom>
          <a:solidFill>
            <a:srgbClr val="F2A900"/>
          </a:solidFill>
          <a:ln w="12700">
            <a:solidFill>
              <a:srgbClr val="F2A900"/>
            </a:solidFill>
            <a:prstDash val="solid"/>
          </a:ln>
        </p:spPr>
        <p:txBody>
          <a:bodyPr/>
          <a:lstStyle/>
          <a:p>
            <a:endParaRPr lang="es-ES" noProof="0" dirty="0"/>
          </a:p>
        </p:txBody>
      </p:sp>
      <p:sp>
        <p:nvSpPr>
          <p:cNvPr id="7" name="Shape 5"/>
          <p:cNvSpPr/>
          <p:nvPr/>
        </p:nvSpPr>
        <p:spPr>
          <a:xfrm>
            <a:off x="1179576" y="1737360"/>
            <a:ext cx="118872" cy="118872"/>
          </a:xfrm>
          <a:prstGeom prst="ellipse">
            <a:avLst/>
          </a:prstGeom>
          <a:solidFill>
            <a:srgbClr val="10A38A"/>
          </a:solidFill>
          <a:ln w="12700">
            <a:solidFill>
              <a:srgbClr val="10A38A"/>
            </a:solidFill>
            <a:prstDash val="solid"/>
          </a:ln>
        </p:spPr>
        <p:txBody>
          <a:bodyPr/>
          <a:lstStyle/>
          <a:p>
            <a:endParaRPr lang="es-ES" noProof="0" dirty="0"/>
          </a:p>
        </p:txBody>
      </p:sp>
      <p:sp>
        <p:nvSpPr>
          <p:cNvPr id="8" name="Text 6"/>
          <p:cNvSpPr txBox="1"/>
          <p:nvPr/>
        </p:nvSpPr>
        <p:spPr>
          <a:xfrm>
            <a:off x="1463040" y="1673352"/>
            <a:ext cx="5669280" cy="256032"/>
          </a:xfrm>
          <a:prstGeom prst="rect">
            <a:avLst/>
          </a:prstGeom>
          <a:noFill/>
          <a:ln/>
        </p:spPr>
        <p:txBody>
          <a:bodyPr wrap="square" lIns="0" tIns="0" rIns="0" bIns="0" rtlCol="0" anchor="t"/>
          <a:lstStyle/>
          <a:p>
            <a:pPr marL="0" indent="0">
              <a:buNone/>
            </a:pPr>
            <a:r>
              <a:rPr lang="es-ES" sz="1100" noProof="0" dirty="0">
                <a:solidFill>
                  <a:srgbClr val="7D8796"/>
                </a:solidFill>
                <a:latin typeface="Consolas" pitchFamily="34" charset="0"/>
                <a:ea typeface="Consolas" pitchFamily="34" charset="-122"/>
                <a:cs typeface="Consolas" pitchFamily="34" charset="-120"/>
              </a:rPr>
              <a:t>PowerShell · terminal de Squad</a:t>
            </a:r>
            <a:endParaRPr lang="es-ES" sz="1100" noProof="0" dirty="0"/>
          </a:p>
        </p:txBody>
      </p:sp>
      <p:sp>
        <p:nvSpPr>
          <p:cNvPr id="9" name="Text 7"/>
          <p:cNvSpPr txBox="1"/>
          <p:nvPr/>
        </p:nvSpPr>
        <p:spPr>
          <a:xfrm>
            <a:off x="822960" y="2084832"/>
            <a:ext cx="6355080" cy="1920240"/>
          </a:xfrm>
          <a:prstGeom prst="rect">
            <a:avLst/>
          </a:prstGeom>
          <a:noFill/>
          <a:ln/>
        </p:spPr>
        <p:txBody>
          <a:bodyPr wrap="square" lIns="0" tIns="0" rIns="0" bIns="0" rtlCol="0" anchor="t"/>
          <a:lstStyle/>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a:t>
            </a:r>
            <a:r>
              <a:rPr lang="es-ES" sz="1300" noProof="0" dirty="0" err="1">
                <a:solidFill>
                  <a:srgbClr val="B79BFF"/>
                </a:solidFill>
                <a:latin typeface="Consolas" pitchFamily="34" charset="0"/>
                <a:ea typeface="Consolas" pitchFamily="34" charset="-122"/>
                <a:cs typeface="Consolas" pitchFamily="34" charset="-120"/>
              </a:rPr>
              <a:t>env:COPILOT_PROVIDER_TYPE</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a:solidFill>
                  <a:srgbClr val="F2A900"/>
                </a:solidFill>
                <a:latin typeface="Consolas" pitchFamily="34" charset="0"/>
                <a:ea typeface="Consolas" pitchFamily="34" charset="-122"/>
                <a:cs typeface="Consolas" pitchFamily="34" charset="-120"/>
              </a:rPr>
              <a:t>'</a:t>
            </a:r>
            <a:r>
              <a:rPr lang="es-ES" sz="1300" noProof="0" dirty="0" err="1">
                <a:solidFill>
                  <a:srgbClr val="F2A900"/>
                </a:solidFill>
                <a:latin typeface="Consolas" pitchFamily="34" charset="0"/>
                <a:ea typeface="Consolas" pitchFamily="34" charset="-122"/>
                <a:cs typeface="Consolas" pitchFamily="34" charset="-120"/>
              </a:rPr>
              <a:t>openai</a:t>
            </a:r>
            <a:r>
              <a:rPr lang="es-ES" sz="1300" noProof="0" dirty="0">
                <a:solidFill>
                  <a:srgbClr val="F2A900"/>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a:t>
            </a:r>
            <a:r>
              <a:rPr lang="es-ES" sz="1300" noProof="0" dirty="0" err="1">
                <a:solidFill>
                  <a:srgbClr val="B79BFF"/>
                </a:solidFill>
                <a:latin typeface="Consolas" pitchFamily="34" charset="0"/>
                <a:ea typeface="Consolas" pitchFamily="34" charset="-122"/>
                <a:cs typeface="Consolas" pitchFamily="34" charset="-120"/>
              </a:rPr>
              <a:t>env:COPILOT_PROVIDER_BASE_URL</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a:solidFill>
                  <a:srgbClr val="B79BFF"/>
                </a:solidFill>
                <a:latin typeface="Consolas" pitchFamily="34" charset="0"/>
                <a:ea typeface="Consolas" pitchFamily="34" charset="-122"/>
                <a:cs typeface="Consolas" pitchFamily="34" charset="-120"/>
              </a:rPr>
              <a:t>$</a:t>
            </a:r>
            <a:r>
              <a:rPr lang="es-ES" sz="1300" noProof="0" dirty="0" err="1">
                <a:solidFill>
                  <a:srgbClr val="B79BFF"/>
                </a:solidFill>
                <a:latin typeface="Consolas" pitchFamily="34" charset="0"/>
                <a:ea typeface="Consolas" pitchFamily="34" charset="-122"/>
                <a:cs typeface="Consolas" pitchFamily="34" charset="-120"/>
              </a:rPr>
              <a:t>CopilotBaseUrl</a:t>
            </a:r>
            <a:r>
              <a:rPr lang="es-ES" sz="1300" noProof="0" dirty="0">
                <a:solidFill>
                  <a:srgbClr val="7D8796"/>
                </a:solidFill>
                <a:latin typeface="Consolas" pitchFamily="34" charset="0"/>
                <a:ea typeface="Consolas" pitchFamily="34" charset="-122"/>
                <a:cs typeface="Consolas" pitchFamily="34" charset="-120"/>
              </a:rPr>
              <a:t>  # APIM</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a:t>
            </a:r>
            <a:r>
              <a:rPr lang="es-ES" sz="1300" noProof="0" dirty="0" err="1">
                <a:solidFill>
                  <a:srgbClr val="B79BFF"/>
                </a:solidFill>
                <a:latin typeface="Consolas" pitchFamily="34" charset="0"/>
                <a:ea typeface="Consolas" pitchFamily="34" charset="-122"/>
                <a:cs typeface="Consolas" pitchFamily="34" charset="-120"/>
              </a:rPr>
              <a:t>env:COPILOT_PROVIDER_WIRE_API</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a:solidFill>
                  <a:srgbClr val="F2A900"/>
                </a:solidFill>
                <a:latin typeface="Consolas" pitchFamily="34" charset="0"/>
                <a:ea typeface="Consolas" pitchFamily="34" charset="-122"/>
                <a:cs typeface="Consolas" pitchFamily="34" charset="-120"/>
              </a:rPr>
              <a:t>'responses'</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a:t>
            </a:r>
            <a:r>
              <a:rPr lang="es-ES" sz="1300" noProof="0" dirty="0" err="1">
                <a:solidFill>
                  <a:srgbClr val="B79BFF"/>
                </a:solidFill>
                <a:latin typeface="Consolas" pitchFamily="34" charset="0"/>
                <a:ea typeface="Consolas" pitchFamily="34" charset="-122"/>
                <a:cs typeface="Consolas" pitchFamily="34" charset="-120"/>
              </a:rPr>
              <a:t>env:COPILOT_PROVIDER_HEADERS</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a:solidFill>
                  <a:srgbClr val="F2A900"/>
                </a:solidFill>
                <a:latin typeface="Consolas" pitchFamily="34" charset="0"/>
                <a:ea typeface="Consolas" pitchFamily="34" charset="-122"/>
                <a:cs typeface="Consolas" pitchFamily="34" charset="-120"/>
              </a:rPr>
              <a:t>'</a:t>
            </a:r>
            <a:r>
              <a:rPr lang="es-ES" sz="1300" noProof="0" dirty="0" err="1">
                <a:solidFill>
                  <a:srgbClr val="F2A900"/>
                </a:solidFill>
                <a:latin typeface="Consolas" pitchFamily="34" charset="0"/>
                <a:ea typeface="Consolas" pitchFamily="34" charset="-122"/>
                <a:cs typeface="Consolas" pitchFamily="34" charset="-120"/>
              </a:rPr>
              <a:t>Ocp</a:t>
            </a:r>
            <a:r>
              <a:rPr lang="es-ES" sz="1300" noProof="0" dirty="0">
                <a:solidFill>
                  <a:srgbClr val="F2A900"/>
                </a:solidFill>
                <a:latin typeface="Consolas" pitchFamily="34" charset="0"/>
                <a:ea typeface="Consolas" pitchFamily="34" charset="-122"/>
                <a:cs typeface="Consolas" pitchFamily="34" charset="-120"/>
              </a:rPr>
              <a:t>-</a:t>
            </a:r>
            <a:r>
              <a:rPr lang="es-ES" sz="1300" noProof="0" dirty="0" err="1">
                <a:solidFill>
                  <a:srgbClr val="F2A900"/>
                </a:solidFill>
                <a:latin typeface="Consolas" pitchFamily="34" charset="0"/>
                <a:ea typeface="Consolas" pitchFamily="34" charset="-122"/>
                <a:cs typeface="Consolas" pitchFamily="34" charset="-120"/>
              </a:rPr>
              <a:t>Apim</a:t>
            </a:r>
            <a:r>
              <a:rPr lang="es-ES" sz="1300" noProof="0" dirty="0">
                <a:solidFill>
                  <a:srgbClr val="F2A900"/>
                </a:solidFill>
                <a:latin typeface="Consolas" pitchFamily="34" charset="0"/>
                <a:ea typeface="Consolas" pitchFamily="34" charset="-122"/>
                <a:cs typeface="Consolas" pitchFamily="34" charset="-120"/>
              </a:rPr>
              <a:t>-</a:t>
            </a:r>
            <a:r>
              <a:rPr lang="es-ES" sz="1300" noProof="0" dirty="0" err="1">
                <a:solidFill>
                  <a:srgbClr val="F2A900"/>
                </a:solidFill>
                <a:latin typeface="Consolas" pitchFamily="34" charset="0"/>
                <a:ea typeface="Consolas" pitchFamily="34" charset="-122"/>
                <a:cs typeface="Consolas" pitchFamily="34" charset="-120"/>
              </a:rPr>
              <a:t>Subscription</a:t>
            </a:r>
            <a:r>
              <a:rPr lang="es-ES" sz="1300" noProof="0" dirty="0">
                <a:solidFill>
                  <a:srgbClr val="F2A900"/>
                </a:solidFill>
                <a:latin typeface="Consolas" pitchFamily="34" charset="0"/>
                <a:ea typeface="Consolas" pitchFamily="34" charset="-122"/>
                <a:cs typeface="Consolas" pitchFamily="34" charset="-120"/>
              </a:rPr>
              <a:t>-Key: …'</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endParaRPr lang="es-ES" sz="1300" noProof="0" dirty="0"/>
          </a:p>
          <a:p>
            <a:pPr marL="0" indent="0">
              <a:lnSpc>
                <a:spcPct val="112000"/>
              </a:lnSpc>
              <a:buNone/>
            </a:pPr>
            <a:r>
              <a:rPr lang="es-ES" sz="1300" b="1" noProof="0" dirty="0" err="1">
                <a:solidFill>
                  <a:srgbClr val="10A38A"/>
                </a:solidFill>
                <a:latin typeface="Consolas" pitchFamily="34" charset="0"/>
                <a:ea typeface="Consolas" pitchFamily="34" charset="-122"/>
                <a:cs typeface="Consolas" pitchFamily="34" charset="-120"/>
              </a:rPr>
              <a:t>copilot</a:t>
            </a:r>
            <a:r>
              <a:rPr lang="es-ES" sz="1300" noProof="0" dirty="0">
                <a:solidFill>
                  <a:srgbClr val="E6EDF3"/>
                </a:solidFill>
                <a:latin typeface="Consolas" pitchFamily="34" charset="0"/>
                <a:ea typeface="Consolas" pitchFamily="34" charset="-122"/>
                <a:cs typeface="Consolas" pitchFamily="34" charset="-120"/>
              </a:rPr>
              <a:t> --agent </a:t>
            </a:r>
            <a:r>
              <a:rPr lang="es-ES" sz="1300" noProof="0" dirty="0" err="1">
                <a:solidFill>
                  <a:srgbClr val="E6EDF3"/>
                </a:solidFill>
                <a:latin typeface="Consolas" pitchFamily="34" charset="0"/>
                <a:ea typeface="Consolas" pitchFamily="34" charset="-122"/>
                <a:cs typeface="Consolas" pitchFamily="34" charset="-120"/>
              </a:rPr>
              <a:t>squad</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model</a:t>
            </a:r>
            <a:r>
              <a:rPr lang="es-ES" sz="1300" noProof="0" dirty="0">
                <a:solidFill>
                  <a:srgbClr val="E6EDF3"/>
                </a:solidFill>
                <a:latin typeface="Consolas" pitchFamily="34" charset="0"/>
                <a:ea typeface="Consolas" pitchFamily="34" charset="-122"/>
                <a:cs typeface="Consolas" pitchFamily="34" charset="-120"/>
              </a:rPr>
              <a:t> gpt-5.6-sol `</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secret-env-vars</a:t>
            </a:r>
            <a:r>
              <a:rPr lang="es-ES" sz="1300" noProof="0" dirty="0">
                <a:solidFill>
                  <a:srgbClr val="E6EDF3"/>
                </a:solidFill>
                <a:latin typeface="Consolas" pitchFamily="34" charset="0"/>
                <a:ea typeface="Consolas" pitchFamily="34" charset="-122"/>
                <a:cs typeface="Consolas" pitchFamily="34" charset="-120"/>
              </a:rPr>
              <a:t>=COPILOT_PROVIDER_HEADERS</a:t>
            </a:r>
            <a:endParaRPr lang="es-ES" sz="1300" noProof="0" dirty="0"/>
          </a:p>
        </p:txBody>
      </p:sp>
      <p:pic>
        <p:nvPicPr>
          <p:cNvPr id="10" name="Image 0" descr="C:\Users\rliberoff\AppData\Local\Temp\claude\f--repos-personal-2026-git-hub-dev-days\fa50f6c8-bf8b-4aa4-8423-f3404028c5c5\scratchpad\shot1-strip.png"/>
          <p:cNvPicPr>
            <a:picLocks noChangeAspect="1"/>
          </p:cNvPicPr>
          <p:nvPr/>
        </p:nvPicPr>
        <p:blipFill>
          <a:blip r:embed="rId3"/>
          <a:stretch>
            <a:fillRect/>
          </a:stretch>
        </p:blipFill>
        <p:spPr>
          <a:xfrm>
            <a:off x="548640" y="4434840"/>
            <a:ext cx="6858000" cy="874225"/>
          </a:xfrm>
          <a:prstGeom prst="rect">
            <a:avLst/>
          </a:prstGeom>
        </p:spPr>
      </p:pic>
      <p:sp>
        <p:nvSpPr>
          <p:cNvPr id="11" name="Shape 8"/>
          <p:cNvSpPr/>
          <p:nvPr/>
        </p:nvSpPr>
        <p:spPr>
          <a:xfrm>
            <a:off x="548640" y="4434840"/>
            <a:ext cx="6858000" cy="874225"/>
          </a:xfrm>
          <a:prstGeom prst="rect">
            <a:avLst/>
          </a:prstGeom>
          <a:ln w="9525">
            <a:solidFill>
              <a:srgbClr val="DDD8EC"/>
            </a:solidFill>
            <a:prstDash val="solid"/>
          </a:ln>
        </p:spPr>
        <p:txBody>
          <a:bodyPr/>
          <a:lstStyle/>
          <a:p>
            <a:endParaRPr lang="es-ES" noProof="0" dirty="0"/>
          </a:p>
        </p:txBody>
      </p:sp>
      <p:sp>
        <p:nvSpPr>
          <p:cNvPr id="13" name="Shape 10"/>
          <p:cNvSpPr/>
          <p:nvPr/>
        </p:nvSpPr>
        <p:spPr>
          <a:xfrm>
            <a:off x="7863840" y="1600200"/>
            <a:ext cx="685800" cy="685800"/>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14" name="Image 1" descr="preencoded.png"/>
          <p:cNvPicPr>
            <a:picLocks noChangeAspect="1"/>
          </p:cNvPicPr>
          <p:nvPr/>
        </p:nvPicPr>
        <p:blipFill>
          <a:blip r:embed="rId4"/>
          <a:stretch>
            <a:fillRect/>
          </a:stretch>
        </p:blipFill>
        <p:spPr>
          <a:xfrm>
            <a:off x="8021574" y="1757934"/>
            <a:ext cx="370332" cy="370332"/>
          </a:xfrm>
          <a:prstGeom prst="rect">
            <a:avLst/>
          </a:prstGeom>
        </p:spPr>
      </p:pic>
      <p:sp>
        <p:nvSpPr>
          <p:cNvPr id="15" name="Text 11"/>
          <p:cNvSpPr txBox="1"/>
          <p:nvPr/>
        </p:nvSpPr>
        <p:spPr>
          <a:xfrm>
            <a:off x="8778240" y="1581912"/>
            <a:ext cx="2862072" cy="365760"/>
          </a:xfrm>
          <a:prstGeom prst="rect">
            <a:avLst/>
          </a:prstGeom>
          <a:noFill/>
          <a:ln/>
        </p:spPr>
        <p:txBody>
          <a:bodyPr wrap="square" lIns="0" tIns="0" rIns="0" bIns="0" rtlCol="0" anchor="t"/>
          <a:lstStyle/>
          <a:p>
            <a:pPr marL="0" indent="0">
              <a:buNone/>
            </a:pPr>
            <a:r>
              <a:rPr lang="es-ES" sz="1800" b="1" noProof="0" dirty="0">
                <a:solidFill>
                  <a:srgbClr val="1F2328"/>
                </a:solidFill>
                <a:latin typeface="Calibri" pitchFamily="34" charset="0"/>
                <a:ea typeface="Calibri" pitchFamily="34" charset="-122"/>
                <a:cs typeface="Calibri" pitchFamily="34" charset="-120"/>
              </a:rPr>
              <a:t>La clave vive en memoria</a:t>
            </a:r>
            <a:endParaRPr lang="es-ES" sz="1800" noProof="0" dirty="0"/>
          </a:p>
        </p:txBody>
      </p:sp>
      <p:sp>
        <p:nvSpPr>
          <p:cNvPr id="16" name="Text 12"/>
          <p:cNvSpPr txBox="1"/>
          <p:nvPr/>
        </p:nvSpPr>
        <p:spPr>
          <a:xfrm>
            <a:off x="8778240" y="1904180"/>
            <a:ext cx="2862072" cy="86868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Se lee como </a:t>
            </a:r>
            <a:r>
              <a:rPr lang="es-ES" sz="1400" noProof="0" dirty="0" err="1">
                <a:solidFill>
                  <a:srgbClr val="5C6470"/>
                </a:solidFill>
                <a:latin typeface="Calibri" pitchFamily="34" charset="0"/>
                <a:ea typeface="Calibri" pitchFamily="34" charset="-122"/>
                <a:cs typeface="Calibri" pitchFamily="34" charset="-120"/>
              </a:rPr>
              <a:t>SecureString</a:t>
            </a:r>
            <a:r>
              <a:rPr lang="es-ES" sz="1400" noProof="0" dirty="0">
                <a:solidFill>
                  <a:srgbClr val="5C6470"/>
                </a:solidFill>
                <a:latin typeface="Calibri" pitchFamily="34" charset="0"/>
                <a:ea typeface="Calibri" pitchFamily="34" charset="-122"/>
                <a:cs typeface="Calibri" pitchFamily="34" charset="-120"/>
              </a:rPr>
              <a:t> y desaparece al cerrar la terminal.</a:t>
            </a:r>
            <a:endParaRPr lang="es-ES" sz="1400" noProof="0" dirty="0"/>
          </a:p>
        </p:txBody>
      </p:sp>
      <p:sp>
        <p:nvSpPr>
          <p:cNvPr id="17" name="Shape 13"/>
          <p:cNvSpPr/>
          <p:nvPr/>
        </p:nvSpPr>
        <p:spPr>
          <a:xfrm>
            <a:off x="7863840" y="2971800"/>
            <a:ext cx="685800" cy="68580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8" name="Image 2" descr="preencoded.png"/>
          <p:cNvPicPr>
            <a:picLocks noChangeAspect="1"/>
          </p:cNvPicPr>
          <p:nvPr/>
        </p:nvPicPr>
        <p:blipFill>
          <a:blip r:embed="rId5"/>
          <a:stretch>
            <a:fillRect/>
          </a:stretch>
        </p:blipFill>
        <p:spPr>
          <a:xfrm>
            <a:off x="8021574" y="3129534"/>
            <a:ext cx="370332" cy="370332"/>
          </a:xfrm>
          <a:prstGeom prst="rect">
            <a:avLst/>
          </a:prstGeom>
        </p:spPr>
      </p:pic>
      <p:sp>
        <p:nvSpPr>
          <p:cNvPr id="19" name="Text 14"/>
          <p:cNvSpPr txBox="1"/>
          <p:nvPr/>
        </p:nvSpPr>
        <p:spPr>
          <a:xfrm>
            <a:off x="8778240" y="2953512"/>
            <a:ext cx="2862072" cy="365760"/>
          </a:xfrm>
          <a:prstGeom prst="rect">
            <a:avLst/>
          </a:prstGeom>
          <a:noFill/>
          <a:ln/>
        </p:spPr>
        <p:txBody>
          <a:bodyPr wrap="square" lIns="0" tIns="0" rIns="0" bIns="0" rtlCol="0" anchor="t"/>
          <a:lstStyle/>
          <a:p>
            <a:pPr marL="0" indent="0">
              <a:buNone/>
            </a:pPr>
            <a:r>
              <a:rPr lang="es-ES" sz="1800" b="1" noProof="0" dirty="0">
                <a:solidFill>
                  <a:srgbClr val="1F2328"/>
                </a:solidFill>
                <a:latin typeface="Calibri" pitchFamily="34" charset="0"/>
                <a:ea typeface="Calibri" pitchFamily="34" charset="-122"/>
                <a:cs typeface="Calibri" pitchFamily="34" charset="-120"/>
              </a:rPr>
              <a:t>Oculta a los agentes</a:t>
            </a:r>
            <a:endParaRPr lang="es-ES" sz="1800" noProof="0" dirty="0"/>
          </a:p>
        </p:txBody>
      </p:sp>
      <p:sp>
        <p:nvSpPr>
          <p:cNvPr id="20" name="Text 15"/>
          <p:cNvSpPr txBox="1"/>
          <p:nvPr/>
        </p:nvSpPr>
        <p:spPr>
          <a:xfrm>
            <a:off x="8778240" y="3275780"/>
            <a:ext cx="2862072" cy="86868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a:t>
            </a:r>
            <a:r>
              <a:rPr lang="es-ES" sz="1400" noProof="0" dirty="0" err="1">
                <a:solidFill>
                  <a:srgbClr val="5C6470"/>
                </a:solidFill>
                <a:latin typeface="Calibri" pitchFamily="34" charset="0"/>
                <a:ea typeface="Calibri" pitchFamily="34" charset="-122"/>
                <a:cs typeface="Calibri" pitchFamily="34" charset="-120"/>
              </a:rPr>
              <a:t>secret-env-vars</a:t>
            </a:r>
            <a:r>
              <a:rPr lang="es-ES" sz="1400" noProof="0" dirty="0">
                <a:solidFill>
                  <a:srgbClr val="5C6470"/>
                </a:solidFill>
                <a:latin typeface="Calibri" pitchFamily="34" charset="0"/>
                <a:ea typeface="Calibri" pitchFamily="34" charset="-122"/>
                <a:cs typeface="Calibri" pitchFamily="34" charset="-120"/>
              </a:rPr>
              <a:t> la protege de </a:t>
            </a:r>
            <a:r>
              <a:rPr lang="es-ES" sz="1400" noProof="0" dirty="0" err="1">
                <a:solidFill>
                  <a:srgbClr val="5C6470"/>
                </a:solidFill>
                <a:latin typeface="Calibri" pitchFamily="34" charset="0"/>
                <a:ea typeface="Calibri" pitchFamily="34" charset="-122"/>
                <a:cs typeface="Calibri" pitchFamily="34" charset="-120"/>
              </a:rPr>
              <a:t>shells</a:t>
            </a:r>
            <a:r>
              <a:rPr lang="es-ES" sz="1400" noProof="0" dirty="0">
                <a:solidFill>
                  <a:srgbClr val="5C6470"/>
                </a:solidFill>
                <a:latin typeface="Calibri" pitchFamily="34" charset="0"/>
                <a:ea typeface="Calibri" pitchFamily="34" charset="-122"/>
                <a:cs typeface="Calibri" pitchFamily="34" charset="-120"/>
              </a:rPr>
              <a:t> y servidores MCP.</a:t>
            </a:r>
            <a:endParaRPr lang="es-ES" sz="1400" noProof="0" dirty="0"/>
          </a:p>
        </p:txBody>
      </p:sp>
      <p:sp>
        <p:nvSpPr>
          <p:cNvPr id="21" name="Shape 16"/>
          <p:cNvSpPr/>
          <p:nvPr/>
        </p:nvSpPr>
        <p:spPr>
          <a:xfrm>
            <a:off x="7863840" y="4343400"/>
            <a:ext cx="685800" cy="685800"/>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22" name="Image 3" descr="preencoded.png"/>
          <p:cNvPicPr>
            <a:picLocks noChangeAspect="1"/>
          </p:cNvPicPr>
          <p:nvPr/>
        </p:nvPicPr>
        <p:blipFill>
          <a:blip r:embed="rId6"/>
          <a:stretch>
            <a:fillRect/>
          </a:stretch>
        </p:blipFill>
        <p:spPr>
          <a:xfrm>
            <a:off x="8021574" y="4501134"/>
            <a:ext cx="370332" cy="370332"/>
          </a:xfrm>
          <a:prstGeom prst="rect">
            <a:avLst/>
          </a:prstGeom>
        </p:spPr>
      </p:pic>
      <p:sp>
        <p:nvSpPr>
          <p:cNvPr id="23" name="Text 17"/>
          <p:cNvSpPr txBox="1"/>
          <p:nvPr/>
        </p:nvSpPr>
        <p:spPr>
          <a:xfrm>
            <a:off x="8778240" y="4325112"/>
            <a:ext cx="2862072" cy="365760"/>
          </a:xfrm>
          <a:prstGeom prst="rect">
            <a:avLst/>
          </a:prstGeom>
          <a:noFill/>
          <a:ln/>
        </p:spPr>
        <p:txBody>
          <a:bodyPr wrap="square" lIns="0" tIns="0" rIns="0" bIns="0" rtlCol="0" anchor="t"/>
          <a:lstStyle/>
          <a:p>
            <a:pPr marL="0" indent="0">
              <a:buNone/>
            </a:pPr>
            <a:r>
              <a:rPr lang="es-ES" sz="1800" b="1" noProof="0" dirty="0">
                <a:solidFill>
                  <a:srgbClr val="1F2328"/>
                </a:solidFill>
                <a:latin typeface="Calibri" pitchFamily="34" charset="0"/>
                <a:ea typeface="Calibri" pitchFamily="34" charset="-122"/>
                <a:cs typeface="Calibri" pitchFamily="34" charset="-120"/>
              </a:rPr>
              <a:t>Sin </a:t>
            </a:r>
            <a:r>
              <a:rPr lang="es-ES" sz="1800" b="1" noProof="0" dirty="0" err="1">
                <a:solidFill>
                  <a:srgbClr val="1F2328"/>
                </a:solidFill>
                <a:latin typeface="Calibri" pitchFamily="34" charset="0"/>
                <a:ea typeface="Calibri" pitchFamily="34" charset="-122"/>
                <a:cs typeface="Calibri" pitchFamily="34" charset="-120"/>
              </a:rPr>
              <a:t>fallback</a:t>
            </a:r>
            <a:r>
              <a:rPr lang="es-ES" sz="1800" b="1" noProof="0" dirty="0">
                <a:solidFill>
                  <a:srgbClr val="1F2328"/>
                </a:solidFill>
                <a:latin typeface="Calibri" pitchFamily="34" charset="0"/>
                <a:ea typeface="Calibri" pitchFamily="34" charset="-122"/>
                <a:cs typeface="Calibri" pitchFamily="34" charset="-120"/>
              </a:rPr>
              <a:t> silencioso</a:t>
            </a:r>
            <a:endParaRPr lang="es-ES" sz="1800" noProof="0" dirty="0"/>
          </a:p>
        </p:txBody>
      </p:sp>
      <p:sp>
        <p:nvSpPr>
          <p:cNvPr id="24" name="Text 18"/>
          <p:cNvSpPr txBox="1"/>
          <p:nvPr/>
        </p:nvSpPr>
        <p:spPr>
          <a:xfrm>
            <a:off x="8778240" y="4647380"/>
            <a:ext cx="2862072" cy="86868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Con una clave inválida el </a:t>
            </a:r>
            <a:r>
              <a:rPr lang="es-ES" sz="1400" noProof="0" dirty="0" err="1">
                <a:solidFill>
                  <a:srgbClr val="5C6470"/>
                </a:solidFill>
                <a:latin typeface="Calibri" pitchFamily="34" charset="0"/>
                <a:ea typeface="Calibri" pitchFamily="34" charset="-122"/>
                <a:cs typeface="Calibri" pitchFamily="34" charset="-120"/>
              </a:rPr>
              <a:t>gateway</a:t>
            </a:r>
            <a:r>
              <a:rPr lang="es-ES" sz="1400" noProof="0" dirty="0">
                <a:solidFill>
                  <a:srgbClr val="5C6470"/>
                </a:solidFill>
                <a:latin typeface="Calibri" pitchFamily="34" charset="0"/>
                <a:ea typeface="Calibri" pitchFamily="34" charset="-122"/>
                <a:cs typeface="Calibri" pitchFamily="34" charset="-120"/>
              </a:rPr>
              <a:t> responde 401; Copilot no usa los modelos de la licencia.</a:t>
            </a:r>
            <a:endParaRPr lang="es-ES" sz="14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GOBIERNO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APIM: una API, tres suscripciones</a:t>
            </a:r>
            <a:endParaRPr lang="es-ES" sz="3200" noProof="0" dirty="0"/>
          </a:p>
        </p:txBody>
      </p:sp>
      <p:sp>
        <p:nvSpPr>
          <p:cNvPr id="4" name="Shape 2"/>
          <p:cNvSpPr/>
          <p:nvPr/>
        </p:nvSpPr>
        <p:spPr>
          <a:xfrm>
            <a:off x="548640" y="1554480"/>
            <a:ext cx="3566160" cy="2971800"/>
          </a:xfrm>
          <a:prstGeom prst="roundRect">
            <a:avLst>
              <a:gd name="adj" fmla="val 4308"/>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822960" y="1783080"/>
            <a:ext cx="566928" cy="566928"/>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953353" y="1913473"/>
            <a:ext cx="306141" cy="306141"/>
          </a:xfrm>
          <a:prstGeom prst="rect">
            <a:avLst/>
          </a:prstGeom>
        </p:spPr>
      </p:pic>
      <p:sp>
        <p:nvSpPr>
          <p:cNvPr id="7" name="Text 4"/>
          <p:cNvSpPr txBox="1"/>
          <p:nvPr/>
        </p:nvSpPr>
        <p:spPr>
          <a:xfrm>
            <a:off x="1554480" y="1783080"/>
            <a:ext cx="2377440" cy="566928"/>
          </a:xfrm>
          <a:prstGeom prst="rect">
            <a:avLst/>
          </a:prstGeom>
          <a:noFill/>
          <a:ln/>
        </p:spPr>
        <p:txBody>
          <a:bodyPr wrap="square" lIns="0" tIns="0" rIns="0" bIns="0" rtlCol="0" anchor="ctr"/>
          <a:lstStyle/>
          <a:p>
            <a:pPr marL="0" indent="0">
              <a:buNone/>
            </a:pPr>
            <a:r>
              <a:rPr lang="es-ES" sz="1700" b="1" noProof="0" dirty="0">
                <a:solidFill>
                  <a:srgbClr val="0B7F6B"/>
                </a:solidFill>
                <a:latin typeface="Consolas" pitchFamily="34" charset="0"/>
                <a:ea typeface="Consolas" pitchFamily="34" charset="-122"/>
                <a:cs typeface="Consolas" pitchFamily="34" charset="-120"/>
              </a:rPr>
              <a:t>demo-</a:t>
            </a:r>
            <a:r>
              <a:rPr lang="es-ES" sz="1700" b="1" noProof="0" dirty="0" err="1">
                <a:solidFill>
                  <a:srgbClr val="0B7F6B"/>
                </a:solidFill>
                <a:latin typeface="Consolas" pitchFamily="34" charset="0"/>
                <a:ea typeface="Consolas" pitchFamily="34" charset="-122"/>
                <a:cs typeface="Consolas" pitchFamily="34" charset="-120"/>
              </a:rPr>
              <a:t>inference</a:t>
            </a:r>
            <a:endParaRPr lang="es-ES" sz="1700" noProof="0" dirty="0"/>
          </a:p>
        </p:txBody>
      </p:sp>
      <p:sp>
        <p:nvSpPr>
          <p:cNvPr id="8" name="Text 5"/>
          <p:cNvSpPr txBox="1"/>
          <p:nvPr/>
        </p:nvSpPr>
        <p:spPr>
          <a:xfrm>
            <a:off x="822960" y="2560320"/>
            <a:ext cx="3017520" cy="32004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Squad y Copilot durante toda la demo</a:t>
            </a:r>
            <a:endParaRPr lang="es-ES" sz="1400" noProof="0" dirty="0"/>
          </a:p>
        </p:txBody>
      </p:sp>
      <p:sp>
        <p:nvSpPr>
          <p:cNvPr id="9" name="Text 6"/>
          <p:cNvSpPr txBox="1"/>
          <p:nvPr/>
        </p:nvSpPr>
        <p:spPr>
          <a:xfrm>
            <a:off x="822960" y="3017520"/>
            <a:ext cx="3017520" cy="685800"/>
          </a:xfrm>
          <a:prstGeom prst="rect">
            <a:avLst/>
          </a:prstGeom>
          <a:noFill/>
          <a:ln/>
        </p:spPr>
        <p:txBody>
          <a:bodyPr wrap="square" lIns="0" tIns="0" rIns="0" bIns="0" rtlCol="0" anchor="t"/>
          <a:lstStyle/>
          <a:p>
            <a:pPr marL="0" indent="0">
              <a:buNone/>
            </a:pPr>
            <a:r>
              <a:rPr lang="es-ES" sz="3600" b="1" noProof="0" dirty="0">
                <a:solidFill>
                  <a:srgbClr val="1F2328"/>
                </a:solidFill>
                <a:latin typeface="Calibri" pitchFamily="34" charset="0"/>
                <a:ea typeface="Calibri" pitchFamily="34" charset="-122"/>
                <a:cs typeface="Calibri" pitchFamily="34" charset="-120"/>
              </a:rPr>
              <a:t>Sin límite</a:t>
            </a:r>
            <a:endParaRPr lang="es-ES" sz="3600" noProof="0" dirty="0"/>
          </a:p>
        </p:txBody>
      </p:sp>
      <p:sp>
        <p:nvSpPr>
          <p:cNvPr id="10" name="Text 7"/>
          <p:cNvSpPr txBox="1"/>
          <p:nvPr/>
        </p:nvSpPr>
        <p:spPr>
          <a:xfrm>
            <a:off x="822960" y="3749040"/>
            <a:ext cx="3017520" cy="548640"/>
          </a:xfrm>
          <a:prstGeom prst="rect">
            <a:avLst/>
          </a:prstGeom>
          <a:noFill/>
          <a:ln/>
        </p:spPr>
        <p:txBody>
          <a:bodyPr wrap="square" lIns="0" tIns="0" rIns="0" bIns="0" rtlCol="0" anchor="t"/>
          <a:lstStyle/>
          <a:p>
            <a:pPr marL="0" indent="0">
              <a:buNone/>
            </a:pPr>
            <a:r>
              <a:rPr lang="es-ES" sz="1350" noProof="0" dirty="0" err="1">
                <a:solidFill>
                  <a:srgbClr val="5C6470"/>
                </a:solidFill>
                <a:latin typeface="Calibri" pitchFamily="34" charset="0"/>
                <a:ea typeface="Calibri" pitchFamily="34" charset="-122"/>
                <a:cs typeface="Calibri" pitchFamily="34" charset="-120"/>
              </a:rPr>
              <a:t>Foundry</a:t>
            </a:r>
            <a:r>
              <a:rPr lang="es-ES" sz="1350" noProof="0" dirty="0">
                <a:solidFill>
                  <a:srgbClr val="5C6470"/>
                </a:solidFill>
                <a:latin typeface="Calibri" pitchFamily="34" charset="0"/>
                <a:ea typeface="Calibri" pitchFamily="34" charset="-122"/>
                <a:cs typeface="Calibri" pitchFamily="34" charset="-120"/>
              </a:rPr>
              <a:t> conserva sus propios límites</a:t>
            </a:r>
            <a:endParaRPr lang="es-ES" sz="1350" noProof="0" dirty="0"/>
          </a:p>
        </p:txBody>
      </p:sp>
      <p:sp>
        <p:nvSpPr>
          <p:cNvPr id="11" name="Shape 8"/>
          <p:cNvSpPr/>
          <p:nvPr/>
        </p:nvSpPr>
        <p:spPr>
          <a:xfrm>
            <a:off x="4297680" y="1554480"/>
            <a:ext cx="3566160" cy="2971800"/>
          </a:xfrm>
          <a:prstGeom prst="roundRect">
            <a:avLst>
              <a:gd name="adj" fmla="val 4308"/>
            </a:avLst>
          </a:prstGeom>
          <a:solidFill>
            <a:srgbClr val="F4F2FB"/>
          </a:solidFill>
          <a:ln w="12700">
            <a:solidFill>
              <a:srgbClr val="F4F2FB"/>
            </a:solidFill>
            <a:prstDash val="solid"/>
          </a:ln>
        </p:spPr>
        <p:txBody>
          <a:bodyPr/>
          <a:lstStyle/>
          <a:p>
            <a:endParaRPr lang="es-ES" noProof="0" dirty="0"/>
          </a:p>
        </p:txBody>
      </p:sp>
      <p:sp>
        <p:nvSpPr>
          <p:cNvPr id="12" name="Shape 9"/>
          <p:cNvSpPr/>
          <p:nvPr/>
        </p:nvSpPr>
        <p:spPr>
          <a:xfrm>
            <a:off x="4572000" y="1783080"/>
            <a:ext cx="566928" cy="566928"/>
          </a:xfrm>
          <a:prstGeom prst="roundRect">
            <a:avLst>
              <a:gd name="adj" fmla="val 20000"/>
            </a:avLst>
          </a:prstGeom>
          <a:solidFill>
            <a:srgbClr val="7C4DDB"/>
          </a:solidFill>
          <a:ln w="12700">
            <a:solidFill>
              <a:srgbClr val="7C4DDB"/>
            </a:solidFill>
            <a:prstDash val="solid"/>
          </a:ln>
        </p:spPr>
        <p:txBody>
          <a:bodyPr/>
          <a:lstStyle/>
          <a:p>
            <a:endParaRPr lang="es-ES" noProof="0" dirty="0"/>
          </a:p>
        </p:txBody>
      </p:sp>
      <p:pic>
        <p:nvPicPr>
          <p:cNvPr id="13" name="Image 1" descr="preencoded.png"/>
          <p:cNvPicPr>
            <a:picLocks noChangeAspect="1"/>
          </p:cNvPicPr>
          <p:nvPr/>
        </p:nvPicPr>
        <p:blipFill>
          <a:blip r:embed="rId4"/>
          <a:stretch>
            <a:fillRect/>
          </a:stretch>
        </p:blipFill>
        <p:spPr>
          <a:xfrm>
            <a:off x="4702393" y="1913473"/>
            <a:ext cx="306141" cy="306141"/>
          </a:xfrm>
          <a:prstGeom prst="rect">
            <a:avLst/>
          </a:prstGeom>
        </p:spPr>
      </p:pic>
      <p:sp>
        <p:nvSpPr>
          <p:cNvPr id="14" name="Text 10"/>
          <p:cNvSpPr txBox="1"/>
          <p:nvPr/>
        </p:nvSpPr>
        <p:spPr>
          <a:xfrm>
            <a:off x="5303520" y="1783080"/>
            <a:ext cx="2377440" cy="566928"/>
          </a:xfrm>
          <a:prstGeom prst="rect">
            <a:avLst/>
          </a:prstGeom>
          <a:noFill/>
          <a:ln/>
        </p:spPr>
        <p:txBody>
          <a:bodyPr wrap="square" lIns="0" tIns="0" rIns="0" bIns="0" rtlCol="0" anchor="ctr"/>
          <a:lstStyle/>
          <a:p>
            <a:pPr marL="0" indent="0">
              <a:buNone/>
            </a:pPr>
            <a:r>
              <a:rPr lang="es-ES" sz="1700" b="1" noProof="0" dirty="0">
                <a:solidFill>
                  <a:srgbClr val="5B34B0"/>
                </a:solidFill>
                <a:latin typeface="Consolas" pitchFamily="34" charset="0"/>
                <a:ea typeface="Consolas" pitchFamily="34" charset="-122"/>
                <a:cs typeface="Consolas" pitchFamily="34" charset="-120"/>
              </a:rPr>
              <a:t>demo-</a:t>
            </a:r>
            <a:r>
              <a:rPr lang="es-ES" sz="1700" b="1" noProof="0" dirty="0" err="1">
                <a:solidFill>
                  <a:srgbClr val="5B34B0"/>
                </a:solidFill>
                <a:latin typeface="Consolas" pitchFamily="34" charset="0"/>
                <a:ea typeface="Consolas" pitchFamily="34" charset="-122"/>
                <a:cs typeface="Consolas" pitchFamily="34" charset="-120"/>
              </a:rPr>
              <a:t>failover</a:t>
            </a:r>
            <a:endParaRPr lang="es-ES" sz="1700" noProof="0" dirty="0"/>
          </a:p>
        </p:txBody>
      </p:sp>
      <p:sp>
        <p:nvSpPr>
          <p:cNvPr id="15" name="Text 11"/>
          <p:cNvSpPr txBox="1"/>
          <p:nvPr/>
        </p:nvSpPr>
        <p:spPr>
          <a:xfrm>
            <a:off x="4572000" y="2560320"/>
            <a:ext cx="3017520" cy="32004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Prueba de conmutación regional</a:t>
            </a:r>
            <a:endParaRPr lang="es-ES" sz="1400" noProof="0" dirty="0"/>
          </a:p>
        </p:txBody>
      </p:sp>
      <p:sp>
        <p:nvSpPr>
          <p:cNvPr id="16" name="Text 12"/>
          <p:cNvSpPr txBox="1"/>
          <p:nvPr/>
        </p:nvSpPr>
        <p:spPr>
          <a:xfrm>
            <a:off x="4572000" y="3017520"/>
            <a:ext cx="3017520" cy="685800"/>
          </a:xfrm>
          <a:prstGeom prst="rect">
            <a:avLst/>
          </a:prstGeom>
          <a:noFill/>
          <a:ln/>
        </p:spPr>
        <p:txBody>
          <a:bodyPr wrap="square" lIns="0" tIns="0" rIns="0" bIns="0" rtlCol="0" anchor="t"/>
          <a:lstStyle/>
          <a:p>
            <a:pPr marL="0" indent="0">
              <a:buNone/>
            </a:pPr>
            <a:r>
              <a:rPr lang="es-ES" sz="3600" b="1" noProof="0" dirty="0">
                <a:solidFill>
                  <a:srgbClr val="1F2328"/>
                </a:solidFill>
                <a:latin typeface="Calibri" pitchFamily="34" charset="0"/>
                <a:ea typeface="Calibri" pitchFamily="34" charset="-122"/>
                <a:cs typeface="Calibri" pitchFamily="34" charset="-120"/>
              </a:rPr>
              <a:t>60.000 TPM</a:t>
            </a:r>
            <a:endParaRPr lang="es-ES" sz="3600" noProof="0" dirty="0"/>
          </a:p>
        </p:txBody>
      </p:sp>
      <p:sp>
        <p:nvSpPr>
          <p:cNvPr id="17" name="Text 13"/>
          <p:cNvSpPr txBox="1"/>
          <p:nvPr/>
        </p:nvSpPr>
        <p:spPr>
          <a:xfrm>
            <a:off x="4572000" y="3749040"/>
            <a:ext cx="3017520" cy="54864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Más una cuota diaria de 500.000 tokens</a:t>
            </a:r>
            <a:endParaRPr lang="es-ES" sz="1350" noProof="0" dirty="0"/>
          </a:p>
        </p:txBody>
      </p:sp>
      <p:sp>
        <p:nvSpPr>
          <p:cNvPr id="18" name="Shape 14"/>
          <p:cNvSpPr/>
          <p:nvPr/>
        </p:nvSpPr>
        <p:spPr>
          <a:xfrm>
            <a:off x="8046720" y="1554480"/>
            <a:ext cx="3566160" cy="2971800"/>
          </a:xfrm>
          <a:prstGeom prst="roundRect">
            <a:avLst>
              <a:gd name="adj" fmla="val 4308"/>
            </a:avLst>
          </a:prstGeom>
          <a:solidFill>
            <a:srgbClr val="F4F2FB"/>
          </a:solidFill>
          <a:ln w="12700">
            <a:solidFill>
              <a:srgbClr val="F4F2FB"/>
            </a:solidFill>
            <a:prstDash val="solid"/>
          </a:ln>
        </p:spPr>
        <p:txBody>
          <a:bodyPr/>
          <a:lstStyle/>
          <a:p>
            <a:endParaRPr lang="es-ES" noProof="0" dirty="0"/>
          </a:p>
        </p:txBody>
      </p:sp>
      <p:sp>
        <p:nvSpPr>
          <p:cNvPr id="19" name="Shape 15"/>
          <p:cNvSpPr/>
          <p:nvPr/>
        </p:nvSpPr>
        <p:spPr>
          <a:xfrm>
            <a:off x="8321040" y="1783080"/>
            <a:ext cx="566928" cy="566928"/>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20" name="Image 2" descr="preencoded.png"/>
          <p:cNvPicPr>
            <a:picLocks noChangeAspect="1"/>
          </p:cNvPicPr>
          <p:nvPr/>
        </p:nvPicPr>
        <p:blipFill>
          <a:blip r:embed="rId5"/>
          <a:stretch>
            <a:fillRect/>
          </a:stretch>
        </p:blipFill>
        <p:spPr>
          <a:xfrm>
            <a:off x="8451433" y="1913473"/>
            <a:ext cx="306141" cy="306141"/>
          </a:xfrm>
          <a:prstGeom prst="rect">
            <a:avLst/>
          </a:prstGeom>
        </p:spPr>
      </p:pic>
      <p:sp>
        <p:nvSpPr>
          <p:cNvPr id="21" name="Text 16"/>
          <p:cNvSpPr txBox="1"/>
          <p:nvPr/>
        </p:nvSpPr>
        <p:spPr>
          <a:xfrm>
            <a:off x="9052560" y="1783080"/>
            <a:ext cx="2377440" cy="566928"/>
          </a:xfrm>
          <a:prstGeom prst="rect">
            <a:avLst/>
          </a:prstGeom>
          <a:noFill/>
          <a:ln/>
        </p:spPr>
        <p:txBody>
          <a:bodyPr wrap="square" lIns="0" tIns="0" rIns="0" bIns="0" rtlCol="0" anchor="ctr"/>
          <a:lstStyle/>
          <a:p>
            <a:pPr marL="0" indent="0">
              <a:buNone/>
            </a:pPr>
            <a:r>
              <a:rPr lang="es-ES" sz="1700" b="1" noProof="0" dirty="0">
                <a:solidFill>
                  <a:srgbClr val="E0524A"/>
                </a:solidFill>
                <a:latin typeface="Consolas" pitchFamily="34" charset="0"/>
                <a:ea typeface="Consolas" pitchFamily="34" charset="-122"/>
                <a:cs typeface="Consolas" pitchFamily="34" charset="-120"/>
              </a:rPr>
              <a:t>demo-</a:t>
            </a:r>
            <a:r>
              <a:rPr lang="es-ES" sz="1700" b="1" noProof="0" dirty="0" err="1">
                <a:solidFill>
                  <a:srgbClr val="E0524A"/>
                </a:solidFill>
                <a:latin typeface="Consolas" pitchFamily="34" charset="0"/>
                <a:ea typeface="Consolas" pitchFamily="34" charset="-122"/>
                <a:cs typeface="Consolas" pitchFamily="34" charset="-120"/>
              </a:rPr>
              <a:t>ratelimit</a:t>
            </a:r>
            <a:endParaRPr lang="es-ES" sz="1700" noProof="0" dirty="0"/>
          </a:p>
        </p:txBody>
      </p:sp>
      <p:sp>
        <p:nvSpPr>
          <p:cNvPr id="22" name="Text 17"/>
          <p:cNvSpPr txBox="1"/>
          <p:nvPr/>
        </p:nvSpPr>
        <p:spPr>
          <a:xfrm>
            <a:off x="8321040" y="2560320"/>
            <a:ext cx="3017520" cy="32004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Provocar un HTTP 429 a demanda</a:t>
            </a:r>
            <a:endParaRPr lang="es-ES" sz="1400" noProof="0" dirty="0"/>
          </a:p>
        </p:txBody>
      </p:sp>
      <p:sp>
        <p:nvSpPr>
          <p:cNvPr id="23" name="Text 18"/>
          <p:cNvSpPr txBox="1"/>
          <p:nvPr/>
        </p:nvSpPr>
        <p:spPr>
          <a:xfrm>
            <a:off x="8321040" y="3017520"/>
            <a:ext cx="3017520" cy="685800"/>
          </a:xfrm>
          <a:prstGeom prst="rect">
            <a:avLst/>
          </a:prstGeom>
          <a:noFill/>
          <a:ln/>
        </p:spPr>
        <p:txBody>
          <a:bodyPr wrap="square" lIns="0" tIns="0" rIns="0" bIns="0" rtlCol="0" anchor="t"/>
          <a:lstStyle/>
          <a:p>
            <a:pPr marL="0" indent="0">
              <a:buNone/>
            </a:pPr>
            <a:r>
              <a:rPr lang="es-ES" sz="3600" b="1" noProof="0" dirty="0">
                <a:solidFill>
                  <a:srgbClr val="1F2328"/>
                </a:solidFill>
                <a:latin typeface="Calibri" pitchFamily="34" charset="0"/>
                <a:ea typeface="Calibri" pitchFamily="34" charset="-122"/>
                <a:cs typeface="Calibri" pitchFamily="34" charset="-120"/>
              </a:rPr>
              <a:t>2.000 TPM</a:t>
            </a:r>
            <a:endParaRPr lang="es-ES" sz="3600" noProof="0" dirty="0"/>
          </a:p>
        </p:txBody>
      </p:sp>
      <p:sp>
        <p:nvSpPr>
          <p:cNvPr id="24" name="Text 19"/>
          <p:cNvSpPr txBox="1"/>
          <p:nvPr/>
        </p:nvSpPr>
        <p:spPr>
          <a:xfrm>
            <a:off x="8321040" y="3749040"/>
            <a:ext cx="3291840" cy="548640"/>
          </a:xfrm>
          <a:prstGeom prst="rect">
            <a:avLst/>
          </a:prstGeom>
          <a:noFill/>
          <a:ln/>
        </p:spPr>
        <p:txBody>
          <a:bodyPr wrap="square" lIns="0" tIns="0" rIns="0" bIns="0" rtlCol="0" anchor="t"/>
          <a:lstStyle/>
          <a:p>
            <a:pPr marL="0" indent="0">
              <a:buNone/>
            </a:pPr>
            <a:r>
              <a:rPr lang="es-ES" sz="1350" noProof="0" dirty="0">
                <a:solidFill>
                  <a:srgbClr val="5C6470"/>
                </a:solidFill>
                <a:latin typeface="Calibri" pitchFamily="34" charset="0"/>
                <a:ea typeface="Calibri" pitchFamily="34" charset="-122"/>
                <a:cs typeface="Calibri" pitchFamily="34" charset="-120"/>
              </a:rPr>
              <a:t>Y estimación previa de los tokens del prompt</a:t>
            </a:r>
            <a:endParaRPr lang="es-ES" sz="1350" noProof="0" dirty="0"/>
          </a:p>
        </p:txBody>
      </p:sp>
      <p:sp>
        <p:nvSpPr>
          <p:cNvPr id="25" name="Text 20"/>
          <p:cNvSpPr txBox="1"/>
          <p:nvPr/>
        </p:nvSpPr>
        <p:spPr>
          <a:xfrm>
            <a:off x="548640" y="4754880"/>
            <a:ext cx="7315200" cy="320040"/>
          </a:xfrm>
          <a:prstGeom prst="rect">
            <a:avLst/>
          </a:prstGeom>
          <a:noFill/>
          <a:ln/>
        </p:spPr>
        <p:txBody>
          <a:bodyPr wrap="square" lIns="0" tIns="0" rIns="0" bIns="0" rtlCol="0" anchor="t"/>
          <a:lstStyle/>
          <a:p>
            <a:pPr marL="0" indent="0">
              <a:buNone/>
            </a:pPr>
            <a:r>
              <a:rPr lang="es-ES" sz="1700" b="1" noProof="0" dirty="0">
                <a:solidFill>
                  <a:srgbClr val="1F2328"/>
                </a:solidFill>
                <a:latin typeface="Calibri" pitchFamily="34" charset="0"/>
                <a:ea typeface="Calibri" pitchFamily="34" charset="-122"/>
                <a:cs typeface="Calibri" pitchFamily="34" charset="-120"/>
              </a:rPr>
              <a:t>Políticas en la operación /responses</a:t>
            </a:r>
            <a:endParaRPr lang="es-ES" sz="1700" noProof="0" dirty="0"/>
          </a:p>
        </p:txBody>
      </p:sp>
      <p:sp>
        <p:nvSpPr>
          <p:cNvPr id="26" name="Shape 21"/>
          <p:cNvSpPr/>
          <p:nvPr/>
        </p:nvSpPr>
        <p:spPr>
          <a:xfrm>
            <a:off x="548640" y="5193792"/>
            <a:ext cx="1828800" cy="402336"/>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27" name="Text 22"/>
          <p:cNvSpPr txBox="1"/>
          <p:nvPr/>
        </p:nvSpPr>
        <p:spPr>
          <a:xfrm>
            <a:off x="548640" y="5193792"/>
            <a:ext cx="1828800" cy="402336"/>
          </a:xfrm>
          <a:prstGeom prst="rect">
            <a:avLst/>
          </a:prstGeom>
          <a:noFill/>
          <a:ln/>
        </p:spPr>
        <p:txBody>
          <a:bodyPr wrap="square" lIns="0" tIns="0" rIns="0" bIns="0" rtlCol="0" anchor="ctr"/>
          <a:lstStyle/>
          <a:p>
            <a:pPr marL="0" indent="0" algn="ctr">
              <a:buNone/>
            </a:pPr>
            <a:r>
              <a:rPr lang="es-ES" sz="1300" b="1" noProof="0" dirty="0" err="1">
                <a:solidFill>
                  <a:srgbClr val="5B34B0"/>
                </a:solidFill>
                <a:latin typeface="Consolas" pitchFamily="34" charset="0"/>
                <a:ea typeface="Consolas" pitchFamily="34" charset="-122"/>
                <a:cs typeface="Consolas" pitchFamily="34" charset="-120"/>
              </a:rPr>
              <a:t>llm</a:t>
            </a:r>
            <a:r>
              <a:rPr lang="es-ES" sz="1300" b="1" noProof="0" dirty="0">
                <a:solidFill>
                  <a:srgbClr val="5B34B0"/>
                </a:solidFill>
                <a:latin typeface="Consolas" pitchFamily="34" charset="0"/>
                <a:ea typeface="Consolas" pitchFamily="34" charset="-122"/>
                <a:cs typeface="Consolas" pitchFamily="34" charset="-120"/>
              </a:rPr>
              <a:t>-token-</a:t>
            </a:r>
            <a:r>
              <a:rPr lang="es-ES" sz="1300" b="1" noProof="0" dirty="0" err="1">
                <a:solidFill>
                  <a:srgbClr val="5B34B0"/>
                </a:solidFill>
                <a:latin typeface="Consolas" pitchFamily="34" charset="0"/>
                <a:ea typeface="Consolas" pitchFamily="34" charset="-122"/>
                <a:cs typeface="Consolas" pitchFamily="34" charset="-120"/>
              </a:rPr>
              <a:t>limit</a:t>
            </a:r>
            <a:endParaRPr lang="es-ES" sz="1300" noProof="0" dirty="0"/>
          </a:p>
        </p:txBody>
      </p:sp>
      <p:sp>
        <p:nvSpPr>
          <p:cNvPr id="28" name="Shape 23"/>
          <p:cNvSpPr/>
          <p:nvPr/>
        </p:nvSpPr>
        <p:spPr>
          <a:xfrm>
            <a:off x="2560320" y="5193792"/>
            <a:ext cx="2377440" cy="402336"/>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29" name="Text 24"/>
          <p:cNvSpPr txBox="1"/>
          <p:nvPr/>
        </p:nvSpPr>
        <p:spPr>
          <a:xfrm>
            <a:off x="2560320" y="5193792"/>
            <a:ext cx="2377440" cy="402336"/>
          </a:xfrm>
          <a:prstGeom prst="rect">
            <a:avLst/>
          </a:prstGeom>
          <a:noFill/>
          <a:ln/>
        </p:spPr>
        <p:txBody>
          <a:bodyPr wrap="square" lIns="0" tIns="0" rIns="0" bIns="0" rtlCol="0" anchor="ctr"/>
          <a:lstStyle/>
          <a:p>
            <a:pPr marL="0" indent="0" algn="ctr">
              <a:buNone/>
            </a:pPr>
            <a:r>
              <a:rPr lang="es-ES" sz="1300" b="1" noProof="0" dirty="0" err="1">
                <a:solidFill>
                  <a:srgbClr val="5B34B0"/>
                </a:solidFill>
                <a:latin typeface="Consolas" pitchFamily="34" charset="0"/>
                <a:ea typeface="Consolas" pitchFamily="34" charset="-122"/>
                <a:cs typeface="Consolas" pitchFamily="34" charset="-120"/>
              </a:rPr>
              <a:t>llm</a:t>
            </a:r>
            <a:r>
              <a:rPr lang="es-ES" sz="1300" b="1" noProof="0" dirty="0">
                <a:solidFill>
                  <a:srgbClr val="5B34B0"/>
                </a:solidFill>
                <a:latin typeface="Consolas" pitchFamily="34" charset="0"/>
                <a:ea typeface="Consolas" pitchFamily="34" charset="-122"/>
                <a:cs typeface="Consolas" pitchFamily="34" charset="-120"/>
              </a:rPr>
              <a:t>-</a:t>
            </a:r>
            <a:r>
              <a:rPr lang="es-ES" sz="1300" b="1" noProof="0" dirty="0" err="1">
                <a:solidFill>
                  <a:srgbClr val="5B34B0"/>
                </a:solidFill>
                <a:latin typeface="Consolas" pitchFamily="34" charset="0"/>
                <a:ea typeface="Consolas" pitchFamily="34" charset="-122"/>
                <a:cs typeface="Consolas" pitchFamily="34" charset="-120"/>
              </a:rPr>
              <a:t>emit</a:t>
            </a:r>
            <a:r>
              <a:rPr lang="es-ES" sz="1300" b="1" noProof="0" dirty="0">
                <a:solidFill>
                  <a:srgbClr val="5B34B0"/>
                </a:solidFill>
                <a:latin typeface="Consolas" pitchFamily="34" charset="0"/>
                <a:ea typeface="Consolas" pitchFamily="34" charset="-122"/>
                <a:cs typeface="Consolas" pitchFamily="34" charset="-120"/>
              </a:rPr>
              <a:t>-token-</a:t>
            </a:r>
            <a:r>
              <a:rPr lang="es-ES" sz="1300" b="1" noProof="0" dirty="0" err="1">
                <a:solidFill>
                  <a:srgbClr val="5B34B0"/>
                </a:solidFill>
                <a:latin typeface="Consolas" pitchFamily="34" charset="0"/>
                <a:ea typeface="Consolas" pitchFamily="34" charset="-122"/>
                <a:cs typeface="Consolas" pitchFamily="34" charset="-120"/>
              </a:rPr>
              <a:t>metric</a:t>
            </a:r>
            <a:endParaRPr lang="es-ES" sz="1300" noProof="0" dirty="0"/>
          </a:p>
        </p:txBody>
      </p:sp>
      <p:sp>
        <p:nvSpPr>
          <p:cNvPr id="30" name="Shape 25"/>
          <p:cNvSpPr/>
          <p:nvPr/>
        </p:nvSpPr>
        <p:spPr>
          <a:xfrm>
            <a:off x="5120640" y="5193792"/>
            <a:ext cx="3291840" cy="402336"/>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31" name="Text 26"/>
          <p:cNvSpPr txBox="1"/>
          <p:nvPr/>
        </p:nvSpPr>
        <p:spPr>
          <a:xfrm>
            <a:off x="5120640" y="5193792"/>
            <a:ext cx="3291840" cy="402336"/>
          </a:xfrm>
          <a:prstGeom prst="rect">
            <a:avLst/>
          </a:prstGeom>
          <a:noFill/>
          <a:ln/>
        </p:spPr>
        <p:txBody>
          <a:bodyPr wrap="square" lIns="0" tIns="0" rIns="0" bIns="0" rtlCol="0" anchor="ctr"/>
          <a:lstStyle/>
          <a:p>
            <a:pPr marL="0" indent="0" algn="ctr">
              <a:buNone/>
            </a:pPr>
            <a:r>
              <a:rPr lang="es-ES" sz="1300" b="1" noProof="0" dirty="0" err="1">
                <a:solidFill>
                  <a:srgbClr val="5B34B0"/>
                </a:solidFill>
                <a:latin typeface="Consolas" pitchFamily="34" charset="0"/>
                <a:ea typeface="Consolas" pitchFamily="34" charset="-122"/>
                <a:cs typeface="Consolas" pitchFamily="34" charset="-120"/>
              </a:rPr>
              <a:t>authentication-managed-identity</a:t>
            </a:r>
            <a:endParaRPr lang="es-ES" sz="1300" noProof="0" dirty="0"/>
          </a:p>
        </p:txBody>
      </p:sp>
      <p:sp>
        <p:nvSpPr>
          <p:cNvPr id="32" name="Shape 27"/>
          <p:cNvSpPr/>
          <p:nvPr/>
        </p:nvSpPr>
        <p:spPr>
          <a:xfrm>
            <a:off x="8595360" y="5193792"/>
            <a:ext cx="2194560" cy="402336"/>
          </a:xfrm>
          <a:prstGeom prst="roundRect">
            <a:avLst>
              <a:gd name="adj" fmla="val 50000"/>
            </a:avLst>
          </a:prstGeom>
          <a:solidFill>
            <a:srgbClr val="F4F2FB"/>
          </a:solidFill>
          <a:ln w="12700">
            <a:solidFill>
              <a:srgbClr val="F4F2FB"/>
            </a:solidFill>
            <a:prstDash val="solid"/>
          </a:ln>
        </p:spPr>
        <p:txBody>
          <a:bodyPr/>
          <a:lstStyle/>
          <a:p>
            <a:endParaRPr lang="es-ES" noProof="0" dirty="0"/>
          </a:p>
        </p:txBody>
      </p:sp>
      <p:sp>
        <p:nvSpPr>
          <p:cNvPr id="33" name="Text 28"/>
          <p:cNvSpPr txBox="1"/>
          <p:nvPr/>
        </p:nvSpPr>
        <p:spPr>
          <a:xfrm>
            <a:off x="8595360" y="5193792"/>
            <a:ext cx="2194560" cy="402336"/>
          </a:xfrm>
          <a:prstGeom prst="rect">
            <a:avLst/>
          </a:prstGeom>
          <a:noFill/>
          <a:ln/>
        </p:spPr>
        <p:txBody>
          <a:bodyPr wrap="square" lIns="0" tIns="0" rIns="0" bIns="0" rtlCol="0" anchor="ctr"/>
          <a:lstStyle/>
          <a:p>
            <a:pPr marL="0" indent="0" algn="ctr">
              <a:buNone/>
            </a:pPr>
            <a:r>
              <a:rPr lang="es-ES" sz="1300" b="1" noProof="0" dirty="0">
                <a:solidFill>
                  <a:srgbClr val="5B34B0"/>
                </a:solidFill>
                <a:latin typeface="Consolas" pitchFamily="34" charset="0"/>
                <a:ea typeface="Consolas" pitchFamily="34" charset="-122"/>
                <a:cs typeface="Consolas" pitchFamily="34" charset="-120"/>
              </a:rPr>
              <a:t>set-backend-</a:t>
            </a:r>
            <a:r>
              <a:rPr lang="es-ES" sz="1300" b="1" noProof="0" dirty="0" err="1">
                <a:solidFill>
                  <a:srgbClr val="5B34B0"/>
                </a:solidFill>
                <a:latin typeface="Consolas" pitchFamily="34" charset="0"/>
                <a:ea typeface="Consolas" pitchFamily="34" charset="-122"/>
                <a:cs typeface="Consolas" pitchFamily="34" charset="-120"/>
              </a:rPr>
              <a:t>service</a:t>
            </a:r>
            <a:endParaRPr lang="es-ES" sz="1300" noProof="0" dirty="0"/>
          </a:p>
        </p:txBody>
      </p:sp>
      <p:sp>
        <p:nvSpPr>
          <p:cNvPr id="34" name="Text 29"/>
          <p:cNvSpPr txBox="1"/>
          <p:nvPr/>
        </p:nvSpPr>
        <p:spPr>
          <a:xfrm>
            <a:off x="579531" y="5760720"/>
            <a:ext cx="11064240" cy="320040"/>
          </a:xfrm>
          <a:prstGeom prst="rect">
            <a:avLst/>
          </a:prstGeom>
          <a:noFill/>
          <a:ln/>
        </p:spPr>
        <p:txBody>
          <a:bodyPr wrap="square" lIns="0" tIns="0" rIns="0" bIns="0" rtlCol="0" anchor="t"/>
          <a:lstStyle/>
          <a:p>
            <a:pPr marL="0" indent="0">
              <a:buNone/>
            </a:pPr>
            <a:r>
              <a:rPr lang="es-ES" sz="1400" noProof="0" dirty="0">
                <a:solidFill>
                  <a:srgbClr val="5C6470"/>
                </a:solidFill>
                <a:latin typeface="Calibri" pitchFamily="34" charset="0"/>
                <a:ea typeface="Calibri" pitchFamily="34" charset="-122"/>
                <a:cs typeface="Calibri" pitchFamily="34" charset="-120"/>
              </a:rPr>
              <a:t>Microsoft </a:t>
            </a:r>
            <a:r>
              <a:rPr lang="es-ES" sz="1400" noProof="0" dirty="0" err="1">
                <a:solidFill>
                  <a:srgbClr val="5C6470"/>
                </a:solidFill>
                <a:latin typeface="Calibri" pitchFamily="34" charset="0"/>
                <a:ea typeface="Calibri" pitchFamily="34" charset="-122"/>
                <a:cs typeface="Calibri" pitchFamily="34" charset="-120"/>
              </a:rPr>
              <a:t>Foundry</a:t>
            </a:r>
            <a:r>
              <a:rPr lang="es-ES" sz="1400" noProof="0" dirty="0">
                <a:solidFill>
                  <a:srgbClr val="5C6470"/>
                </a:solidFill>
                <a:latin typeface="Calibri" pitchFamily="34" charset="0"/>
                <a:ea typeface="Calibri" pitchFamily="34" charset="-122"/>
                <a:cs typeface="Calibri" pitchFamily="34" charset="-120"/>
              </a:rPr>
              <a:t> tiene la autenticación local deshabilitada: APIM elimina la clave del cliente y se autentica con su identidad administrada.</a:t>
            </a:r>
            <a:endParaRPr lang="es-ES" sz="14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RESILIENCIA</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err="1">
                <a:solidFill>
                  <a:srgbClr val="1F2328"/>
                </a:solidFill>
                <a:latin typeface="Calibri" pitchFamily="34" charset="0"/>
                <a:ea typeface="Calibri" pitchFamily="34" charset="-122"/>
                <a:cs typeface="Calibri" pitchFamily="34" charset="-120"/>
              </a:rPr>
              <a:t>Failover</a:t>
            </a:r>
            <a:r>
              <a:rPr lang="es-ES" sz="3200" b="1" noProof="0" dirty="0">
                <a:solidFill>
                  <a:srgbClr val="1F2328"/>
                </a:solidFill>
                <a:latin typeface="Calibri" pitchFamily="34" charset="0"/>
                <a:ea typeface="Calibri" pitchFamily="34" charset="-122"/>
                <a:cs typeface="Calibri" pitchFamily="34" charset="-120"/>
              </a:rPr>
              <a:t> regional transparente</a:t>
            </a:r>
            <a:endParaRPr lang="es-ES" sz="3200" noProof="0" dirty="0"/>
          </a:p>
        </p:txBody>
      </p:sp>
      <p:sp>
        <p:nvSpPr>
          <p:cNvPr id="4" name="Shape 2"/>
          <p:cNvSpPr/>
          <p:nvPr/>
        </p:nvSpPr>
        <p:spPr>
          <a:xfrm>
            <a:off x="548640" y="2423160"/>
            <a:ext cx="1920240" cy="1371600"/>
          </a:xfrm>
          <a:prstGeom prst="roundRect">
            <a:avLst>
              <a:gd name="adj" fmla="val 9333"/>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749808" y="2825496"/>
            <a:ext cx="566928" cy="566928"/>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880201" y="2955889"/>
            <a:ext cx="306141" cy="306141"/>
          </a:xfrm>
          <a:prstGeom prst="rect">
            <a:avLst/>
          </a:prstGeom>
        </p:spPr>
      </p:pic>
      <p:sp>
        <p:nvSpPr>
          <p:cNvPr id="7" name="Text 4"/>
          <p:cNvSpPr txBox="1"/>
          <p:nvPr/>
        </p:nvSpPr>
        <p:spPr>
          <a:xfrm>
            <a:off x="1463040" y="2779776"/>
            <a:ext cx="914400" cy="329184"/>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APIM</a:t>
            </a:r>
            <a:endParaRPr lang="es-ES" sz="1500" noProof="0" dirty="0"/>
          </a:p>
        </p:txBody>
      </p:sp>
      <p:sp>
        <p:nvSpPr>
          <p:cNvPr id="8" name="Text 5"/>
          <p:cNvSpPr txBox="1"/>
          <p:nvPr/>
        </p:nvSpPr>
        <p:spPr>
          <a:xfrm>
            <a:off x="1463040" y="3127248"/>
            <a:ext cx="914400" cy="310896"/>
          </a:xfrm>
          <a:prstGeom prst="rect">
            <a:avLst/>
          </a:prstGeom>
          <a:noFill/>
          <a:ln/>
        </p:spPr>
        <p:txBody>
          <a:bodyPr wrap="square" lIns="0" tIns="0" rIns="0" bIns="0" rtlCol="0" anchor="t"/>
          <a:lstStyle/>
          <a:p>
            <a:pPr marL="0" indent="0">
              <a:buNone/>
            </a:pPr>
            <a:r>
              <a:rPr lang="es-ES" sz="1200" noProof="0" dirty="0">
                <a:solidFill>
                  <a:srgbClr val="5C6470"/>
                </a:solidFill>
                <a:latin typeface="Consolas" pitchFamily="34" charset="0"/>
                <a:ea typeface="Consolas" pitchFamily="34" charset="-122"/>
                <a:cs typeface="Consolas" pitchFamily="34" charset="-120"/>
              </a:rPr>
              <a:t>openai-v1</a:t>
            </a:r>
            <a:endParaRPr lang="es-ES" sz="1200" noProof="0" dirty="0"/>
          </a:p>
        </p:txBody>
      </p:sp>
      <p:sp>
        <p:nvSpPr>
          <p:cNvPr id="9" name="Shape 6"/>
          <p:cNvSpPr/>
          <p:nvPr/>
        </p:nvSpPr>
        <p:spPr>
          <a:xfrm>
            <a:off x="2834640" y="2423160"/>
            <a:ext cx="2606040" cy="1371600"/>
          </a:xfrm>
          <a:prstGeom prst="roundRect">
            <a:avLst>
              <a:gd name="adj" fmla="val 9333"/>
            </a:avLst>
          </a:prstGeom>
          <a:solidFill>
            <a:srgbClr val="F4F2FB"/>
          </a:solidFill>
          <a:ln w="12700">
            <a:solidFill>
              <a:srgbClr val="F4F2FB"/>
            </a:solidFill>
            <a:prstDash val="solid"/>
          </a:ln>
        </p:spPr>
        <p:txBody>
          <a:bodyPr/>
          <a:lstStyle/>
          <a:p>
            <a:endParaRPr lang="es-ES" noProof="0" dirty="0"/>
          </a:p>
        </p:txBody>
      </p:sp>
      <p:sp>
        <p:nvSpPr>
          <p:cNvPr id="10" name="Shape 7"/>
          <p:cNvSpPr/>
          <p:nvPr/>
        </p:nvSpPr>
        <p:spPr>
          <a:xfrm>
            <a:off x="3035808" y="2825496"/>
            <a:ext cx="566928" cy="566928"/>
          </a:xfrm>
          <a:prstGeom prst="roundRect">
            <a:avLst>
              <a:gd name="adj" fmla="val 20000"/>
            </a:avLst>
          </a:prstGeom>
          <a:solidFill>
            <a:srgbClr val="0E1116"/>
          </a:solidFill>
          <a:ln w="12700">
            <a:solidFill>
              <a:srgbClr val="0E1116"/>
            </a:solidFill>
            <a:prstDash val="solid"/>
          </a:ln>
        </p:spPr>
        <p:txBody>
          <a:bodyPr/>
          <a:lstStyle/>
          <a:p>
            <a:endParaRPr lang="es-ES" noProof="0" dirty="0"/>
          </a:p>
        </p:txBody>
      </p:sp>
      <p:pic>
        <p:nvPicPr>
          <p:cNvPr id="11" name="Image 1" descr="preencoded.png"/>
          <p:cNvPicPr>
            <a:picLocks noChangeAspect="1"/>
          </p:cNvPicPr>
          <p:nvPr/>
        </p:nvPicPr>
        <p:blipFill>
          <a:blip r:embed="rId4"/>
          <a:stretch>
            <a:fillRect/>
          </a:stretch>
        </p:blipFill>
        <p:spPr>
          <a:xfrm>
            <a:off x="3166201" y="2955889"/>
            <a:ext cx="306141" cy="306141"/>
          </a:xfrm>
          <a:prstGeom prst="rect">
            <a:avLst/>
          </a:prstGeom>
        </p:spPr>
      </p:pic>
      <p:sp>
        <p:nvSpPr>
          <p:cNvPr id="12" name="Text 8"/>
          <p:cNvSpPr txBox="1"/>
          <p:nvPr/>
        </p:nvSpPr>
        <p:spPr>
          <a:xfrm>
            <a:off x="3749040" y="2779776"/>
            <a:ext cx="1600200" cy="329184"/>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Backend pool</a:t>
            </a:r>
            <a:endParaRPr lang="es-ES" sz="1500" noProof="0" dirty="0"/>
          </a:p>
        </p:txBody>
      </p:sp>
      <p:sp>
        <p:nvSpPr>
          <p:cNvPr id="13" name="Text 9"/>
          <p:cNvSpPr txBox="1"/>
          <p:nvPr/>
        </p:nvSpPr>
        <p:spPr>
          <a:xfrm>
            <a:off x="3749040" y="3127248"/>
            <a:ext cx="1600200" cy="310896"/>
          </a:xfrm>
          <a:prstGeom prst="rect">
            <a:avLst/>
          </a:prstGeom>
          <a:noFill/>
          <a:ln/>
        </p:spPr>
        <p:txBody>
          <a:bodyPr wrap="square" lIns="0" tIns="0" rIns="0" bIns="0" rtlCol="0" anchor="t"/>
          <a:lstStyle/>
          <a:p>
            <a:pPr marL="0" indent="0">
              <a:buNone/>
            </a:pPr>
            <a:r>
              <a:rPr lang="es-ES" sz="1200" noProof="0" dirty="0" err="1">
                <a:solidFill>
                  <a:srgbClr val="5C6470"/>
                </a:solidFill>
                <a:latin typeface="Consolas" pitchFamily="34" charset="0"/>
                <a:ea typeface="Consolas" pitchFamily="34" charset="-122"/>
                <a:cs typeface="Consolas" pitchFamily="34" charset="-120"/>
              </a:rPr>
              <a:t>foundry-failover</a:t>
            </a:r>
            <a:endParaRPr lang="es-ES" sz="1200" noProof="0" dirty="0"/>
          </a:p>
        </p:txBody>
      </p:sp>
      <p:sp>
        <p:nvSpPr>
          <p:cNvPr id="14" name="Shape 10"/>
          <p:cNvSpPr/>
          <p:nvPr/>
        </p:nvSpPr>
        <p:spPr>
          <a:xfrm>
            <a:off x="5897880" y="1600200"/>
            <a:ext cx="2057400" cy="1097280"/>
          </a:xfrm>
          <a:prstGeom prst="roundRect">
            <a:avLst>
              <a:gd name="adj" fmla="val 11667"/>
            </a:avLst>
          </a:prstGeom>
          <a:solidFill>
            <a:srgbClr val="F4F2FB"/>
          </a:solidFill>
          <a:ln w="12700">
            <a:solidFill>
              <a:srgbClr val="F4F2FB"/>
            </a:solidFill>
            <a:prstDash val="solid"/>
          </a:ln>
        </p:spPr>
        <p:txBody>
          <a:bodyPr/>
          <a:lstStyle/>
          <a:p>
            <a:endParaRPr lang="es-ES" noProof="0" dirty="0"/>
          </a:p>
        </p:txBody>
      </p:sp>
      <p:sp>
        <p:nvSpPr>
          <p:cNvPr id="15" name="Shape 11"/>
          <p:cNvSpPr/>
          <p:nvPr/>
        </p:nvSpPr>
        <p:spPr>
          <a:xfrm>
            <a:off x="6099048" y="1865376"/>
            <a:ext cx="566928" cy="566928"/>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16" name="Image 2" descr="preencoded.png"/>
          <p:cNvPicPr>
            <a:picLocks noChangeAspect="1"/>
          </p:cNvPicPr>
          <p:nvPr/>
        </p:nvPicPr>
        <p:blipFill>
          <a:blip r:embed="rId5"/>
          <a:stretch>
            <a:fillRect/>
          </a:stretch>
        </p:blipFill>
        <p:spPr>
          <a:xfrm>
            <a:off x="6229441" y="1995769"/>
            <a:ext cx="306141" cy="306141"/>
          </a:xfrm>
          <a:prstGeom prst="rect">
            <a:avLst/>
          </a:prstGeom>
        </p:spPr>
      </p:pic>
      <p:sp>
        <p:nvSpPr>
          <p:cNvPr id="17" name="Text 12"/>
          <p:cNvSpPr txBox="1"/>
          <p:nvPr/>
        </p:nvSpPr>
        <p:spPr>
          <a:xfrm>
            <a:off x="6812280" y="1819656"/>
            <a:ext cx="1051560" cy="329184"/>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Primario</a:t>
            </a:r>
            <a:endParaRPr lang="es-ES" sz="1500" noProof="0" dirty="0"/>
          </a:p>
        </p:txBody>
      </p:sp>
      <p:sp>
        <p:nvSpPr>
          <p:cNvPr id="18" name="Text 13"/>
          <p:cNvSpPr txBox="1"/>
          <p:nvPr/>
        </p:nvSpPr>
        <p:spPr>
          <a:xfrm>
            <a:off x="6812280" y="2167128"/>
            <a:ext cx="1051560" cy="310896"/>
          </a:xfrm>
          <a:prstGeom prst="rect">
            <a:avLst/>
          </a:prstGeom>
          <a:noFill/>
          <a:ln/>
        </p:spPr>
        <p:txBody>
          <a:bodyPr wrap="square" lIns="0" tIns="0" rIns="0" bIns="0" rtlCol="0" anchor="t"/>
          <a:lstStyle/>
          <a:p>
            <a:pPr marL="0" indent="0">
              <a:buNone/>
            </a:pPr>
            <a:r>
              <a:rPr lang="es-ES" sz="1200" noProof="0" dirty="0">
                <a:solidFill>
                  <a:srgbClr val="5C6470"/>
                </a:solidFill>
                <a:latin typeface="Consolas" pitchFamily="34" charset="0"/>
                <a:ea typeface="Consolas" pitchFamily="34" charset="-122"/>
                <a:cs typeface="Consolas" pitchFamily="34" charset="-120"/>
              </a:rPr>
              <a:t>prioridad 1</a:t>
            </a:r>
            <a:endParaRPr lang="es-ES" sz="1200" noProof="0" dirty="0"/>
          </a:p>
        </p:txBody>
      </p:sp>
      <p:sp>
        <p:nvSpPr>
          <p:cNvPr id="19" name="Shape 14"/>
          <p:cNvSpPr/>
          <p:nvPr/>
        </p:nvSpPr>
        <p:spPr>
          <a:xfrm>
            <a:off x="5897880" y="3520440"/>
            <a:ext cx="2057400" cy="1097280"/>
          </a:xfrm>
          <a:prstGeom prst="roundRect">
            <a:avLst>
              <a:gd name="adj" fmla="val 11667"/>
            </a:avLst>
          </a:prstGeom>
          <a:solidFill>
            <a:srgbClr val="F4F2FB"/>
          </a:solidFill>
          <a:ln w="12700">
            <a:solidFill>
              <a:srgbClr val="F4F2FB"/>
            </a:solidFill>
            <a:prstDash val="solid"/>
          </a:ln>
        </p:spPr>
        <p:txBody>
          <a:bodyPr/>
          <a:lstStyle/>
          <a:p>
            <a:endParaRPr lang="es-ES" noProof="0" dirty="0"/>
          </a:p>
        </p:txBody>
      </p:sp>
      <p:sp>
        <p:nvSpPr>
          <p:cNvPr id="20" name="Shape 15"/>
          <p:cNvSpPr/>
          <p:nvPr/>
        </p:nvSpPr>
        <p:spPr>
          <a:xfrm>
            <a:off x="6099048" y="3785616"/>
            <a:ext cx="566928" cy="566928"/>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21" name="Image 3" descr="preencoded.png"/>
          <p:cNvPicPr>
            <a:picLocks noChangeAspect="1"/>
          </p:cNvPicPr>
          <p:nvPr/>
        </p:nvPicPr>
        <p:blipFill>
          <a:blip r:embed="rId5"/>
          <a:stretch>
            <a:fillRect/>
          </a:stretch>
        </p:blipFill>
        <p:spPr>
          <a:xfrm>
            <a:off x="6229441" y="3916009"/>
            <a:ext cx="306141" cy="306141"/>
          </a:xfrm>
          <a:prstGeom prst="rect">
            <a:avLst/>
          </a:prstGeom>
        </p:spPr>
      </p:pic>
      <p:sp>
        <p:nvSpPr>
          <p:cNvPr id="22" name="Text 16"/>
          <p:cNvSpPr txBox="1"/>
          <p:nvPr/>
        </p:nvSpPr>
        <p:spPr>
          <a:xfrm>
            <a:off x="6812280" y="3739896"/>
            <a:ext cx="1051560" cy="329184"/>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Secundario</a:t>
            </a:r>
            <a:endParaRPr lang="es-ES" sz="1500" noProof="0" dirty="0"/>
          </a:p>
        </p:txBody>
      </p:sp>
      <p:sp>
        <p:nvSpPr>
          <p:cNvPr id="23" name="Text 17"/>
          <p:cNvSpPr txBox="1"/>
          <p:nvPr/>
        </p:nvSpPr>
        <p:spPr>
          <a:xfrm>
            <a:off x="6812280" y="4087368"/>
            <a:ext cx="1051560" cy="310896"/>
          </a:xfrm>
          <a:prstGeom prst="rect">
            <a:avLst/>
          </a:prstGeom>
          <a:noFill/>
          <a:ln/>
        </p:spPr>
        <p:txBody>
          <a:bodyPr wrap="square" lIns="0" tIns="0" rIns="0" bIns="0" rtlCol="0" anchor="t"/>
          <a:lstStyle/>
          <a:p>
            <a:pPr marL="0" indent="0">
              <a:buNone/>
            </a:pPr>
            <a:r>
              <a:rPr lang="es-ES" sz="1200" noProof="0" dirty="0">
                <a:solidFill>
                  <a:srgbClr val="5C6470"/>
                </a:solidFill>
                <a:latin typeface="Consolas" pitchFamily="34" charset="0"/>
                <a:ea typeface="Consolas" pitchFamily="34" charset="-122"/>
                <a:cs typeface="Consolas" pitchFamily="34" charset="-120"/>
              </a:rPr>
              <a:t>prioridad 2</a:t>
            </a:r>
            <a:endParaRPr lang="es-ES" sz="1200" noProof="0" dirty="0"/>
          </a:p>
        </p:txBody>
      </p:sp>
      <p:sp>
        <p:nvSpPr>
          <p:cNvPr id="24" name="Shape 18"/>
          <p:cNvSpPr/>
          <p:nvPr/>
        </p:nvSpPr>
        <p:spPr>
          <a:xfrm>
            <a:off x="2468880" y="3108960"/>
            <a:ext cx="365760" cy="0"/>
          </a:xfrm>
          <a:prstGeom prst="line">
            <a:avLst/>
          </a:prstGeom>
          <a:noFill/>
          <a:ln w="22225">
            <a:solidFill>
              <a:srgbClr val="5C6470"/>
            </a:solidFill>
            <a:prstDash val="solid"/>
            <a:tailEnd type="triangle"/>
          </a:ln>
        </p:spPr>
        <p:txBody>
          <a:bodyPr/>
          <a:lstStyle/>
          <a:p>
            <a:endParaRPr lang="es-ES" noProof="0" dirty="0"/>
          </a:p>
        </p:txBody>
      </p:sp>
      <p:sp>
        <p:nvSpPr>
          <p:cNvPr id="25" name="Shape 19"/>
          <p:cNvSpPr/>
          <p:nvPr/>
        </p:nvSpPr>
        <p:spPr>
          <a:xfrm flipV="1">
            <a:off x="5440680" y="2148840"/>
            <a:ext cx="457200" cy="960120"/>
          </a:xfrm>
          <a:prstGeom prst="line">
            <a:avLst/>
          </a:prstGeom>
          <a:noFill/>
          <a:ln w="22225">
            <a:solidFill>
              <a:srgbClr val="E0524A"/>
            </a:solidFill>
            <a:prstDash val="dash"/>
            <a:tailEnd type="triangle"/>
          </a:ln>
        </p:spPr>
        <p:txBody>
          <a:bodyPr/>
          <a:lstStyle/>
          <a:p>
            <a:endParaRPr lang="es-ES" noProof="0" dirty="0"/>
          </a:p>
        </p:txBody>
      </p:sp>
      <p:sp>
        <p:nvSpPr>
          <p:cNvPr id="26" name="Shape 20"/>
          <p:cNvSpPr/>
          <p:nvPr/>
        </p:nvSpPr>
        <p:spPr>
          <a:xfrm>
            <a:off x="5440680" y="3108960"/>
            <a:ext cx="457200" cy="960120"/>
          </a:xfrm>
          <a:prstGeom prst="line">
            <a:avLst/>
          </a:prstGeom>
          <a:noFill/>
          <a:ln w="22225">
            <a:solidFill>
              <a:srgbClr val="10A38A"/>
            </a:solidFill>
            <a:prstDash val="solid"/>
            <a:tailEnd type="triangle"/>
          </a:ln>
        </p:spPr>
        <p:txBody>
          <a:bodyPr/>
          <a:lstStyle/>
          <a:p>
            <a:endParaRPr lang="es-ES" noProof="0" dirty="0"/>
          </a:p>
        </p:txBody>
      </p:sp>
      <p:sp>
        <p:nvSpPr>
          <p:cNvPr id="27" name="Shape 21"/>
          <p:cNvSpPr/>
          <p:nvPr/>
        </p:nvSpPr>
        <p:spPr>
          <a:xfrm>
            <a:off x="7223760" y="1371600"/>
            <a:ext cx="731520" cy="329184"/>
          </a:xfrm>
          <a:prstGeom prst="roundRect">
            <a:avLst>
              <a:gd name="adj" fmla="val 50000"/>
            </a:avLst>
          </a:prstGeom>
          <a:solidFill>
            <a:srgbClr val="E0524A"/>
          </a:solidFill>
          <a:ln w="12700">
            <a:solidFill>
              <a:srgbClr val="E0524A"/>
            </a:solidFill>
            <a:prstDash val="solid"/>
          </a:ln>
        </p:spPr>
        <p:txBody>
          <a:bodyPr/>
          <a:lstStyle/>
          <a:p>
            <a:endParaRPr lang="es-ES" noProof="0" dirty="0"/>
          </a:p>
        </p:txBody>
      </p:sp>
      <p:sp>
        <p:nvSpPr>
          <p:cNvPr id="28" name="Text 22"/>
          <p:cNvSpPr txBox="1"/>
          <p:nvPr/>
        </p:nvSpPr>
        <p:spPr>
          <a:xfrm>
            <a:off x="7223760" y="1371600"/>
            <a:ext cx="731520" cy="329184"/>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503</a:t>
            </a:r>
            <a:endParaRPr lang="es-ES" sz="1200" noProof="0" dirty="0"/>
          </a:p>
        </p:txBody>
      </p:sp>
      <p:sp>
        <p:nvSpPr>
          <p:cNvPr id="29" name="Shape 23"/>
          <p:cNvSpPr/>
          <p:nvPr/>
        </p:nvSpPr>
        <p:spPr>
          <a:xfrm>
            <a:off x="7223760" y="3291840"/>
            <a:ext cx="731520" cy="329184"/>
          </a:xfrm>
          <a:prstGeom prst="roundRect">
            <a:avLst>
              <a:gd name="adj" fmla="val 50000"/>
            </a:avLst>
          </a:prstGeom>
          <a:solidFill>
            <a:srgbClr val="10A38A"/>
          </a:solidFill>
          <a:ln w="12700">
            <a:solidFill>
              <a:srgbClr val="10A38A"/>
            </a:solidFill>
            <a:prstDash val="solid"/>
          </a:ln>
        </p:spPr>
        <p:txBody>
          <a:bodyPr/>
          <a:lstStyle/>
          <a:p>
            <a:endParaRPr lang="es-ES" noProof="0" dirty="0"/>
          </a:p>
        </p:txBody>
      </p:sp>
      <p:sp>
        <p:nvSpPr>
          <p:cNvPr id="30" name="Text 24"/>
          <p:cNvSpPr txBox="1"/>
          <p:nvPr/>
        </p:nvSpPr>
        <p:spPr>
          <a:xfrm>
            <a:off x="7223760" y="3291840"/>
            <a:ext cx="731520" cy="329184"/>
          </a:xfrm>
          <a:prstGeom prst="rect">
            <a:avLst/>
          </a:prstGeom>
          <a:noFill/>
          <a:ln/>
        </p:spPr>
        <p:txBody>
          <a:bodyPr wrap="square" lIns="0" tIns="0" rIns="0" bIns="0" rtlCol="0" anchor="ctr"/>
          <a:lstStyle/>
          <a:p>
            <a:pPr marL="0" indent="0" algn="ctr">
              <a:buNone/>
            </a:pPr>
            <a:r>
              <a:rPr lang="es-ES" sz="1200" b="1" noProof="0" dirty="0">
                <a:solidFill>
                  <a:srgbClr val="FFFFFF"/>
                </a:solidFill>
                <a:latin typeface="Consolas" pitchFamily="34" charset="0"/>
                <a:ea typeface="Consolas" pitchFamily="34" charset="-122"/>
                <a:cs typeface="Consolas" pitchFamily="34" charset="-120"/>
              </a:rPr>
              <a:t>200</a:t>
            </a:r>
            <a:endParaRPr lang="es-ES" sz="1200" noProof="0" dirty="0"/>
          </a:p>
        </p:txBody>
      </p:sp>
      <p:sp>
        <p:nvSpPr>
          <p:cNvPr id="34" name="Shape 27"/>
          <p:cNvSpPr/>
          <p:nvPr/>
        </p:nvSpPr>
        <p:spPr>
          <a:xfrm>
            <a:off x="8229600" y="1554480"/>
            <a:ext cx="3410712" cy="4206240"/>
          </a:xfrm>
          <a:prstGeom prst="roundRect">
            <a:avLst>
              <a:gd name="adj" fmla="val 3753"/>
            </a:avLst>
          </a:prstGeom>
          <a:solidFill>
            <a:srgbClr val="F4F2FB"/>
          </a:solidFill>
          <a:ln w="12700">
            <a:solidFill>
              <a:srgbClr val="F4F2FB"/>
            </a:solidFill>
            <a:prstDash val="solid"/>
          </a:ln>
        </p:spPr>
        <p:txBody>
          <a:bodyPr/>
          <a:lstStyle/>
          <a:p>
            <a:endParaRPr lang="es-ES" noProof="0" dirty="0"/>
          </a:p>
        </p:txBody>
      </p:sp>
      <p:sp>
        <p:nvSpPr>
          <p:cNvPr id="35" name="Text 28"/>
          <p:cNvSpPr txBox="1"/>
          <p:nvPr/>
        </p:nvSpPr>
        <p:spPr>
          <a:xfrm>
            <a:off x="8503920" y="1783080"/>
            <a:ext cx="2926080" cy="640080"/>
          </a:xfrm>
          <a:prstGeom prst="rect">
            <a:avLst/>
          </a:prstGeom>
          <a:noFill/>
          <a:ln/>
        </p:spPr>
        <p:txBody>
          <a:bodyPr wrap="square" lIns="0" tIns="0" rIns="0" bIns="0" rtlCol="0" anchor="t"/>
          <a:lstStyle/>
          <a:p>
            <a:pPr marL="0" indent="0">
              <a:buNone/>
            </a:pPr>
            <a:r>
              <a:rPr lang="es-ES" sz="3800" b="1" noProof="0" dirty="0">
                <a:solidFill>
                  <a:srgbClr val="E0524A"/>
                </a:solidFill>
                <a:latin typeface="Calibri" pitchFamily="34" charset="0"/>
                <a:ea typeface="Calibri" pitchFamily="34" charset="-122"/>
                <a:cs typeface="Calibri" pitchFamily="34" charset="-120"/>
              </a:rPr>
              <a:t>3 × 5xx</a:t>
            </a:r>
            <a:endParaRPr lang="es-ES" sz="3800" noProof="0" dirty="0"/>
          </a:p>
        </p:txBody>
      </p:sp>
      <p:sp>
        <p:nvSpPr>
          <p:cNvPr id="36" name="Text 29"/>
          <p:cNvSpPr txBox="1"/>
          <p:nvPr/>
        </p:nvSpPr>
        <p:spPr>
          <a:xfrm>
            <a:off x="8503920" y="2423160"/>
            <a:ext cx="2926080" cy="54864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en 1 minuto abren el </a:t>
            </a:r>
            <a:r>
              <a:rPr lang="es-ES" sz="1300" noProof="0" dirty="0" err="1">
                <a:solidFill>
                  <a:srgbClr val="5C6470"/>
                </a:solidFill>
                <a:latin typeface="Calibri" pitchFamily="34" charset="0"/>
                <a:ea typeface="Calibri" pitchFamily="34" charset="-122"/>
                <a:cs typeface="Calibri" pitchFamily="34" charset="-120"/>
              </a:rPr>
              <a:t>circuit</a:t>
            </a:r>
            <a:r>
              <a:rPr lang="es-ES" sz="1300" noProof="0" dirty="0">
                <a:solidFill>
                  <a:srgbClr val="5C6470"/>
                </a:solidFill>
                <a:latin typeface="Calibri" pitchFamily="34" charset="0"/>
                <a:ea typeface="Calibri" pitchFamily="34" charset="-122"/>
                <a:cs typeface="Calibri" pitchFamily="34" charset="-120"/>
              </a:rPr>
              <a:t> breaker del backend</a:t>
            </a:r>
            <a:endParaRPr lang="es-ES" sz="1300" noProof="0" dirty="0"/>
          </a:p>
        </p:txBody>
      </p:sp>
      <p:sp>
        <p:nvSpPr>
          <p:cNvPr id="37" name="Text 30"/>
          <p:cNvSpPr txBox="1"/>
          <p:nvPr/>
        </p:nvSpPr>
        <p:spPr>
          <a:xfrm>
            <a:off x="8503920" y="3108960"/>
            <a:ext cx="2926080" cy="640080"/>
          </a:xfrm>
          <a:prstGeom prst="rect">
            <a:avLst/>
          </a:prstGeom>
          <a:noFill/>
          <a:ln/>
        </p:spPr>
        <p:txBody>
          <a:bodyPr wrap="square" lIns="0" tIns="0" rIns="0" bIns="0" rtlCol="0" anchor="t"/>
          <a:lstStyle/>
          <a:p>
            <a:pPr marL="0" indent="0">
              <a:buNone/>
            </a:pPr>
            <a:r>
              <a:rPr lang="es-ES" sz="3800" b="1" noProof="0" dirty="0">
                <a:solidFill>
                  <a:srgbClr val="7C4DDB"/>
                </a:solidFill>
                <a:latin typeface="Calibri" pitchFamily="34" charset="0"/>
                <a:ea typeface="Calibri" pitchFamily="34" charset="-122"/>
                <a:cs typeface="Calibri" pitchFamily="34" charset="-120"/>
              </a:rPr>
              <a:t>2 min</a:t>
            </a:r>
            <a:endParaRPr lang="es-ES" sz="3800" noProof="0" dirty="0"/>
          </a:p>
        </p:txBody>
      </p:sp>
      <p:sp>
        <p:nvSpPr>
          <p:cNvPr id="38" name="Text 31"/>
          <p:cNvSpPr txBox="1"/>
          <p:nvPr/>
        </p:nvSpPr>
        <p:spPr>
          <a:xfrm>
            <a:off x="8503920" y="3749040"/>
            <a:ext cx="2926080" cy="54864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con el circuito abierto antes de volver al primario</a:t>
            </a:r>
            <a:endParaRPr lang="es-ES" sz="1300" noProof="0" dirty="0"/>
          </a:p>
        </p:txBody>
      </p:sp>
      <p:sp>
        <p:nvSpPr>
          <p:cNvPr id="39" name="Text 32"/>
          <p:cNvSpPr txBox="1"/>
          <p:nvPr/>
        </p:nvSpPr>
        <p:spPr>
          <a:xfrm>
            <a:off x="8503920" y="4434840"/>
            <a:ext cx="2926080" cy="640080"/>
          </a:xfrm>
          <a:prstGeom prst="rect">
            <a:avLst/>
          </a:prstGeom>
          <a:noFill/>
          <a:ln/>
        </p:spPr>
        <p:txBody>
          <a:bodyPr wrap="square" lIns="0" tIns="0" rIns="0" bIns="0" rtlCol="0" anchor="t"/>
          <a:lstStyle/>
          <a:p>
            <a:pPr marL="0" indent="0">
              <a:buNone/>
            </a:pPr>
            <a:r>
              <a:rPr lang="es-ES" sz="3800" b="1" noProof="0" dirty="0">
                <a:solidFill>
                  <a:srgbClr val="0B7F6B"/>
                </a:solidFill>
                <a:latin typeface="Calibri" pitchFamily="34" charset="0"/>
                <a:ea typeface="Calibri" pitchFamily="34" charset="-122"/>
                <a:cs typeface="Calibri" pitchFamily="34" charset="-120"/>
              </a:rPr>
              <a:t>200</a:t>
            </a:r>
            <a:endParaRPr lang="es-ES" sz="3800" noProof="0" dirty="0"/>
          </a:p>
        </p:txBody>
      </p:sp>
      <p:sp>
        <p:nvSpPr>
          <p:cNvPr id="40" name="Text 33"/>
          <p:cNvSpPr txBox="1"/>
          <p:nvPr/>
        </p:nvSpPr>
        <p:spPr>
          <a:xfrm>
            <a:off x="8503920" y="5074920"/>
            <a:ext cx="2926080" cy="54864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desde </a:t>
            </a:r>
            <a:r>
              <a:rPr lang="es-ES" sz="1300" noProof="0" dirty="0" err="1">
                <a:solidFill>
                  <a:srgbClr val="5C6470"/>
                </a:solidFill>
                <a:latin typeface="Calibri" pitchFamily="34" charset="0"/>
                <a:ea typeface="Calibri" pitchFamily="34" charset="-122"/>
                <a:cs typeface="Calibri" pitchFamily="34" charset="-120"/>
              </a:rPr>
              <a:t>switzerlandnorth</a:t>
            </a:r>
            <a:r>
              <a:rPr lang="es-ES" sz="1300" noProof="0" dirty="0">
                <a:solidFill>
                  <a:srgbClr val="5C6470"/>
                </a:solidFill>
                <a:latin typeface="Calibri" pitchFamily="34" charset="0"/>
                <a:ea typeface="Calibri" pitchFamily="34" charset="-122"/>
                <a:cs typeface="Calibri" pitchFamily="34" charset="-120"/>
              </a:rPr>
              <a:t>: el cliente no nota el cambio</a:t>
            </a:r>
            <a:endParaRPr lang="es-ES" sz="13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OBSERVABILIDAD</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Cada token deja rastro</a:t>
            </a:r>
            <a:endParaRPr lang="es-ES" sz="3200" noProof="0" dirty="0"/>
          </a:p>
        </p:txBody>
      </p:sp>
      <p:sp>
        <p:nvSpPr>
          <p:cNvPr id="4" name="Shape 2"/>
          <p:cNvSpPr/>
          <p:nvPr/>
        </p:nvSpPr>
        <p:spPr>
          <a:xfrm>
            <a:off x="548640" y="1554480"/>
            <a:ext cx="7086600" cy="3017520"/>
          </a:xfrm>
          <a:prstGeom prst="roundRect">
            <a:avLst>
              <a:gd name="adj" fmla="val 3636"/>
            </a:avLst>
          </a:prstGeom>
          <a:solidFill>
            <a:srgbClr val="11151D"/>
          </a:solidFill>
          <a:ln w="12700">
            <a:solidFill>
              <a:srgbClr val="11151D"/>
            </a:solidFill>
            <a:prstDash val="solid"/>
          </a:ln>
        </p:spPr>
        <p:txBody>
          <a:bodyPr/>
          <a:lstStyle/>
          <a:p>
            <a:endParaRPr lang="es-ES" noProof="0" dirty="0"/>
          </a:p>
        </p:txBody>
      </p:sp>
      <p:sp>
        <p:nvSpPr>
          <p:cNvPr id="5" name="Shape 3"/>
          <p:cNvSpPr/>
          <p:nvPr/>
        </p:nvSpPr>
        <p:spPr>
          <a:xfrm>
            <a:off x="777240" y="1737360"/>
            <a:ext cx="118872" cy="118872"/>
          </a:xfrm>
          <a:prstGeom prst="ellipse">
            <a:avLst/>
          </a:prstGeom>
          <a:solidFill>
            <a:srgbClr val="E0524A"/>
          </a:solidFill>
          <a:ln w="12700">
            <a:solidFill>
              <a:srgbClr val="E0524A"/>
            </a:solidFill>
            <a:prstDash val="solid"/>
          </a:ln>
        </p:spPr>
        <p:txBody>
          <a:bodyPr/>
          <a:lstStyle/>
          <a:p>
            <a:endParaRPr lang="es-ES" noProof="0" dirty="0"/>
          </a:p>
        </p:txBody>
      </p:sp>
      <p:sp>
        <p:nvSpPr>
          <p:cNvPr id="6" name="Shape 4"/>
          <p:cNvSpPr/>
          <p:nvPr/>
        </p:nvSpPr>
        <p:spPr>
          <a:xfrm>
            <a:off x="978408" y="1737360"/>
            <a:ext cx="118872" cy="118872"/>
          </a:xfrm>
          <a:prstGeom prst="ellipse">
            <a:avLst/>
          </a:prstGeom>
          <a:solidFill>
            <a:srgbClr val="F2A900"/>
          </a:solidFill>
          <a:ln w="12700">
            <a:solidFill>
              <a:srgbClr val="F2A900"/>
            </a:solidFill>
            <a:prstDash val="solid"/>
          </a:ln>
        </p:spPr>
        <p:txBody>
          <a:bodyPr/>
          <a:lstStyle/>
          <a:p>
            <a:endParaRPr lang="es-ES" noProof="0" dirty="0"/>
          </a:p>
        </p:txBody>
      </p:sp>
      <p:sp>
        <p:nvSpPr>
          <p:cNvPr id="7" name="Shape 5"/>
          <p:cNvSpPr/>
          <p:nvPr/>
        </p:nvSpPr>
        <p:spPr>
          <a:xfrm>
            <a:off x="1179576" y="1737360"/>
            <a:ext cx="118872" cy="118872"/>
          </a:xfrm>
          <a:prstGeom prst="ellipse">
            <a:avLst/>
          </a:prstGeom>
          <a:solidFill>
            <a:srgbClr val="10A38A"/>
          </a:solidFill>
          <a:ln w="12700">
            <a:solidFill>
              <a:srgbClr val="10A38A"/>
            </a:solidFill>
            <a:prstDash val="solid"/>
          </a:ln>
        </p:spPr>
        <p:txBody>
          <a:bodyPr/>
          <a:lstStyle/>
          <a:p>
            <a:endParaRPr lang="es-ES" noProof="0" dirty="0"/>
          </a:p>
        </p:txBody>
      </p:sp>
      <p:sp>
        <p:nvSpPr>
          <p:cNvPr id="8" name="Text 6"/>
          <p:cNvSpPr txBox="1"/>
          <p:nvPr/>
        </p:nvSpPr>
        <p:spPr>
          <a:xfrm>
            <a:off x="1463040" y="1673352"/>
            <a:ext cx="5897880" cy="256032"/>
          </a:xfrm>
          <a:prstGeom prst="rect">
            <a:avLst/>
          </a:prstGeom>
          <a:noFill/>
          <a:ln/>
        </p:spPr>
        <p:txBody>
          <a:bodyPr wrap="square" lIns="0" tIns="0" rIns="0" bIns="0" rtlCol="0" anchor="t"/>
          <a:lstStyle/>
          <a:p>
            <a:pPr marL="0" indent="0">
              <a:buNone/>
            </a:pPr>
            <a:r>
              <a:rPr lang="es-ES" sz="1100" noProof="0" dirty="0">
                <a:solidFill>
                  <a:srgbClr val="7D8796"/>
                </a:solidFill>
                <a:latin typeface="Consolas" pitchFamily="34" charset="0"/>
                <a:ea typeface="Consolas" pitchFamily="34" charset="-122"/>
                <a:cs typeface="Consolas" pitchFamily="34" charset="-120"/>
              </a:rPr>
              <a:t>Application Insights · Logs (KQL)</a:t>
            </a:r>
            <a:endParaRPr lang="es-ES" sz="1100" noProof="0" dirty="0"/>
          </a:p>
        </p:txBody>
      </p:sp>
      <p:sp>
        <p:nvSpPr>
          <p:cNvPr id="9" name="Text 7"/>
          <p:cNvSpPr txBox="1"/>
          <p:nvPr/>
        </p:nvSpPr>
        <p:spPr>
          <a:xfrm>
            <a:off x="822960" y="2084832"/>
            <a:ext cx="6583680" cy="2331720"/>
          </a:xfrm>
          <a:prstGeom prst="rect">
            <a:avLst/>
          </a:prstGeom>
          <a:noFill/>
          <a:ln/>
        </p:spPr>
        <p:txBody>
          <a:bodyPr wrap="square" lIns="0" tIns="0" rIns="0" bIns="0" rtlCol="0" anchor="t"/>
          <a:lstStyle/>
          <a:p>
            <a:pPr marL="0" indent="0">
              <a:lnSpc>
                <a:spcPct val="112000"/>
              </a:lnSpc>
              <a:buNone/>
            </a:pPr>
            <a:r>
              <a:rPr lang="es-ES" sz="1300" b="1" noProof="0" dirty="0" err="1">
                <a:solidFill>
                  <a:srgbClr val="10A38A"/>
                </a:solidFill>
                <a:latin typeface="Consolas" pitchFamily="34" charset="0"/>
                <a:ea typeface="Consolas" pitchFamily="34" charset="-122"/>
                <a:cs typeface="Consolas" pitchFamily="34" charset="-120"/>
              </a:rPr>
              <a:t>customMetrics</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where</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timestamp</a:t>
            </a:r>
            <a:r>
              <a:rPr lang="es-ES" sz="1300" noProof="0" dirty="0">
                <a:solidFill>
                  <a:srgbClr val="E6EDF3"/>
                </a:solidFill>
                <a:latin typeface="Consolas" pitchFamily="34" charset="0"/>
                <a:ea typeface="Consolas" pitchFamily="34" charset="-122"/>
                <a:cs typeface="Consolas" pitchFamily="34" charset="-120"/>
              </a:rPr>
              <a:t> &gt; </a:t>
            </a:r>
            <a:r>
              <a:rPr lang="es-ES" sz="1300" noProof="0" dirty="0" err="1">
                <a:solidFill>
                  <a:srgbClr val="E6EDF3"/>
                </a:solidFill>
                <a:latin typeface="Consolas" pitchFamily="34" charset="0"/>
                <a:ea typeface="Consolas" pitchFamily="34" charset="-122"/>
                <a:cs typeface="Consolas" pitchFamily="34" charset="-120"/>
              </a:rPr>
              <a:t>ago</a:t>
            </a:r>
            <a:r>
              <a:rPr lang="es-ES" sz="1300" noProof="0" dirty="0">
                <a:solidFill>
                  <a:srgbClr val="E6EDF3"/>
                </a:solidFill>
                <a:latin typeface="Consolas" pitchFamily="34" charset="0"/>
                <a:ea typeface="Consolas" pitchFamily="34" charset="-122"/>
                <a:cs typeface="Consolas" pitchFamily="34" charset="-120"/>
              </a:rPr>
              <a:t>(30m)</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where</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name</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a:solidFill>
                  <a:srgbClr val="F2A900"/>
                </a:solidFill>
                <a:latin typeface="Consolas" pitchFamily="34" charset="0"/>
                <a:ea typeface="Consolas" pitchFamily="34" charset="-122"/>
                <a:cs typeface="Consolas" pitchFamily="34" charset="-120"/>
              </a:rPr>
              <a:t>"Total Tokens"</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extend</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Subscription</a:t>
            </a:r>
            <a:r>
              <a:rPr lang="es-ES" sz="1300" noProof="0" dirty="0">
                <a:solidFill>
                  <a:srgbClr val="E6EDF3"/>
                </a:solidFill>
                <a:latin typeface="Consolas" pitchFamily="34" charset="0"/>
                <a:ea typeface="Consolas" pitchFamily="34" charset="-122"/>
                <a:cs typeface="Consolas" pitchFamily="34" charset="-120"/>
              </a:rPr>
              <a:t> = </a:t>
            </a:r>
            <a:r>
              <a:rPr lang="es-ES" sz="1300" noProof="0" dirty="0" err="1">
                <a:solidFill>
                  <a:srgbClr val="E6EDF3"/>
                </a:solidFill>
                <a:latin typeface="Consolas" pitchFamily="34" charset="0"/>
                <a:ea typeface="Consolas" pitchFamily="34" charset="-122"/>
                <a:cs typeface="Consolas" pitchFamily="34" charset="-120"/>
              </a:rPr>
              <a:t>tostring</a:t>
            </a:r>
            <a:r>
              <a:rPr lang="es-ES" sz="1300" noProof="0" dirty="0">
                <a:solidFill>
                  <a:srgbClr val="E6EDF3"/>
                </a:solidFill>
                <a:latin typeface="Consolas" pitchFamily="34" charset="0"/>
                <a:ea typeface="Consolas" pitchFamily="34" charset="-122"/>
                <a:cs typeface="Consolas" pitchFamily="34" charset="-120"/>
              </a:rPr>
              <a:t>(</a:t>
            </a:r>
            <a:r>
              <a:rPr lang="es-ES" sz="1300" noProof="0" dirty="0" err="1">
                <a:solidFill>
                  <a:srgbClr val="E6EDF3"/>
                </a:solidFill>
                <a:latin typeface="Consolas" pitchFamily="34" charset="0"/>
                <a:ea typeface="Consolas" pitchFamily="34" charset="-122"/>
                <a:cs typeface="Consolas" pitchFamily="34" charset="-120"/>
              </a:rPr>
              <a:t>customDimensions</a:t>
            </a:r>
            <a:r>
              <a:rPr lang="es-ES" sz="1300" noProof="0" dirty="0">
                <a:solidFill>
                  <a:srgbClr val="E6EDF3"/>
                </a:solidFill>
                <a:latin typeface="Consolas" pitchFamily="34" charset="0"/>
                <a:ea typeface="Consolas" pitchFamily="34" charset="-122"/>
                <a:cs typeface="Consolas" pitchFamily="34" charset="-120"/>
              </a:rPr>
              <a:t>[</a:t>
            </a:r>
            <a:r>
              <a:rPr lang="es-ES" sz="1300" noProof="0" dirty="0">
                <a:solidFill>
                  <a:srgbClr val="F2A900"/>
                </a:solidFill>
                <a:latin typeface="Consolas" pitchFamily="34" charset="0"/>
                <a:ea typeface="Consolas" pitchFamily="34" charset="-122"/>
                <a:cs typeface="Consolas" pitchFamily="34" charset="-120"/>
              </a:rPr>
              <a:t>"</a:t>
            </a:r>
            <a:r>
              <a:rPr lang="es-ES" sz="1300" noProof="0" dirty="0" err="1">
                <a:solidFill>
                  <a:srgbClr val="F2A900"/>
                </a:solidFill>
                <a:latin typeface="Consolas" pitchFamily="34" charset="0"/>
                <a:ea typeface="Consolas" pitchFamily="34" charset="-122"/>
                <a:cs typeface="Consolas" pitchFamily="34" charset="-120"/>
              </a:rPr>
              <a:t>Subscription</a:t>
            </a:r>
            <a:r>
              <a:rPr lang="es-ES" sz="1300" noProof="0" dirty="0">
                <a:solidFill>
                  <a:srgbClr val="F2A900"/>
                </a:solidFill>
                <a:latin typeface="Consolas" pitchFamily="34" charset="0"/>
                <a:ea typeface="Consolas" pitchFamily="34" charset="-122"/>
                <a:cs typeface="Consolas" pitchFamily="34" charset="-120"/>
              </a:rPr>
              <a:t> ID"</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Backend = </a:t>
            </a:r>
            <a:r>
              <a:rPr lang="es-ES" sz="1300" noProof="0" dirty="0" err="1">
                <a:solidFill>
                  <a:srgbClr val="E6EDF3"/>
                </a:solidFill>
                <a:latin typeface="Consolas" pitchFamily="34" charset="0"/>
                <a:ea typeface="Consolas" pitchFamily="34" charset="-122"/>
                <a:cs typeface="Consolas" pitchFamily="34" charset="-120"/>
              </a:rPr>
              <a:t>tostring</a:t>
            </a:r>
            <a:r>
              <a:rPr lang="es-ES" sz="1300" noProof="0" dirty="0">
                <a:solidFill>
                  <a:srgbClr val="E6EDF3"/>
                </a:solidFill>
                <a:latin typeface="Consolas" pitchFamily="34" charset="0"/>
                <a:ea typeface="Consolas" pitchFamily="34" charset="-122"/>
                <a:cs typeface="Consolas" pitchFamily="34" charset="-120"/>
              </a:rPr>
              <a:t>(</a:t>
            </a:r>
            <a:r>
              <a:rPr lang="es-ES" sz="1300" noProof="0" dirty="0" err="1">
                <a:solidFill>
                  <a:srgbClr val="E6EDF3"/>
                </a:solidFill>
                <a:latin typeface="Consolas" pitchFamily="34" charset="0"/>
                <a:ea typeface="Consolas" pitchFamily="34" charset="-122"/>
                <a:cs typeface="Consolas" pitchFamily="34" charset="-120"/>
              </a:rPr>
              <a:t>customDimensions</a:t>
            </a:r>
            <a:r>
              <a:rPr lang="es-ES" sz="1300" noProof="0" dirty="0">
                <a:solidFill>
                  <a:srgbClr val="E6EDF3"/>
                </a:solidFill>
                <a:latin typeface="Consolas" pitchFamily="34" charset="0"/>
                <a:ea typeface="Consolas" pitchFamily="34" charset="-122"/>
                <a:cs typeface="Consolas" pitchFamily="34" charset="-120"/>
              </a:rPr>
              <a:t>[</a:t>
            </a:r>
            <a:r>
              <a:rPr lang="es-ES" sz="1300" noProof="0" dirty="0">
                <a:solidFill>
                  <a:srgbClr val="F2A900"/>
                </a:solidFill>
                <a:latin typeface="Consolas" pitchFamily="34" charset="0"/>
                <a:ea typeface="Consolas" pitchFamily="34" charset="-122"/>
                <a:cs typeface="Consolas" pitchFamily="34" charset="-120"/>
              </a:rPr>
              <a:t>"Backend ID"</a:t>
            </a:r>
            <a:r>
              <a:rPr lang="es-ES" sz="1300" noProof="0" dirty="0">
                <a:solidFill>
                  <a:srgbClr val="E6EDF3"/>
                </a:solidFill>
                <a:latin typeface="Consolas" pitchFamily="34" charset="0"/>
                <a:ea typeface="Consolas" pitchFamily="34" charset="-122"/>
                <a:cs typeface="Consolas" pitchFamily="34" charset="-120"/>
              </a:rPr>
              <a:t>])</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summarize</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a:solidFill>
                  <a:srgbClr val="E6EDF3"/>
                </a:solidFill>
                <a:latin typeface="Consolas" pitchFamily="34" charset="0"/>
                <a:ea typeface="Consolas" pitchFamily="34" charset="-122"/>
                <a:cs typeface="Consolas" pitchFamily="34" charset="-120"/>
              </a:rPr>
              <a:t>Tokens = sum(</a:t>
            </a:r>
            <a:r>
              <a:rPr lang="es-ES" sz="1300" noProof="0" dirty="0" err="1">
                <a:solidFill>
                  <a:srgbClr val="E6EDF3"/>
                </a:solidFill>
                <a:latin typeface="Consolas" pitchFamily="34" charset="0"/>
                <a:ea typeface="Consolas" pitchFamily="34" charset="-122"/>
                <a:cs typeface="Consolas" pitchFamily="34" charset="-120"/>
              </a:rPr>
              <a:t>valueSum</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by</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Subscription</a:t>
            </a:r>
            <a:r>
              <a:rPr lang="es-ES" sz="1300" noProof="0" dirty="0">
                <a:solidFill>
                  <a:srgbClr val="E6EDF3"/>
                </a:solidFill>
                <a:latin typeface="Consolas" pitchFamily="34" charset="0"/>
                <a:ea typeface="Consolas" pitchFamily="34" charset="-122"/>
                <a:cs typeface="Consolas" pitchFamily="34" charset="-120"/>
              </a:rPr>
              <a:t>, Backend</a:t>
            </a:r>
            <a:endParaRPr lang="es-ES" sz="1300" noProof="0" dirty="0"/>
          </a:p>
          <a:p>
            <a:pPr marL="0" indent="0">
              <a:lnSpc>
                <a:spcPct val="112000"/>
              </a:lnSpc>
              <a:buNone/>
            </a:pP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order</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B79BFF"/>
                </a:solidFill>
                <a:latin typeface="Consolas" pitchFamily="34" charset="0"/>
                <a:ea typeface="Consolas" pitchFamily="34" charset="-122"/>
                <a:cs typeface="Consolas" pitchFamily="34" charset="-120"/>
              </a:rPr>
              <a:t>by</a:t>
            </a:r>
            <a:r>
              <a:rPr lang="es-ES" sz="1300" noProof="0" dirty="0">
                <a:solidFill>
                  <a:srgbClr val="B79BFF"/>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Subscription</a:t>
            </a:r>
            <a:r>
              <a:rPr lang="es-ES" sz="1300" noProof="0" dirty="0">
                <a:solidFill>
                  <a:srgbClr val="E6EDF3"/>
                </a:solidFill>
                <a:latin typeface="Consolas" pitchFamily="34" charset="0"/>
                <a:ea typeface="Consolas" pitchFamily="34" charset="-122"/>
                <a:cs typeface="Consolas" pitchFamily="34" charset="-120"/>
              </a:rPr>
              <a:t> </a:t>
            </a:r>
            <a:r>
              <a:rPr lang="es-ES" sz="1300" noProof="0" dirty="0" err="1">
                <a:solidFill>
                  <a:srgbClr val="E6EDF3"/>
                </a:solidFill>
                <a:latin typeface="Consolas" pitchFamily="34" charset="0"/>
                <a:ea typeface="Consolas" pitchFamily="34" charset="-122"/>
                <a:cs typeface="Consolas" pitchFamily="34" charset="-120"/>
              </a:rPr>
              <a:t>asc</a:t>
            </a:r>
            <a:r>
              <a:rPr lang="es-ES" sz="1300" noProof="0" dirty="0">
                <a:solidFill>
                  <a:srgbClr val="E6EDF3"/>
                </a:solidFill>
                <a:latin typeface="Consolas" pitchFamily="34" charset="0"/>
                <a:ea typeface="Consolas" pitchFamily="34" charset="-122"/>
                <a:cs typeface="Consolas" pitchFamily="34" charset="-120"/>
              </a:rPr>
              <a:t>, Backend </a:t>
            </a:r>
            <a:r>
              <a:rPr lang="es-ES" sz="1300" noProof="0" dirty="0" err="1">
                <a:solidFill>
                  <a:srgbClr val="E6EDF3"/>
                </a:solidFill>
                <a:latin typeface="Consolas" pitchFamily="34" charset="0"/>
                <a:ea typeface="Consolas" pitchFamily="34" charset="-122"/>
                <a:cs typeface="Consolas" pitchFamily="34" charset="-120"/>
              </a:rPr>
              <a:t>asc</a:t>
            </a:r>
            <a:endParaRPr lang="es-ES" sz="1300" noProof="0" dirty="0"/>
          </a:p>
          <a:p>
            <a:pPr marL="0" indent="0">
              <a:lnSpc>
                <a:spcPct val="112000"/>
              </a:lnSpc>
              <a:buNone/>
            </a:pPr>
            <a:r>
              <a:rPr lang="es-ES" sz="1300" noProof="0" dirty="0">
                <a:solidFill>
                  <a:srgbClr val="E6EDF3"/>
                </a:solidFill>
                <a:latin typeface="Consolas" pitchFamily="34" charset="0"/>
                <a:ea typeface="Consolas" pitchFamily="34" charset="-122"/>
                <a:cs typeface="Consolas" pitchFamily="34" charset="-120"/>
              </a:rPr>
              <a:t> </a:t>
            </a:r>
            <a:endParaRPr lang="es-ES" sz="1300" noProof="0" dirty="0"/>
          </a:p>
          <a:p>
            <a:pPr marL="0" indent="0">
              <a:lnSpc>
                <a:spcPct val="112000"/>
              </a:lnSpc>
              <a:buNone/>
            </a:pPr>
            <a:r>
              <a:rPr lang="es-ES" sz="1300" noProof="0" dirty="0">
                <a:solidFill>
                  <a:srgbClr val="7D8796"/>
                </a:solidFill>
                <a:latin typeface="Consolas" pitchFamily="34" charset="0"/>
                <a:ea typeface="Consolas" pitchFamily="34" charset="-122"/>
                <a:cs typeface="Consolas" pitchFamily="34" charset="-120"/>
              </a:rPr>
              <a:t>// Tras pedir trabajo a Shuri y Vision, crece:</a:t>
            </a:r>
            <a:endParaRPr lang="es-ES" sz="1300" noProof="0" dirty="0"/>
          </a:p>
          <a:p>
            <a:pPr marL="0" indent="0">
              <a:lnSpc>
                <a:spcPct val="112000"/>
              </a:lnSpc>
              <a:buNone/>
            </a:pPr>
            <a:r>
              <a:rPr lang="es-ES" sz="1300" noProof="0" dirty="0">
                <a:solidFill>
                  <a:srgbClr val="10A38A"/>
                </a:solidFill>
                <a:latin typeface="Consolas" pitchFamily="34" charset="0"/>
                <a:ea typeface="Consolas" pitchFamily="34" charset="-122"/>
                <a:cs typeface="Consolas" pitchFamily="34" charset="-120"/>
              </a:rPr>
              <a:t>// demo-</a:t>
            </a:r>
            <a:r>
              <a:rPr lang="es-ES" sz="1300" noProof="0" dirty="0" err="1">
                <a:solidFill>
                  <a:srgbClr val="10A38A"/>
                </a:solidFill>
                <a:latin typeface="Consolas" pitchFamily="34" charset="0"/>
                <a:ea typeface="Consolas" pitchFamily="34" charset="-122"/>
                <a:cs typeface="Consolas" pitchFamily="34" charset="-120"/>
              </a:rPr>
              <a:t>inference</a:t>
            </a:r>
            <a:r>
              <a:rPr lang="es-ES" sz="1300" noProof="0" dirty="0">
                <a:solidFill>
                  <a:srgbClr val="10A38A"/>
                </a:solidFill>
                <a:latin typeface="Consolas" pitchFamily="34" charset="0"/>
                <a:ea typeface="Consolas" pitchFamily="34" charset="-122"/>
                <a:cs typeface="Consolas" pitchFamily="34" charset="-120"/>
              </a:rPr>
              <a:t> · </a:t>
            </a:r>
            <a:r>
              <a:rPr lang="es-ES" sz="1300" noProof="0" dirty="0" err="1">
                <a:solidFill>
                  <a:srgbClr val="10A38A"/>
                </a:solidFill>
                <a:latin typeface="Consolas" pitchFamily="34" charset="0"/>
                <a:ea typeface="Consolas" pitchFamily="34" charset="-122"/>
                <a:cs typeface="Consolas" pitchFamily="34" charset="-120"/>
              </a:rPr>
              <a:t>foundry-primary</a:t>
            </a:r>
            <a:endParaRPr lang="es-ES" sz="1300" noProof="0" dirty="0"/>
          </a:p>
        </p:txBody>
      </p:sp>
      <p:sp>
        <p:nvSpPr>
          <p:cNvPr id="10" name="Text 8"/>
          <p:cNvSpPr txBox="1"/>
          <p:nvPr/>
        </p:nvSpPr>
        <p:spPr>
          <a:xfrm>
            <a:off x="8092440" y="1554480"/>
            <a:ext cx="3566160" cy="320040"/>
          </a:xfrm>
          <a:prstGeom prst="rect">
            <a:avLst/>
          </a:prstGeom>
          <a:noFill/>
          <a:ln/>
        </p:spPr>
        <p:txBody>
          <a:bodyPr wrap="square" lIns="0" tIns="0" rIns="0" bIns="0" rtlCol="0" anchor="t"/>
          <a:lstStyle/>
          <a:p>
            <a:pPr marL="0" indent="0">
              <a:buNone/>
            </a:pPr>
            <a:r>
              <a:rPr lang="es-ES" sz="1700" b="1" noProof="0" dirty="0">
                <a:solidFill>
                  <a:srgbClr val="1F2328"/>
                </a:solidFill>
                <a:latin typeface="Calibri" pitchFamily="34" charset="0"/>
                <a:ea typeface="Calibri" pitchFamily="34" charset="-122"/>
                <a:cs typeface="Calibri" pitchFamily="34" charset="-120"/>
              </a:rPr>
              <a:t>Qué ves</a:t>
            </a:r>
            <a:endParaRPr lang="es-ES" sz="1700" noProof="0" dirty="0"/>
          </a:p>
        </p:txBody>
      </p:sp>
      <p:sp>
        <p:nvSpPr>
          <p:cNvPr id="11" name="Text 9"/>
          <p:cNvSpPr txBox="1"/>
          <p:nvPr/>
        </p:nvSpPr>
        <p:spPr>
          <a:xfrm>
            <a:off x="8092440" y="2011680"/>
            <a:ext cx="3566160" cy="292608"/>
          </a:xfrm>
          <a:prstGeom prst="rect">
            <a:avLst/>
          </a:prstGeom>
          <a:noFill/>
          <a:ln/>
        </p:spPr>
        <p:txBody>
          <a:bodyPr wrap="square" lIns="0" tIns="0" rIns="0" bIns="0" rtlCol="0" anchor="t"/>
          <a:lstStyle/>
          <a:p>
            <a:pPr marL="0" indent="0">
              <a:buNone/>
            </a:pPr>
            <a:r>
              <a:rPr lang="es-ES" sz="1500" b="1" noProof="0" dirty="0" err="1">
                <a:solidFill>
                  <a:srgbClr val="5B34B0"/>
                </a:solidFill>
                <a:latin typeface="Consolas" pitchFamily="34" charset="0"/>
                <a:ea typeface="Consolas" pitchFamily="34" charset="-122"/>
                <a:cs typeface="Consolas" pitchFamily="34" charset="-120"/>
              </a:rPr>
              <a:t>Subscription</a:t>
            </a:r>
            <a:endParaRPr lang="es-ES" sz="1500" noProof="0" dirty="0"/>
          </a:p>
        </p:txBody>
      </p:sp>
      <p:sp>
        <p:nvSpPr>
          <p:cNvPr id="12" name="Text 10"/>
          <p:cNvSpPr txBox="1"/>
          <p:nvPr/>
        </p:nvSpPr>
        <p:spPr>
          <a:xfrm>
            <a:off x="8092440" y="2313432"/>
            <a:ext cx="3566160" cy="5029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la suscripción de APIM que autenticó la llamada</a:t>
            </a:r>
            <a:endParaRPr lang="es-ES" sz="1300" noProof="0" dirty="0"/>
          </a:p>
        </p:txBody>
      </p:sp>
      <p:sp>
        <p:nvSpPr>
          <p:cNvPr id="13" name="Text 11"/>
          <p:cNvSpPr txBox="1"/>
          <p:nvPr/>
        </p:nvSpPr>
        <p:spPr>
          <a:xfrm>
            <a:off x="8092440" y="2880360"/>
            <a:ext cx="3566160" cy="292608"/>
          </a:xfrm>
          <a:prstGeom prst="rect">
            <a:avLst/>
          </a:prstGeom>
          <a:noFill/>
          <a:ln/>
        </p:spPr>
        <p:txBody>
          <a:bodyPr wrap="square" lIns="0" tIns="0" rIns="0" bIns="0" rtlCol="0" anchor="t"/>
          <a:lstStyle/>
          <a:p>
            <a:pPr marL="0" indent="0">
              <a:buNone/>
            </a:pPr>
            <a:r>
              <a:rPr lang="es-ES" sz="1500" b="1" noProof="0" dirty="0">
                <a:solidFill>
                  <a:srgbClr val="5B34B0"/>
                </a:solidFill>
                <a:latin typeface="Consolas" pitchFamily="34" charset="0"/>
                <a:ea typeface="Consolas" pitchFamily="34" charset="-122"/>
                <a:cs typeface="Consolas" pitchFamily="34" charset="-120"/>
              </a:rPr>
              <a:t>Backend</a:t>
            </a:r>
            <a:endParaRPr lang="es-ES" sz="1500" noProof="0" dirty="0"/>
          </a:p>
        </p:txBody>
      </p:sp>
      <p:sp>
        <p:nvSpPr>
          <p:cNvPr id="14" name="Text 12"/>
          <p:cNvSpPr txBox="1"/>
          <p:nvPr/>
        </p:nvSpPr>
        <p:spPr>
          <a:xfrm>
            <a:off x="8092440" y="3182112"/>
            <a:ext cx="3566160" cy="5029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el backend que eligió APIM, es decir, la región que respondió</a:t>
            </a:r>
            <a:endParaRPr lang="es-ES" sz="1300" noProof="0" dirty="0"/>
          </a:p>
        </p:txBody>
      </p:sp>
      <p:sp>
        <p:nvSpPr>
          <p:cNvPr id="15" name="Text 13"/>
          <p:cNvSpPr txBox="1"/>
          <p:nvPr/>
        </p:nvSpPr>
        <p:spPr>
          <a:xfrm>
            <a:off x="8092440" y="3749040"/>
            <a:ext cx="3566160" cy="292608"/>
          </a:xfrm>
          <a:prstGeom prst="rect">
            <a:avLst/>
          </a:prstGeom>
          <a:noFill/>
          <a:ln/>
        </p:spPr>
        <p:txBody>
          <a:bodyPr wrap="square" lIns="0" tIns="0" rIns="0" bIns="0" rtlCol="0" anchor="t"/>
          <a:lstStyle/>
          <a:p>
            <a:pPr marL="0" indent="0">
              <a:buNone/>
            </a:pPr>
            <a:r>
              <a:rPr lang="es-ES" sz="1500" b="1" noProof="0" dirty="0">
                <a:solidFill>
                  <a:srgbClr val="5B34B0"/>
                </a:solidFill>
                <a:latin typeface="Consolas" pitchFamily="34" charset="0"/>
                <a:ea typeface="Consolas" pitchFamily="34" charset="-122"/>
                <a:cs typeface="Consolas" pitchFamily="34" charset="-120"/>
              </a:rPr>
              <a:t>Tokens</a:t>
            </a:r>
            <a:endParaRPr lang="es-ES" sz="1500" noProof="0" dirty="0"/>
          </a:p>
        </p:txBody>
      </p:sp>
      <p:sp>
        <p:nvSpPr>
          <p:cNvPr id="16" name="Text 14"/>
          <p:cNvSpPr txBox="1"/>
          <p:nvPr/>
        </p:nvSpPr>
        <p:spPr>
          <a:xfrm>
            <a:off x="8092440" y="4050792"/>
            <a:ext cx="3566160" cy="50292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prompt, </a:t>
            </a:r>
            <a:r>
              <a:rPr lang="es-ES" sz="1300" noProof="0" dirty="0" err="1">
                <a:solidFill>
                  <a:srgbClr val="5C6470"/>
                </a:solidFill>
                <a:latin typeface="Calibri" pitchFamily="34" charset="0"/>
                <a:ea typeface="Calibri" pitchFamily="34" charset="-122"/>
                <a:cs typeface="Calibri" pitchFamily="34" charset="-120"/>
              </a:rPr>
              <a:t>completion</a:t>
            </a:r>
            <a:r>
              <a:rPr lang="es-ES" sz="1300" noProof="0" dirty="0">
                <a:solidFill>
                  <a:srgbClr val="5C6470"/>
                </a:solidFill>
                <a:latin typeface="Calibri" pitchFamily="34" charset="0"/>
                <a:ea typeface="Calibri" pitchFamily="34" charset="-122"/>
                <a:cs typeface="Calibri" pitchFamily="34" charset="-120"/>
              </a:rPr>
              <a:t> y total emitidos por APIM</a:t>
            </a:r>
            <a:endParaRPr lang="es-ES" sz="1300" noProof="0" dirty="0"/>
          </a:p>
        </p:txBody>
      </p:sp>
      <p:sp>
        <p:nvSpPr>
          <p:cNvPr id="17" name="Shape 15"/>
          <p:cNvSpPr/>
          <p:nvPr/>
        </p:nvSpPr>
        <p:spPr>
          <a:xfrm>
            <a:off x="548640" y="4846320"/>
            <a:ext cx="5394960" cy="1234440"/>
          </a:xfrm>
          <a:prstGeom prst="roundRect">
            <a:avLst>
              <a:gd name="adj" fmla="val 10370"/>
            </a:avLst>
          </a:prstGeom>
          <a:solidFill>
            <a:srgbClr val="F4F2FB"/>
          </a:solidFill>
          <a:ln w="12700">
            <a:solidFill>
              <a:srgbClr val="F4F2FB"/>
            </a:solidFill>
            <a:prstDash val="solid"/>
          </a:ln>
        </p:spPr>
        <p:txBody>
          <a:bodyPr/>
          <a:lstStyle/>
          <a:p>
            <a:endParaRPr lang="es-ES" noProof="0" dirty="0"/>
          </a:p>
        </p:txBody>
      </p:sp>
      <p:sp>
        <p:nvSpPr>
          <p:cNvPr id="18" name="Shape 16"/>
          <p:cNvSpPr/>
          <p:nvPr/>
        </p:nvSpPr>
        <p:spPr>
          <a:xfrm>
            <a:off x="822960" y="5120640"/>
            <a:ext cx="640080" cy="640080"/>
          </a:xfrm>
          <a:prstGeom prst="roundRect">
            <a:avLst>
              <a:gd name="adj" fmla="val 20000"/>
            </a:avLst>
          </a:prstGeom>
          <a:solidFill>
            <a:srgbClr val="10A38A"/>
          </a:solidFill>
          <a:ln w="12700">
            <a:solidFill>
              <a:srgbClr val="10A38A"/>
            </a:solidFill>
            <a:prstDash val="solid"/>
          </a:ln>
        </p:spPr>
        <p:txBody>
          <a:bodyPr/>
          <a:lstStyle/>
          <a:p>
            <a:endParaRPr lang="es-ES" noProof="0" dirty="0"/>
          </a:p>
        </p:txBody>
      </p:sp>
      <p:pic>
        <p:nvPicPr>
          <p:cNvPr id="19" name="Image 0" descr="preencoded.png"/>
          <p:cNvPicPr>
            <a:picLocks noChangeAspect="1"/>
          </p:cNvPicPr>
          <p:nvPr/>
        </p:nvPicPr>
        <p:blipFill>
          <a:blip r:embed="rId3"/>
          <a:stretch>
            <a:fillRect/>
          </a:stretch>
        </p:blipFill>
        <p:spPr>
          <a:xfrm>
            <a:off x="970178" y="5267858"/>
            <a:ext cx="345643" cy="345643"/>
          </a:xfrm>
          <a:prstGeom prst="rect">
            <a:avLst/>
          </a:prstGeom>
        </p:spPr>
      </p:pic>
      <p:sp>
        <p:nvSpPr>
          <p:cNvPr id="20" name="Text 17"/>
          <p:cNvSpPr txBox="1"/>
          <p:nvPr/>
        </p:nvSpPr>
        <p:spPr>
          <a:xfrm>
            <a:off x="1691640" y="4983480"/>
            <a:ext cx="4069080" cy="320040"/>
          </a:xfrm>
          <a:prstGeom prst="rect">
            <a:avLst/>
          </a:prstGeom>
          <a:noFill/>
          <a:ln/>
        </p:spPr>
        <p:txBody>
          <a:bodyPr wrap="square" lIns="0" tIns="0" rIns="0" bIns="0" rtlCol="0" anchor="t"/>
          <a:lstStyle/>
          <a:p>
            <a:pPr marL="0" indent="0">
              <a:buNone/>
            </a:pPr>
            <a:r>
              <a:rPr lang="es-ES" sz="1600" b="1" noProof="0" dirty="0">
                <a:solidFill>
                  <a:srgbClr val="1F2328"/>
                </a:solidFill>
                <a:latin typeface="Calibri" pitchFamily="34" charset="0"/>
                <a:ea typeface="Calibri" pitchFamily="34" charset="-122"/>
                <a:cs typeface="Calibri" pitchFamily="34" charset="-120"/>
              </a:rPr>
              <a:t>Los rechazos también quedan</a:t>
            </a:r>
            <a:endParaRPr lang="es-ES" sz="1600" noProof="0" dirty="0"/>
          </a:p>
        </p:txBody>
      </p:sp>
      <p:sp>
        <p:nvSpPr>
          <p:cNvPr id="21" name="Text 18"/>
          <p:cNvSpPr txBox="1"/>
          <p:nvPr/>
        </p:nvSpPr>
        <p:spPr>
          <a:xfrm>
            <a:off x="1691640" y="5330952"/>
            <a:ext cx="4069080" cy="64008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La tabla </a:t>
            </a:r>
            <a:r>
              <a:rPr lang="es-ES" sz="1300" noProof="0" dirty="0" err="1">
                <a:solidFill>
                  <a:srgbClr val="5C6470"/>
                </a:solidFill>
                <a:latin typeface="Calibri" pitchFamily="34" charset="0"/>
                <a:ea typeface="Calibri" pitchFamily="34" charset="-122"/>
                <a:cs typeface="Calibri" pitchFamily="34" charset="-120"/>
              </a:rPr>
              <a:t>requests</a:t>
            </a:r>
            <a:r>
              <a:rPr lang="es-ES" sz="1300" noProof="0" dirty="0">
                <a:solidFill>
                  <a:srgbClr val="5C6470"/>
                </a:solidFill>
                <a:latin typeface="Calibri" pitchFamily="34" charset="0"/>
                <a:ea typeface="Calibri" pitchFamily="34" charset="-122"/>
                <a:cs typeface="Calibri" pitchFamily="34" charset="-120"/>
              </a:rPr>
              <a:t> con </a:t>
            </a:r>
            <a:r>
              <a:rPr lang="es-ES" sz="1300" noProof="0" dirty="0" err="1">
                <a:solidFill>
                  <a:srgbClr val="5C6470"/>
                </a:solidFill>
                <a:latin typeface="Calibri" pitchFamily="34" charset="0"/>
                <a:ea typeface="Calibri" pitchFamily="34" charset="-122"/>
                <a:cs typeface="Calibri" pitchFamily="34" charset="-120"/>
              </a:rPr>
              <a:t>resultCode</a:t>
            </a:r>
            <a:r>
              <a:rPr lang="es-ES" sz="1300" noProof="0" dirty="0">
                <a:solidFill>
                  <a:srgbClr val="5C6470"/>
                </a:solidFill>
                <a:latin typeface="Calibri" pitchFamily="34" charset="0"/>
                <a:ea typeface="Calibri" pitchFamily="34" charset="-122"/>
                <a:cs typeface="Calibri" pitchFamily="34" charset="-120"/>
              </a:rPr>
              <a:t> 429 lista cada rechazo del </a:t>
            </a:r>
            <a:r>
              <a:rPr lang="es-ES" sz="1300" noProof="0" dirty="0" err="1">
                <a:solidFill>
                  <a:srgbClr val="5C6470"/>
                </a:solidFill>
                <a:latin typeface="Calibri" pitchFamily="34" charset="0"/>
                <a:ea typeface="Calibri" pitchFamily="34" charset="-122"/>
                <a:cs typeface="Calibri" pitchFamily="34" charset="-120"/>
              </a:rPr>
              <a:t>gateway</a:t>
            </a:r>
            <a:r>
              <a:rPr lang="es-ES" sz="1300" noProof="0" dirty="0">
                <a:solidFill>
                  <a:srgbClr val="5C6470"/>
                </a:solidFill>
                <a:latin typeface="Calibri" pitchFamily="34" charset="0"/>
                <a:ea typeface="Calibri" pitchFamily="34" charset="-122"/>
                <a:cs typeface="Calibri" pitchFamily="34" charset="-120"/>
              </a:rPr>
              <a:t> con su </a:t>
            </a:r>
            <a:r>
              <a:rPr lang="es-ES" sz="1300" noProof="0" dirty="0" err="1">
                <a:solidFill>
                  <a:srgbClr val="5C6470"/>
                </a:solidFill>
                <a:latin typeface="Calibri" pitchFamily="34" charset="0"/>
                <a:ea typeface="Calibri" pitchFamily="34" charset="-122"/>
                <a:cs typeface="Calibri" pitchFamily="34" charset="-120"/>
              </a:rPr>
              <a:t>operation_Id</a:t>
            </a:r>
            <a:r>
              <a:rPr lang="es-ES" sz="1300" noProof="0" dirty="0">
                <a:solidFill>
                  <a:srgbClr val="5C6470"/>
                </a:solidFill>
                <a:latin typeface="Calibri" pitchFamily="34" charset="0"/>
                <a:ea typeface="Calibri" pitchFamily="34" charset="-122"/>
                <a:cs typeface="Calibri" pitchFamily="34" charset="-120"/>
              </a:rPr>
              <a:t>.</a:t>
            </a:r>
            <a:endParaRPr lang="es-ES" sz="1300" noProof="0" dirty="0"/>
          </a:p>
        </p:txBody>
      </p:sp>
      <p:sp>
        <p:nvSpPr>
          <p:cNvPr id="22" name="Shape 19"/>
          <p:cNvSpPr/>
          <p:nvPr/>
        </p:nvSpPr>
        <p:spPr>
          <a:xfrm>
            <a:off x="6217920" y="4846320"/>
            <a:ext cx="5394960" cy="1234440"/>
          </a:xfrm>
          <a:prstGeom prst="roundRect">
            <a:avLst>
              <a:gd name="adj" fmla="val 10370"/>
            </a:avLst>
          </a:prstGeom>
          <a:solidFill>
            <a:srgbClr val="F4F2FB"/>
          </a:solidFill>
          <a:ln w="12700">
            <a:solidFill>
              <a:srgbClr val="F4F2FB"/>
            </a:solidFill>
            <a:prstDash val="solid"/>
          </a:ln>
        </p:spPr>
        <p:txBody>
          <a:bodyPr/>
          <a:lstStyle/>
          <a:p>
            <a:endParaRPr lang="es-ES" noProof="0" dirty="0"/>
          </a:p>
        </p:txBody>
      </p:sp>
      <p:sp>
        <p:nvSpPr>
          <p:cNvPr id="23" name="Shape 20"/>
          <p:cNvSpPr/>
          <p:nvPr/>
        </p:nvSpPr>
        <p:spPr>
          <a:xfrm>
            <a:off x="6492240" y="5120640"/>
            <a:ext cx="640080" cy="640080"/>
          </a:xfrm>
          <a:prstGeom prst="roundRect">
            <a:avLst>
              <a:gd name="adj" fmla="val 20000"/>
            </a:avLst>
          </a:prstGeom>
          <a:solidFill>
            <a:srgbClr val="F2A900"/>
          </a:solidFill>
          <a:ln w="12700">
            <a:solidFill>
              <a:srgbClr val="F2A900"/>
            </a:solidFill>
            <a:prstDash val="solid"/>
          </a:ln>
        </p:spPr>
        <p:txBody>
          <a:bodyPr/>
          <a:lstStyle/>
          <a:p>
            <a:endParaRPr lang="es-ES" noProof="0" dirty="0"/>
          </a:p>
        </p:txBody>
      </p:sp>
      <p:pic>
        <p:nvPicPr>
          <p:cNvPr id="24" name="Image 1" descr="preencoded.png"/>
          <p:cNvPicPr>
            <a:picLocks noChangeAspect="1"/>
          </p:cNvPicPr>
          <p:nvPr/>
        </p:nvPicPr>
        <p:blipFill>
          <a:blip r:embed="rId4"/>
          <a:stretch>
            <a:fillRect/>
          </a:stretch>
        </p:blipFill>
        <p:spPr>
          <a:xfrm>
            <a:off x="6639458" y="5267858"/>
            <a:ext cx="345643" cy="345643"/>
          </a:xfrm>
          <a:prstGeom prst="rect">
            <a:avLst/>
          </a:prstGeom>
        </p:spPr>
      </p:pic>
      <p:sp>
        <p:nvSpPr>
          <p:cNvPr id="25" name="Text 21"/>
          <p:cNvSpPr txBox="1"/>
          <p:nvPr/>
        </p:nvSpPr>
        <p:spPr>
          <a:xfrm>
            <a:off x="7360920" y="4983480"/>
            <a:ext cx="4069080" cy="320040"/>
          </a:xfrm>
          <a:prstGeom prst="rect">
            <a:avLst/>
          </a:prstGeom>
          <a:noFill/>
          <a:ln/>
        </p:spPr>
        <p:txBody>
          <a:bodyPr wrap="square" lIns="0" tIns="0" rIns="0" bIns="0" rtlCol="0" anchor="t"/>
          <a:lstStyle/>
          <a:p>
            <a:pPr marL="0" indent="0">
              <a:buNone/>
            </a:pPr>
            <a:r>
              <a:rPr lang="es-ES" sz="1600" b="1" noProof="0" dirty="0">
                <a:solidFill>
                  <a:srgbClr val="1F2328"/>
                </a:solidFill>
                <a:latin typeface="Calibri" pitchFamily="34" charset="0"/>
                <a:ea typeface="Calibri" pitchFamily="34" charset="-122"/>
                <a:cs typeface="Calibri" pitchFamily="34" charset="-120"/>
              </a:rPr>
              <a:t>Activa las dimensiones</a:t>
            </a:r>
            <a:endParaRPr lang="es-ES" sz="1600" noProof="0" dirty="0"/>
          </a:p>
        </p:txBody>
      </p:sp>
      <p:sp>
        <p:nvSpPr>
          <p:cNvPr id="26" name="Text 22"/>
          <p:cNvSpPr txBox="1"/>
          <p:nvPr/>
        </p:nvSpPr>
        <p:spPr>
          <a:xfrm>
            <a:off x="7360920" y="5330952"/>
            <a:ext cx="4069080" cy="640080"/>
          </a:xfrm>
          <a:prstGeom prst="rect">
            <a:avLst/>
          </a:prstGeom>
          <a:noFill/>
          <a:ln/>
        </p:spPr>
        <p:txBody>
          <a:bodyPr wrap="square" lIns="0" tIns="0" rIns="0" bIns="0" rtlCol="0" anchor="t"/>
          <a:lstStyle/>
          <a:p>
            <a:pPr marL="0" indent="0">
              <a:buNone/>
            </a:pPr>
            <a:r>
              <a:rPr lang="es-ES" sz="1300" noProof="0" dirty="0">
                <a:solidFill>
                  <a:srgbClr val="5C6470"/>
                </a:solidFill>
                <a:latin typeface="Calibri" pitchFamily="34" charset="0"/>
                <a:ea typeface="Calibri" pitchFamily="34" charset="-122"/>
                <a:cs typeface="Calibri" pitchFamily="34" charset="-120"/>
              </a:rPr>
              <a:t>Application Insights › </a:t>
            </a:r>
            <a:r>
              <a:rPr lang="es-ES" sz="1300" noProof="0" dirty="0" err="1">
                <a:solidFill>
                  <a:srgbClr val="5C6470"/>
                </a:solidFill>
                <a:latin typeface="Calibri" pitchFamily="34" charset="0"/>
                <a:ea typeface="Calibri" pitchFamily="34" charset="-122"/>
                <a:cs typeface="Calibri" pitchFamily="34" charset="-120"/>
              </a:rPr>
              <a:t>Custom</a:t>
            </a:r>
            <a:r>
              <a:rPr lang="es-ES" sz="1300" noProof="0" dirty="0">
                <a:solidFill>
                  <a:srgbClr val="5C6470"/>
                </a:solidFill>
                <a:latin typeface="Calibri" pitchFamily="34" charset="0"/>
                <a:ea typeface="Calibri" pitchFamily="34" charset="-122"/>
                <a:cs typeface="Calibri" pitchFamily="34" charset="-120"/>
              </a:rPr>
              <a:t> </a:t>
            </a:r>
            <a:r>
              <a:rPr lang="es-ES" sz="1300" noProof="0" dirty="0" err="1">
                <a:solidFill>
                  <a:srgbClr val="5C6470"/>
                </a:solidFill>
                <a:latin typeface="Calibri" pitchFamily="34" charset="0"/>
                <a:ea typeface="Calibri" pitchFamily="34" charset="-122"/>
                <a:cs typeface="Calibri" pitchFamily="34" charset="-120"/>
              </a:rPr>
              <a:t>metrics</a:t>
            </a:r>
            <a:r>
              <a:rPr lang="es-ES" sz="1300" noProof="0" dirty="0">
                <a:solidFill>
                  <a:srgbClr val="5C6470"/>
                </a:solidFill>
                <a:latin typeface="Calibri" pitchFamily="34" charset="0"/>
                <a:ea typeface="Calibri" pitchFamily="34" charset="-122"/>
                <a:cs typeface="Calibri" pitchFamily="34" charset="-120"/>
              </a:rPr>
              <a:t> › With </a:t>
            </a:r>
            <a:r>
              <a:rPr lang="es-ES" sz="1300" noProof="0" dirty="0" err="1">
                <a:solidFill>
                  <a:srgbClr val="5C6470"/>
                </a:solidFill>
                <a:latin typeface="Calibri" pitchFamily="34" charset="0"/>
                <a:ea typeface="Calibri" pitchFamily="34" charset="-122"/>
                <a:cs typeface="Calibri" pitchFamily="34" charset="-120"/>
              </a:rPr>
              <a:t>dimensions</a:t>
            </a:r>
            <a:r>
              <a:rPr lang="es-ES" sz="1300" noProof="0" dirty="0">
                <a:solidFill>
                  <a:srgbClr val="5C6470"/>
                </a:solidFill>
                <a:latin typeface="Calibri" pitchFamily="34" charset="0"/>
                <a:ea typeface="Calibri" pitchFamily="34" charset="-122"/>
                <a:cs typeface="Calibri" pitchFamily="34" charset="-120"/>
              </a:rPr>
              <a:t>; sin ello se pierden </a:t>
            </a:r>
            <a:r>
              <a:rPr lang="es-ES" sz="1300" noProof="0" dirty="0" err="1">
                <a:solidFill>
                  <a:srgbClr val="5C6470"/>
                </a:solidFill>
                <a:latin typeface="Calibri" pitchFamily="34" charset="0"/>
                <a:ea typeface="Calibri" pitchFamily="34" charset="-122"/>
                <a:cs typeface="Calibri" pitchFamily="34" charset="-120"/>
              </a:rPr>
              <a:t>Subscription</a:t>
            </a:r>
            <a:r>
              <a:rPr lang="es-ES" sz="1300" noProof="0" dirty="0">
                <a:solidFill>
                  <a:srgbClr val="5C6470"/>
                </a:solidFill>
                <a:latin typeface="Calibri" pitchFamily="34" charset="0"/>
                <a:ea typeface="Calibri" pitchFamily="34" charset="-122"/>
                <a:cs typeface="Calibri" pitchFamily="34" charset="-120"/>
              </a:rPr>
              <a:t> y Backend.</a:t>
            </a:r>
            <a:endParaRPr lang="es-ES" sz="13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EN VIVO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Guion de la demo</a:t>
            </a:r>
            <a:endParaRPr lang="es-ES" sz="3200" noProof="0" dirty="0"/>
          </a:p>
        </p:txBody>
      </p:sp>
      <p:sp>
        <p:nvSpPr>
          <p:cNvPr id="4" name="Shape 2"/>
          <p:cNvSpPr/>
          <p:nvPr/>
        </p:nvSpPr>
        <p:spPr>
          <a:xfrm>
            <a:off x="548640" y="1554480"/>
            <a:ext cx="3566160" cy="4526280"/>
          </a:xfrm>
          <a:prstGeom prst="roundRect">
            <a:avLst>
              <a:gd name="adj" fmla="val 3590"/>
            </a:avLst>
          </a:prstGeom>
          <a:solidFill>
            <a:srgbClr val="F4F2FB"/>
          </a:solidFill>
          <a:ln w="12700">
            <a:solidFill>
              <a:srgbClr val="F4F2FB"/>
            </a:solidFill>
            <a:prstDash val="solid"/>
          </a:ln>
        </p:spPr>
        <p:txBody>
          <a:bodyPr/>
          <a:lstStyle/>
          <a:p>
            <a:endParaRPr lang="es-ES" noProof="0" dirty="0"/>
          </a:p>
        </p:txBody>
      </p:sp>
      <p:sp>
        <p:nvSpPr>
          <p:cNvPr id="5" name="Text 3"/>
          <p:cNvSpPr txBox="1"/>
          <p:nvPr/>
        </p:nvSpPr>
        <p:spPr>
          <a:xfrm>
            <a:off x="822960" y="1755648"/>
            <a:ext cx="1828800" cy="256032"/>
          </a:xfrm>
          <a:prstGeom prst="rect">
            <a:avLst/>
          </a:prstGeom>
          <a:noFill/>
          <a:ln/>
        </p:spPr>
        <p:txBody>
          <a:bodyPr wrap="square" lIns="0" tIns="0" rIns="0" bIns="0" rtlCol="0" anchor="t"/>
          <a:lstStyle/>
          <a:p>
            <a:pPr marL="0" indent="0">
              <a:buNone/>
            </a:pPr>
            <a:r>
              <a:rPr lang="es-ES" sz="1100" b="1" kern="0" spc="200" noProof="0" dirty="0">
                <a:solidFill>
                  <a:srgbClr val="5C6470"/>
                </a:solidFill>
                <a:latin typeface="Calibri" pitchFamily="34" charset="0"/>
                <a:ea typeface="Calibri" pitchFamily="34" charset="-122"/>
                <a:cs typeface="Calibri" pitchFamily="34" charset="-120"/>
              </a:rPr>
              <a:t>ACTO 1</a:t>
            </a:r>
            <a:endParaRPr lang="es-ES" sz="1100" noProof="0" dirty="0"/>
          </a:p>
        </p:txBody>
      </p:sp>
      <p:sp>
        <p:nvSpPr>
          <p:cNvPr id="6" name="Text 4"/>
          <p:cNvSpPr txBox="1"/>
          <p:nvPr/>
        </p:nvSpPr>
        <p:spPr>
          <a:xfrm>
            <a:off x="822960" y="1993392"/>
            <a:ext cx="3017520" cy="411480"/>
          </a:xfrm>
          <a:prstGeom prst="rect">
            <a:avLst/>
          </a:prstGeom>
          <a:noFill/>
          <a:ln/>
        </p:spPr>
        <p:txBody>
          <a:bodyPr wrap="square" lIns="0" tIns="0" rIns="0" bIns="0" rtlCol="0" anchor="t"/>
          <a:lstStyle/>
          <a:p>
            <a:pPr marL="0" indent="0">
              <a:buNone/>
            </a:pPr>
            <a:r>
              <a:rPr lang="es-ES" sz="2200" b="1" noProof="0" dirty="0">
                <a:solidFill>
                  <a:srgbClr val="0B7F6B"/>
                </a:solidFill>
                <a:latin typeface="Calibri" pitchFamily="34" charset="0"/>
                <a:ea typeface="Calibri" pitchFamily="34" charset="-122"/>
                <a:cs typeface="Calibri" pitchFamily="34" charset="-120"/>
              </a:rPr>
              <a:t>Montar</a:t>
            </a:r>
            <a:endParaRPr lang="es-ES" sz="2200" noProof="0" dirty="0"/>
          </a:p>
        </p:txBody>
      </p:sp>
      <p:sp>
        <p:nvSpPr>
          <p:cNvPr id="7" name="Shape 5"/>
          <p:cNvSpPr/>
          <p:nvPr/>
        </p:nvSpPr>
        <p:spPr>
          <a:xfrm>
            <a:off x="822960" y="2651760"/>
            <a:ext cx="438912" cy="438912"/>
          </a:xfrm>
          <a:prstGeom prst="roundRect">
            <a:avLst>
              <a:gd name="adj" fmla="val 20833"/>
            </a:avLst>
          </a:prstGeom>
          <a:solidFill>
            <a:srgbClr val="10A38A"/>
          </a:solidFill>
          <a:ln w="12700">
            <a:solidFill>
              <a:srgbClr val="10A38A"/>
            </a:solidFill>
            <a:prstDash val="solid"/>
          </a:ln>
        </p:spPr>
        <p:txBody>
          <a:bodyPr/>
          <a:lstStyle/>
          <a:p>
            <a:endParaRPr lang="es-ES" noProof="0" dirty="0"/>
          </a:p>
        </p:txBody>
      </p:sp>
      <p:sp>
        <p:nvSpPr>
          <p:cNvPr id="8" name="Text 6"/>
          <p:cNvSpPr txBox="1"/>
          <p:nvPr/>
        </p:nvSpPr>
        <p:spPr>
          <a:xfrm>
            <a:off x="822960" y="2651760"/>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1</a:t>
            </a:r>
            <a:endParaRPr lang="es-ES" sz="1500" noProof="0" dirty="0"/>
          </a:p>
        </p:txBody>
      </p:sp>
      <p:sp>
        <p:nvSpPr>
          <p:cNvPr id="9" name="Text 7"/>
          <p:cNvSpPr txBox="1"/>
          <p:nvPr/>
        </p:nvSpPr>
        <p:spPr>
          <a:xfrm>
            <a:off x="1417320" y="2624328"/>
            <a:ext cx="2468880" cy="292608"/>
          </a:xfrm>
          <a:prstGeom prst="rect">
            <a:avLst/>
          </a:prstGeom>
          <a:noFill/>
          <a:ln/>
        </p:spPr>
        <p:txBody>
          <a:bodyPr wrap="square" lIns="0" tIns="0" rIns="0" bIns="0" rtlCol="0" anchor="t"/>
          <a:lstStyle/>
          <a:p>
            <a:pPr marL="0" indent="0">
              <a:buNone/>
            </a:pPr>
            <a:r>
              <a:rPr lang="es-ES" sz="1500" b="1" noProof="0" dirty="0" err="1">
                <a:solidFill>
                  <a:srgbClr val="1F2328"/>
                </a:solidFill>
                <a:latin typeface="Calibri" pitchFamily="34" charset="0"/>
                <a:ea typeface="Calibri" pitchFamily="34" charset="-122"/>
                <a:cs typeface="Calibri" pitchFamily="34" charset="-120"/>
              </a:rPr>
              <a:t>azd</a:t>
            </a:r>
            <a:r>
              <a:rPr lang="es-ES" sz="1500" b="1" noProof="0" dirty="0">
                <a:solidFill>
                  <a:srgbClr val="1F2328"/>
                </a:solidFill>
                <a:latin typeface="Calibri" pitchFamily="34" charset="0"/>
                <a:ea typeface="Calibri" pitchFamily="34" charset="-122"/>
                <a:cs typeface="Calibri" pitchFamily="34" charset="-120"/>
              </a:rPr>
              <a:t> up</a:t>
            </a:r>
            <a:endParaRPr lang="es-ES" sz="1500" noProof="0" dirty="0"/>
          </a:p>
        </p:txBody>
      </p:sp>
      <p:sp>
        <p:nvSpPr>
          <p:cNvPr id="10" name="Text 8"/>
          <p:cNvSpPr txBox="1"/>
          <p:nvPr/>
        </p:nvSpPr>
        <p:spPr>
          <a:xfrm>
            <a:off x="1417320" y="2916936"/>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Terraform: </a:t>
            </a:r>
            <a:r>
              <a:rPr lang="es-ES" sz="1250" noProof="0" dirty="0" err="1">
                <a:solidFill>
                  <a:srgbClr val="5C6470"/>
                </a:solidFill>
                <a:latin typeface="Calibri" pitchFamily="34" charset="0"/>
                <a:ea typeface="Calibri" pitchFamily="34" charset="-122"/>
                <a:cs typeface="Calibri" pitchFamily="34" charset="-120"/>
              </a:rPr>
              <a:t>Foundry</a:t>
            </a:r>
            <a:r>
              <a:rPr lang="es-ES" sz="1250" noProof="0" dirty="0">
                <a:solidFill>
                  <a:srgbClr val="5C6470"/>
                </a:solidFill>
                <a:latin typeface="Calibri" pitchFamily="34" charset="0"/>
                <a:ea typeface="Calibri" pitchFamily="34" charset="-122"/>
                <a:cs typeface="Calibri" pitchFamily="34" charset="-120"/>
              </a:rPr>
              <a:t> ×2, APIM y App Insights</a:t>
            </a:r>
            <a:endParaRPr lang="es-ES" sz="1250" noProof="0" dirty="0"/>
          </a:p>
        </p:txBody>
      </p:sp>
      <p:sp>
        <p:nvSpPr>
          <p:cNvPr id="11" name="Shape 9"/>
          <p:cNvSpPr/>
          <p:nvPr/>
        </p:nvSpPr>
        <p:spPr>
          <a:xfrm>
            <a:off x="822960" y="3502152"/>
            <a:ext cx="438912" cy="438912"/>
          </a:xfrm>
          <a:prstGeom prst="roundRect">
            <a:avLst>
              <a:gd name="adj" fmla="val 20833"/>
            </a:avLst>
          </a:prstGeom>
          <a:solidFill>
            <a:srgbClr val="10A38A"/>
          </a:solidFill>
          <a:ln w="12700">
            <a:solidFill>
              <a:srgbClr val="10A38A"/>
            </a:solidFill>
            <a:prstDash val="solid"/>
          </a:ln>
        </p:spPr>
        <p:txBody>
          <a:bodyPr/>
          <a:lstStyle/>
          <a:p>
            <a:endParaRPr lang="es-ES" noProof="0" dirty="0"/>
          </a:p>
        </p:txBody>
      </p:sp>
      <p:sp>
        <p:nvSpPr>
          <p:cNvPr id="12" name="Text 10"/>
          <p:cNvSpPr txBox="1"/>
          <p:nvPr/>
        </p:nvSpPr>
        <p:spPr>
          <a:xfrm>
            <a:off x="822960" y="3502152"/>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2</a:t>
            </a:r>
            <a:endParaRPr lang="es-ES" sz="1500" noProof="0" dirty="0"/>
          </a:p>
        </p:txBody>
      </p:sp>
      <p:sp>
        <p:nvSpPr>
          <p:cNvPr id="13" name="Text 11"/>
          <p:cNvSpPr txBox="1"/>
          <p:nvPr/>
        </p:nvSpPr>
        <p:spPr>
          <a:xfrm>
            <a:off x="1417320" y="3474720"/>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BYOK</a:t>
            </a:r>
            <a:endParaRPr lang="es-ES" sz="1500" noProof="0" dirty="0"/>
          </a:p>
        </p:txBody>
      </p:sp>
      <p:sp>
        <p:nvSpPr>
          <p:cNvPr id="14" name="Text 12"/>
          <p:cNvSpPr txBox="1"/>
          <p:nvPr/>
        </p:nvSpPr>
        <p:spPr>
          <a:xfrm>
            <a:off x="1417320" y="3767328"/>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Copilot CLI llama al </a:t>
            </a:r>
            <a:r>
              <a:rPr lang="es-ES" sz="1250" noProof="0" dirty="0" err="1">
                <a:solidFill>
                  <a:srgbClr val="5C6470"/>
                </a:solidFill>
                <a:latin typeface="Calibri" pitchFamily="34" charset="0"/>
                <a:ea typeface="Calibri" pitchFamily="34" charset="-122"/>
                <a:cs typeface="Calibri" pitchFamily="34" charset="-120"/>
              </a:rPr>
              <a:t>gateway</a:t>
            </a:r>
            <a:r>
              <a:rPr lang="es-ES" sz="1250" noProof="0" dirty="0">
                <a:solidFill>
                  <a:srgbClr val="5C6470"/>
                </a:solidFill>
                <a:latin typeface="Calibri" pitchFamily="34" charset="0"/>
                <a:ea typeface="Calibri" pitchFamily="34" charset="-122"/>
                <a:cs typeface="Calibri" pitchFamily="34" charset="-120"/>
              </a:rPr>
              <a:t> de APIM</a:t>
            </a:r>
            <a:endParaRPr lang="es-ES" sz="1250" noProof="0" dirty="0"/>
          </a:p>
        </p:txBody>
      </p:sp>
      <p:sp>
        <p:nvSpPr>
          <p:cNvPr id="15" name="Shape 13"/>
          <p:cNvSpPr/>
          <p:nvPr/>
        </p:nvSpPr>
        <p:spPr>
          <a:xfrm>
            <a:off x="4297680" y="1554480"/>
            <a:ext cx="3566160" cy="4526280"/>
          </a:xfrm>
          <a:prstGeom prst="roundRect">
            <a:avLst>
              <a:gd name="adj" fmla="val 3590"/>
            </a:avLst>
          </a:prstGeom>
          <a:solidFill>
            <a:srgbClr val="F4F2FB"/>
          </a:solidFill>
          <a:ln w="12700">
            <a:solidFill>
              <a:srgbClr val="F4F2FB"/>
            </a:solidFill>
            <a:prstDash val="solid"/>
          </a:ln>
        </p:spPr>
        <p:txBody>
          <a:bodyPr/>
          <a:lstStyle/>
          <a:p>
            <a:endParaRPr lang="es-ES" noProof="0" dirty="0"/>
          </a:p>
        </p:txBody>
      </p:sp>
      <p:sp>
        <p:nvSpPr>
          <p:cNvPr id="16" name="Text 14"/>
          <p:cNvSpPr txBox="1"/>
          <p:nvPr/>
        </p:nvSpPr>
        <p:spPr>
          <a:xfrm>
            <a:off x="4572000" y="1755648"/>
            <a:ext cx="1828800" cy="256032"/>
          </a:xfrm>
          <a:prstGeom prst="rect">
            <a:avLst/>
          </a:prstGeom>
          <a:noFill/>
          <a:ln/>
        </p:spPr>
        <p:txBody>
          <a:bodyPr wrap="square" lIns="0" tIns="0" rIns="0" bIns="0" rtlCol="0" anchor="t"/>
          <a:lstStyle/>
          <a:p>
            <a:pPr marL="0" indent="0">
              <a:buNone/>
            </a:pPr>
            <a:r>
              <a:rPr lang="es-ES" sz="1100" b="1" kern="0" spc="200" noProof="0" dirty="0">
                <a:solidFill>
                  <a:srgbClr val="5C6470"/>
                </a:solidFill>
                <a:latin typeface="Calibri" pitchFamily="34" charset="0"/>
                <a:ea typeface="Calibri" pitchFamily="34" charset="-122"/>
                <a:cs typeface="Calibri" pitchFamily="34" charset="-120"/>
              </a:rPr>
              <a:t>ACTO 2</a:t>
            </a:r>
            <a:endParaRPr lang="es-ES" sz="1100" noProof="0" dirty="0"/>
          </a:p>
        </p:txBody>
      </p:sp>
      <p:sp>
        <p:nvSpPr>
          <p:cNvPr id="17" name="Text 15"/>
          <p:cNvSpPr txBox="1"/>
          <p:nvPr/>
        </p:nvSpPr>
        <p:spPr>
          <a:xfrm>
            <a:off x="4572000" y="1993392"/>
            <a:ext cx="3017520" cy="411480"/>
          </a:xfrm>
          <a:prstGeom prst="rect">
            <a:avLst/>
          </a:prstGeom>
          <a:noFill/>
          <a:ln/>
        </p:spPr>
        <p:txBody>
          <a:bodyPr wrap="square" lIns="0" tIns="0" rIns="0" bIns="0" rtlCol="0" anchor="t"/>
          <a:lstStyle/>
          <a:p>
            <a:pPr marL="0" indent="0">
              <a:buNone/>
            </a:pPr>
            <a:r>
              <a:rPr lang="es-ES" sz="2200" b="1" noProof="0" dirty="0">
                <a:solidFill>
                  <a:srgbClr val="5B34B0"/>
                </a:solidFill>
                <a:latin typeface="Calibri" pitchFamily="34" charset="0"/>
                <a:ea typeface="Calibri" pitchFamily="34" charset="-122"/>
                <a:cs typeface="Calibri" pitchFamily="34" charset="-120"/>
              </a:rPr>
              <a:t>Construir</a:t>
            </a:r>
            <a:endParaRPr lang="es-ES" sz="2200" noProof="0" dirty="0"/>
          </a:p>
        </p:txBody>
      </p:sp>
      <p:sp>
        <p:nvSpPr>
          <p:cNvPr id="18" name="Shape 16"/>
          <p:cNvSpPr/>
          <p:nvPr/>
        </p:nvSpPr>
        <p:spPr>
          <a:xfrm>
            <a:off x="4572000" y="2651760"/>
            <a:ext cx="438912" cy="438912"/>
          </a:xfrm>
          <a:prstGeom prst="roundRect">
            <a:avLst>
              <a:gd name="adj" fmla="val 20833"/>
            </a:avLst>
          </a:prstGeom>
          <a:solidFill>
            <a:srgbClr val="7C4DDB"/>
          </a:solidFill>
          <a:ln w="12700">
            <a:solidFill>
              <a:srgbClr val="7C4DDB"/>
            </a:solidFill>
            <a:prstDash val="solid"/>
          </a:ln>
        </p:spPr>
        <p:txBody>
          <a:bodyPr/>
          <a:lstStyle/>
          <a:p>
            <a:endParaRPr lang="es-ES" noProof="0" dirty="0"/>
          </a:p>
        </p:txBody>
      </p:sp>
      <p:sp>
        <p:nvSpPr>
          <p:cNvPr id="19" name="Text 17"/>
          <p:cNvSpPr txBox="1"/>
          <p:nvPr/>
        </p:nvSpPr>
        <p:spPr>
          <a:xfrm>
            <a:off x="4572000" y="2651760"/>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3</a:t>
            </a:r>
            <a:endParaRPr lang="es-ES" sz="1500" noProof="0" dirty="0"/>
          </a:p>
        </p:txBody>
      </p:sp>
      <p:sp>
        <p:nvSpPr>
          <p:cNvPr id="20" name="Text 18"/>
          <p:cNvSpPr txBox="1"/>
          <p:nvPr/>
        </p:nvSpPr>
        <p:spPr>
          <a:xfrm>
            <a:off x="5166360" y="2624328"/>
            <a:ext cx="2468880" cy="292608"/>
          </a:xfrm>
          <a:prstGeom prst="rect">
            <a:avLst/>
          </a:prstGeom>
          <a:noFill/>
          <a:ln/>
        </p:spPr>
        <p:txBody>
          <a:bodyPr wrap="square" lIns="0" tIns="0" rIns="0" bIns="0" rtlCol="0" anchor="t"/>
          <a:lstStyle/>
          <a:p>
            <a:pPr marL="0" indent="0">
              <a:buNone/>
            </a:pPr>
            <a:r>
              <a:rPr lang="es-ES" sz="1500" b="1" noProof="0" dirty="0" err="1">
                <a:solidFill>
                  <a:srgbClr val="1F2328"/>
                </a:solidFill>
                <a:latin typeface="Calibri" pitchFamily="34" charset="0"/>
                <a:ea typeface="Calibri" pitchFamily="34" charset="-122"/>
                <a:cs typeface="Calibri" pitchFamily="34" charset="-120"/>
              </a:rPr>
              <a:t>squad</a:t>
            </a:r>
            <a:r>
              <a:rPr lang="es-ES" sz="1500" b="1" noProof="0" dirty="0">
                <a:solidFill>
                  <a:srgbClr val="1F2328"/>
                </a:solidFill>
                <a:latin typeface="Calibri" pitchFamily="34" charset="0"/>
                <a:ea typeface="Calibri" pitchFamily="34" charset="-122"/>
                <a:cs typeface="Calibri" pitchFamily="34" charset="-120"/>
              </a:rPr>
              <a:t> </a:t>
            </a:r>
            <a:r>
              <a:rPr lang="es-ES" sz="1500" b="1" noProof="0" dirty="0" err="1">
                <a:solidFill>
                  <a:srgbClr val="1F2328"/>
                </a:solidFill>
                <a:latin typeface="Calibri" pitchFamily="34" charset="0"/>
                <a:ea typeface="Calibri" pitchFamily="34" charset="-122"/>
                <a:cs typeface="Calibri" pitchFamily="34" charset="-120"/>
              </a:rPr>
              <a:t>init</a:t>
            </a:r>
            <a:r>
              <a:rPr lang="es-ES" sz="1500" b="1" noProof="0" dirty="0">
                <a:solidFill>
                  <a:srgbClr val="1F2328"/>
                </a:solidFill>
                <a:latin typeface="Calibri" pitchFamily="34" charset="0"/>
                <a:ea typeface="Calibri" pitchFamily="34" charset="-122"/>
                <a:cs typeface="Calibri" pitchFamily="34" charset="-120"/>
              </a:rPr>
              <a:t> + roster</a:t>
            </a:r>
            <a:endParaRPr lang="es-ES" sz="1500" noProof="0" dirty="0"/>
          </a:p>
        </p:txBody>
      </p:sp>
      <p:sp>
        <p:nvSpPr>
          <p:cNvPr id="21" name="Text 19"/>
          <p:cNvSpPr txBox="1"/>
          <p:nvPr/>
        </p:nvSpPr>
        <p:spPr>
          <a:xfrm>
            <a:off x="5166360" y="2916936"/>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5 especialistas y 4 agentes integrados</a:t>
            </a:r>
            <a:endParaRPr lang="es-ES" sz="1250" noProof="0" dirty="0"/>
          </a:p>
        </p:txBody>
      </p:sp>
      <p:sp>
        <p:nvSpPr>
          <p:cNvPr id="22" name="Shape 20"/>
          <p:cNvSpPr/>
          <p:nvPr/>
        </p:nvSpPr>
        <p:spPr>
          <a:xfrm>
            <a:off x="4572000" y="3502152"/>
            <a:ext cx="438912" cy="438912"/>
          </a:xfrm>
          <a:prstGeom prst="roundRect">
            <a:avLst>
              <a:gd name="adj" fmla="val 20833"/>
            </a:avLst>
          </a:prstGeom>
          <a:solidFill>
            <a:srgbClr val="7C4DDB"/>
          </a:solidFill>
          <a:ln w="12700">
            <a:solidFill>
              <a:srgbClr val="7C4DDB"/>
            </a:solidFill>
            <a:prstDash val="solid"/>
          </a:ln>
        </p:spPr>
        <p:txBody>
          <a:bodyPr/>
          <a:lstStyle/>
          <a:p>
            <a:endParaRPr lang="es-ES" noProof="0" dirty="0"/>
          </a:p>
        </p:txBody>
      </p:sp>
      <p:sp>
        <p:nvSpPr>
          <p:cNvPr id="23" name="Text 21"/>
          <p:cNvSpPr txBox="1"/>
          <p:nvPr/>
        </p:nvSpPr>
        <p:spPr>
          <a:xfrm>
            <a:off x="4572000" y="3502152"/>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4</a:t>
            </a:r>
            <a:endParaRPr lang="es-ES" sz="1500" noProof="0" dirty="0"/>
          </a:p>
        </p:txBody>
      </p:sp>
      <p:sp>
        <p:nvSpPr>
          <p:cNvPr id="24" name="Text 22"/>
          <p:cNvSpPr txBox="1"/>
          <p:nvPr/>
        </p:nvSpPr>
        <p:spPr>
          <a:xfrm>
            <a:off x="5166360" y="3474720"/>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Modelo por agente</a:t>
            </a:r>
            <a:endParaRPr lang="es-ES" sz="1500" noProof="0" dirty="0"/>
          </a:p>
        </p:txBody>
      </p:sp>
      <p:sp>
        <p:nvSpPr>
          <p:cNvPr id="25" name="Text 23"/>
          <p:cNvSpPr txBox="1"/>
          <p:nvPr/>
        </p:nvSpPr>
        <p:spPr>
          <a:xfrm>
            <a:off x="5166360" y="3767328"/>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sol, </a:t>
            </a:r>
            <a:r>
              <a:rPr lang="es-ES" sz="1250" noProof="0" dirty="0" err="1">
                <a:solidFill>
                  <a:srgbClr val="5C6470"/>
                </a:solidFill>
                <a:latin typeface="Calibri" pitchFamily="34" charset="0"/>
                <a:ea typeface="Calibri" pitchFamily="34" charset="-122"/>
                <a:cs typeface="Calibri" pitchFamily="34" charset="-120"/>
              </a:rPr>
              <a:t>terra</a:t>
            </a:r>
            <a:r>
              <a:rPr lang="es-ES" sz="1250" noProof="0" dirty="0">
                <a:solidFill>
                  <a:srgbClr val="5C6470"/>
                </a:solidFill>
                <a:latin typeface="Calibri" pitchFamily="34" charset="0"/>
                <a:ea typeface="Calibri" pitchFamily="34" charset="-122"/>
                <a:cs typeface="Calibri" pitchFamily="34" charset="-120"/>
              </a:rPr>
              <a:t> y luna en .</a:t>
            </a:r>
            <a:r>
              <a:rPr lang="es-ES" sz="1250" noProof="0" dirty="0" err="1">
                <a:solidFill>
                  <a:srgbClr val="5C6470"/>
                </a:solidFill>
                <a:latin typeface="Calibri" pitchFamily="34" charset="0"/>
                <a:ea typeface="Calibri" pitchFamily="34" charset="-122"/>
                <a:cs typeface="Calibri" pitchFamily="34" charset="-120"/>
              </a:rPr>
              <a:t>squad</a:t>
            </a:r>
            <a:r>
              <a:rPr lang="es-ES" sz="1250" noProof="0" dirty="0">
                <a:solidFill>
                  <a:srgbClr val="5C6470"/>
                </a:solidFill>
                <a:latin typeface="Calibri" pitchFamily="34" charset="0"/>
                <a:ea typeface="Calibri" pitchFamily="34" charset="-122"/>
                <a:cs typeface="Calibri" pitchFamily="34" charset="-120"/>
              </a:rPr>
              <a:t>/</a:t>
            </a:r>
            <a:r>
              <a:rPr lang="es-ES" sz="1250" noProof="0" dirty="0" err="1">
                <a:solidFill>
                  <a:srgbClr val="5C6470"/>
                </a:solidFill>
                <a:latin typeface="Calibri" pitchFamily="34" charset="0"/>
                <a:ea typeface="Calibri" pitchFamily="34" charset="-122"/>
                <a:cs typeface="Calibri" pitchFamily="34" charset="-120"/>
              </a:rPr>
              <a:t>config.json</a:t>
            </a:r>
            <a:endParaRPr lang="es-ES" sz="1250" noProof="0" dirty="0"/>
          </a:p>
        </p:txBody>
      </p:sp>
      <p:sp>
        <p:nvSpPr>
          <p:cNvPr id="26" name="Shape 24"/>
          <p:cNvSpPr/>
          <p:nvPr/>
        </p:nvSpPr>
        <p:spPr>
          <a:xfrm>
            <a:off x="4572000" y="4352544"/>
            <a:ext cx="438912" cy="438912"/>
          </a:xfrm>
          <a:prstGeom prst="roundRect">
            <a:avLst>
              <a:gd name="adj" fmla="val 20833"/>
            </a:avLst>
          </a:prstGeom>
          <a:solidFill>
            <a:srgbClr val="7C4DDB"/>
          </a:solidFill>
          <a:ln w="12700">
            <a:solidFill>
              <a:srgbClr val="7C4DDB"/>
            </a:solidFill>
            <a:prstDash val="solid"/>
          </a:ln>
        </p:spPr>
        <p:txBody>
          <a:bodyPr/>
          <a:lstStyle/>
          <a:p>
            <a:endParaRPr lang="es-ES" noProof="0" dirty="0"/>
          </a:p>
        </p:txBody>
      </p:sp>
      <p:sp>
        <p:nvSpPr>
          <p:cNvPr id="27" name="Text 25"/>
          <p:cNvSpPr txBox="1"/>
          <p:nvPr/>
        </p:nvSpPr>
        <p:spPr>
          <a:xfrm>
            <a:off x="4572000" y="4352544"/>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5</a:t>
            </a:r>
            <a:endParaRPr lang="es-ES" sz="1500" noProof="0" dirty="0"/>
          </a:p>
        </p:txBody>
      </p:sp>
      <p:sp>
        <p:nvSpPr>
          <p:cNvPr id="28" name="Text 26"/>
          <p:cNvSpPr txBox="1"/>
          <p:nvPr/>
        </p:nvSpPr>
        <p:spPr>
          <a:xfrm>
            <a:off x="5166360" y="4325112"/>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Tetris en .NET 10</a:t>
            </a:r>
            <a:endParaRPr lang="es-ES" sz="1500" noProof="0" dirty="0"/>
          </a:p>
        </p:txBody>
      </p:sp>
      <p:sp>
        <p:nvSpPr>
          <p:cNvPr id="29" name="Text 27"/>
          <p:cNvSpPr txBox="1"/>
          <p:nvPr/>
        </p:nvSpPr>
        <p:spPr>
          <a:xfrm>
            <a:off x="5166360" y="4617720"/>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por fases, con revisión entre especialistas</a:t>
            </a:r>
            <a:endParaRPr lang="es-ES" sz="1250" noProof="0" dirty="0"/>
          </a:p>
        </p:txBody>
      </p:sp>
      <p:sp>
        <p:nvSpPr>
          <p:cNvPr id="30" name="Shape 28"/>
          <p:cNvSpPr/>
          <p:nvPr/>
        </p:nvSpPr>
        <p:spPr>
          <a:xfrm>
            <a:off x="8046720" y="1554480"/>
            <a:ext cx="3566160" cy="4526280"/>
          </a:xfrm>
          <a:prstGeom prst="roundRect">
            <a:avLst>
              <a:gd name="adj" fmla="val 3590"/>
            </a:avLst>
          </a:prstGeom>
          <a:solidFill>
            <a:srgbClr val="F4F2FB"/>
          </a:solidFill>
          <a:ln w="12700">
            <a:solidFill>
              <a:srgbClr val="F4F2FB"/>
            </a:solidFill>
            <a:prstDash val="solid"/>
          </a:ln>
        </p:spPr>
        <p:txBody>
          <a:bodyPr/>
          <a:lstStyle/>
          <a:p>
            <a:endParaRPr lang="es-ES" noProof="0" dirty="0"/>
          </a:p>
        </p:txBody>
      </p:sp>
      <p:sp>
        <p:nvSpPr>
          <p:cNvPr id="31" name="Text 29"/>
          <p:cNvSpPr txBox="1"/>
          <p:nvPr/>
        </p:nvSpPr>
        <p:spPr>
          <a:xfrm>
            <a:off x="8321040" y="1755648"/>
            <a:ext cx="1828800" cy="256032"/>
          </a:xfrm>
          <a:prstGeom prst="rect">
            <a:avLst/>
          </a:prstGeom>
          <a:noFill/>
          <a:ln/>
        </p:spPr>
        <p:txBody>
          <a:bodyPr wrap="square" lIns="0" tIns="0" rIns="0" bIns="0" rtlCol="0" anchor="t"/>
          <a:lstStyle/>
          <a:p>
            <a:pPr marL="0" indent="0">
              <a:buNone/>
            </a:pPr>
            <a:r>
              <a:rPr lang="es-ES" sz="1100" b="1" kern="0" spc="200" noProof="0" dirty="0">
                <a:solidFill>
                  <a:srgbClr val="5C6470"/>
                </a:solidFill>
                <a:latin typeface="Calibri" pitchFamily="34" charset="0"/>
                <a:ea typeface="Calibri" pitchFamily="34" charset="-122"/>
                <a:cs typeface="Calibri" pitchFamily="34" charset="-120"/>
              </a:rPr>
              <a:t>ACTO 3</a:t>
            </a:r>
            <a:endParaRPr lang="es-ES" sz="1100" noProof="0" dirty="0"/>
          </a:p>
        </p:txBody>
      </p:sp>
      <p:sp>
        <p:nvSpPr>
          <p:cNvPr id="32" name="Text 30"/>
          <p:cNvSpPr txBox="1"/>
          <p:nvPr/>
        </p:nvSpPr>
        <p:spPr>
          <a:xfrm>
            <a:off x="8321040" y="1993392"/>
            <a:ext cx="3017520" cy="411480"/>
          </a:xfrm>
          <a:prstGeom prst="rect">
            <a:avLst/>
          </a:prstGeom>
          <a:noFill/>
          <a:ln/>
        </p:spPr>
        <p:txBody>
          <a:bodyPr wrap="square" lIns="0" tIns="0" rIns="0" bIns="0" rtlCol="0" anchor="t"/>
          <a:lstStyle/>
          <a:p>
            <a:pPr marL="0" indent="0">
              <a:buNone/>
            </a:pPr>
            <a:r>
              <a:rPr lang="es-ES" sz="2200" b="1" noProof="0" dirty="0">
                <a:solidFill>
                  <a:srgbClr val="E0524A"/>
                </a:solidFill>
                <a:latin typeface="Calibri" pitchFamily="34" charset="0"/>
                <a:ea typeface="Calibri" pitchFamily="34" charset="-122"/>
                <a:cs typeface="Calibri" pitchFamily="34" charset="-120"/>
              </a:rPr>
              <a:t>Gobernar</a:t>
            </a:r>
            <a:endParaRPr lang="es-ES" sz="2200" noProof="0" dirty="0"/>
          </a:p>
        </p:txBody>
      </p:sp>
      <p:sp>
        <p:nvSpPr>
          <p:cNvPr id="33" name="Shape 31"/>
          <p:cNvSpPr/>
          <p:nvPr/>
        </p:nvSpPr>
        <p:spPr>
          <a:xfrm>
            <a:off x="8321040" y="2651760"/>
            <a:ext cx="438912" cy="438912"/>
          </a:xfrm>
          <a:prstGeom prst="roundRect">
            <a:avLst>
              <a:gd name="adj" fmla="val 20833"/>
            </a:avLst>
          </a:prstGeom>
          <a:solidFill>
            <a:srgbClr val="E0524A"/>
          </a:solidFill>
          <a:ln w="12700">
            <a:solidFill>
              <a:srgbClr val="E0524A"/>
            </a:solidFill>
            <a:prstDash val="solid"/>
          </a:ln>
        </p:spPr>
        <p:txBody>
          <a:bodyPr/>
          <a:lstStyle/>
          <a:p>
            <a:endParaRPr lang="es-ES" noProof="0" dirty="0"/>
          </a:p>
        </p:txBody>
      </p:sp>
      <p:sp>
        <p:nvSpPr>
          <p:cNvPr id="34" name="Text 32"/>
          <p:cNvSpPr txBox="1"/>
          <p:nvPr/>
        </p:nvSpPr>
        <p:spPr>
          <a:xfrm>
            <a:off x="8321040" y="2651760"/>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6</a:t>
            </a:r>
            <a:endParaRPr lang="es-ES" sz="1500" noProof="0" dirty="0"/>
          </a:p>
        </p:txBody>
      </p:sp>
      <p:sp>
        <p:nvSpPr>
          <p:cNvPr id="35" name="Text 33"/>
          <p:cNvSpPr txBox="1"/>
          <p:nvPr/>
        </p:nvSpPr>
        <p:spPr>
          <a:xfrm>
            <a:off x="8915400" y="2624328"/>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429</a:t>
            </a:r>
            <a:endParaRPr lang="es-ES" sz="1500" noProof="0" dirty="0"/>
          </a:p>
        </p:txBody>
      </p:sp>
      <p:sp>
        <p:nvSpPr>
          <p:cNvPr id="36" name="Text 34"/>
          <p:cNvSpPr txBox="1"/>
          <p:nvPr/>
        </p:nvSpPr>
        <p:spPr>
          <a:xfrm>
            <a:off x="8915400" y="2916936"/>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demo-</a:t>
            </a:r>
            <a:r>
              <a:rPr lang="es-ES" sz="1250" noProof="0" dirty="0" err="1">
                <a:solidFill>
                  <a:srgbClr val="5C6470"/>
                </a:solidFill>
                <a:latin typeface="Calibri" pitchFamily="34" charset="0"/>
                <a:ea typeface="Calibri" pitchFamily="34" charset="-122"/>
                <a:cs typeface="Calibri" pitchFamily="34" charset="-120"/>
              </a:rPr>
              <a:t>ratelimit</a:t>
            </a:r>
            <a:r>
              <a:rPr lang="es-ES" sz="1250" noProof="0" dirty="0">
                <a:solidFill>
                  <a:srgbClr val="5C6470"/>
                </a:solidFill>
                <a:latin typeface="Calibri" pitchFamily="34" charset="0"/>
                <a:ea typeface="Calibri" pitchFamily="34" charset="-122"/>
                <a:cs typeface="Calibri" pitchFamily="34" charset="-120"/>
              </a:rPr>
              <a:t> agota sus 2.000 TPM</a:t>
            </a:r>
            <a:endParaRPr lang="es-ES" sz="1250" noProof="0" dirty="0"/>
          </a:p>
        </p:txBody>
      </p:sp>
      <p:sp>
        <p:nvSpPr>
          <p:cNvPr id="37" name="Shape 35"/>
          <p:cNvSpPr/>
          <p:nvPr/>
        </p:nvSpPr>
        <p:spPr>
          <a:xfrm>
            <a:off x="8321040" y="3502152"/>
            <a:ext cx="438912" cy="438912"/>
          </a:xfrm>
          <a:prstGeom prst="roundRect">
            <a:avLst>
              <a:gd name="adj" fmla="val 20833"/>
            </a:avLst>
          </a:prstGeom>
          <a:solidFill>
            <a:srgbClr val="E0524A"/>
          </a:solidFill>
          <a:ln w="12700">
            <a:solidFill>
              <a:srgbClr val="E0524A"/>
            </a:solidFill>
            <a:prstDash val="solid"/>
          </a:ln>
        </p:spPr>
        <p:txBody>
          <a:bodyPr/>
          <a:lstStyle/>
          <a:p>
            <a:endParaRPr lang="es-ES" noProof="0" dirty="0"/>
          </a:p>
        </p:txBody>
      </p:sp>
      <p:sp>
        <p:nvSpPr>
          <p:cNvPr id="38" name="Text 36"/>
          <p:cNvSpPr txBox="1"/>
          <p:nvPr/>
        </p:nvSpPr>
        <p:spPr>
          <a:xfrm>
            <a:off x="8321040" y="3502152"/>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7</a:t>
            </a:r>
            <a:endParaRPr lang="es-ES" sz="1500" noProof="0" dirty="0"/>
          </a:p>
        </p:txBody>
      </p:sp>
      <p:sp>
        <p:nvSpPr>
          <p:cNvPr id="39" name="Text 37"/>
          <p:cNvSpPr txBox="1"/>
          <p:nvPr/>
        </p:nvSpPr>
        <p:spPr>
          <a:xfrm>
            <a:off x="8915400" y="3474720"/>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401</a:t>
            </a:r>
            <a:endParaRPr lang="es-ES" sz="1500" noProof="0" dirty="0"/>
          </a:p>
        </p:txBody>
      </p:sp>
      <p:sp>
        <p:nvSpPr>
          <p:cNvPr id="40" name="Text 38"/>
          <p:cNvSpPr txBox="1"/>
          <p:nvPr/>
        </p:nvSpPr>
        <p:spPr>
          <a:xfrm>
            <a:off x="8915400" y="3767328"/>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clave inválida: sin </a:t>
            </a:r>
            <a:r>
              <a:rPr lang="es-ES" sz="1250" noProof="0" dirty="0" err="1">
                <a:solidFill>
                  <a:srgbClr val="5C6470"/>
                </a:solidFill>
                <a:latin typeface="Calibri" pitchFamily="34" charset="0"/>
                <a:ea typeface="Calibri" pitchFamily="34" charset="-122"/>
                <a:cs typeface="Calibri" pitchFamily="34" charset="-120"/>
              </a:rPr>
              <a:t>fallback</a:t>
            </a:r>
            <a:r>
              <a:rPr lang="es-ES" sz="1250" noProof="0" dirty="0">
                <a:solidFill>
                  <a:srgbClr val="5C6470"/>
                </a:solidFill>
                <a:latin typeface="Calibri" pitchFamily="34" charset="0"/>
                <a:ea typeface="Calibri" pitchFamily="34" charset="-122"/>
                <a:cs typeface="Calibri" pitchFamily="34" charset="-120"/>
              </a:rPr>
              <a:t> a la licencia</a:t>
            </a:r>
            <a:endParaRPr lang="es-ES" sz="1250" noProof="0" dirty="0"/>
          </a:p>
        </p:txBody>
      </p:sp>
      <p:sp>
        <p:nvSpPr>
          <p:cNvPr id="41" name="Shape 39"/>
          <p:cNvSpPr/>
          <p:nvPr/>
        </p:nvSpPr>
        <p:spPr>
          <a:xfrm>
            <a:off x="8321040" y="4352544"/>
            <a:ext cx="438912" cy="438912"/>
          </a:xfrm>
          <a:prstGeom prst="roundRect">
            <a:avLst>
              <a:gd name="adj" fmla="val 20833"/>
            </a:avLst>
          </a:prstGeom>
          <a:solidFill>
            <a:srgbClr val="E0524A"/>
          </a:solidFill>
          <a:ln w="12700">
            <a:solidFill>
              <a:srgbClr val="E0524A"/>
            </a:solidFill>
            <a:prstDash val="solid"/>
          </a:ln>
        </p:spPr>
        <p:txBody>
          <a:bodyPr/>
          <a:lstStyle/>
          <a:p>
            <a:endParaRPr lang="es-ES" noProof="0" dirty="0"/>
          </a:p>
        </p:txBody>
      </p:sp>
      <p:sp>
        <p:nvSpPr>
          <p:cNvPr id="42" name="Text 40"/>
          <p:cNvSpPr txBox="1"/>
          <p:nvPr/>
        </p:nvSpPr>
        <p:spPr>
          <a:xfrm>
            <a:off x="8321040" y="4352544"/>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8</a:t>
            </a:r>
            <a:endParaRPr lang="es-ES" sz="1500" noProof="0" dirty="0"/>
          </a:p>
        </p:txBody>
      </p:sp>
      <p:sp>
        <p:nvSpPr>
          <p:cNvPr id="43" name="Text 41"/>
          <p:cNvSpPr txBox="1"/>
          <p:nvPr/>
        </p:nvSpPr>
        <p:spPr>
          <a:xfrm>
            <a:off x="8915400" y="4325112"/>
            <a:ext cx="2468880" cy="292608"/>
          </a:xfrm>
          <a:prstGeom prst="rect">
            <a:avLst/>
          </a:prstGeom>
          <a:noFill/>
          <a:ln/>
        </p:spPr>
        <p:txBody>
          <a:bodyPr wrap="square" lIns="0" tIns="0" rIns="0" bIns="0" rtlCol="0" anchor="t"/>
          <a:lstStyle/>
          <a:p>
            <a:pPr marL="0" indent="0">
              <a:buNone/>
            </a:pPr>
            <a:r>
              <a:rPr lang="es-ES" sz="1500" b="1" noProof="0" dirty="0" err="1">
                <a:solidFill>
                  <a:srgbClr val="1F2328"/>
                </a:solidFill>
                <a:latin typeface="Calibri" pitchFamily="34" charset="0"/>
                <a:ea typeface="Calibri" pitchFamily="34" charset="-122"/>
                <a:cs typeface="Calibri" pitchFamily="34" charset="-120"/>
              </a:rPr>
              <a:t>Failover</a:t>
            </a:r>
            <a:endParaRPr lang="es-ES" sz="1500" noProof="0" dirty="0"/>
          </a:p>
        </p:txBody>
      </p:sp>
      <p:sp>
        <p:nvSpPr>
          <p:cNvPr id="44" name="Text 42"/>
          <p:cNvSpPr txBox="1"/>
          <p:nvPr/>
        </p:nvSpPr>
        <p:spPr>
          <a:xfrm>
            <a:off x="8915400" y="4617720"/>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la región secundaria responde</a:t>
            </a:r>
            <a:endParaRPr lang="es-ES" sz="1250" noProof="0" dirty="0"/>
          </a:p>
        </p:txBody>
      </p:sp>
      <p:sp>
        <p:nvSpPr>
          <p:cNvPr id="45" name="Shape 43"/>
          <p:cNvSpPr/>
          <p:nvPr/>
        </p:nvSpPr>
        <p:spPr>
          <a:xfrm>
            <a:off x="8321040" y="5202936"/>
            <a:ext cx="438912" cy="438912"/>
          </a:xfrm>
          <a:prstGeom prst="roundRect">
            <a:avLst>
              <a:gd name="adj" fmla="val 20833"/>
            </a:avLst>
          </a:prstGeom>
          <a:solidFill>
            <a:srgbClr val="E0524A"/>
          </a:solidFill>
          <a:ln w="12700">
            <a:solidFill>
              <a:srgbClr val="E0524A"/>
            </a:solidFill>
            <a:prstDash val="solid"/>
          </a:ln>
        </p:spPr>
        <p:txBody>
          <a:bodyPr/>
          <a:lstStyle/>
          <a:p>
            <a:endParaRPr lang="es-ES" noProof="0" dirty="0"/>
          </a:p>
        </p:txBody>
      </p:sp>
      <p:sp>
        <p:nvSpPr>
          <p:cNvPr id="46" name="Text 44"/>
          <p:cNvSpPr txBox="1"/>
          <p:nvPr/>
        </p:nvSpPr>
        <p:spPr>
          <a:xfrm>
            <a:off x="8321040" y="5202936"/>
            <a:ext cx="438912" cy="438912"/>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alibri" pitchFamily="34" charset="0"/>
                <a:ea typeface="Calibri" pitchFamily="34" charset="-122"/>
                <a:cs typeface="Calibri" pitchFamily="34" charset="-120"/>
              </a:rPr>
              <a:t>9</a:t>
            </a:r>
            <a:endParaRPr lang="es-ES" sz="1500" noProof="0" dirty="0"/>
          </a:p>
        </p:txBody>
      </p:sp>
      <p:sp>
        <p:nvSpPr>
          <p:cNvPr id="47" name="Text 45"/>
          <p:cNvSpPr txBox="1"/>
          <p:nvPr/>
        </p:nvSpPr>
        <p:spPr>
          <a:xfrm>
            <a:off x="8915400" y="5175504"/>
            <a:ext cx="2468880" cy="292608"/>
          </a:xfrm>
          <a:prstGeom prst="rect">
            <a:avLst/>
          </a:prstGeom>
          <a:noFill/>
          <a:ln/>
        </p:spPr>
        <p:txBody>
          <a:bodyPr wrap="square" lIns="0" tIns="0" rIns="0" bIns="0" rtlCol="0" anchor="t"/>
          <a:lstStyle/>
          <a:p>
            <a:pPr marL="0" indent="0">
              <a:buNone/>
            </a:pPr>
            <a:r>
              <a:rPr lang="es-ES" sz="1500" b="1" noProof="0" dirty="0">
                <a:solidFill>
                  <a:srgbClr val="1F2328"/>
                </a:solidFill>
                <a:latin typeface="Calibri" pitchFamily="34" charset="0"/>
                <a:ea typeface="Calibri" pitchFamily="34" charset="-122"/>
                <a:cs typeface="Calibri" pitchFamily="34" charset="-120"/>
              </a:rPr>
              <a:t>KQL</a:t>
            </a:r>
            <a:endParaRPr lang="es-ES" sz="1500" noProof="0" dirty="0"/>
          </a:p>
        </p:txBody>
      </p:sp>
      <p:sp>
        <p:nvSpPr>
          <p:cNvPr id="48" name="Text 46"/>
          <p:cNvSpPr txBox="1"/>
          <p:nvPr/>
        </p:nvSpPr>
        <p:spPr>
          <a:xfrm>
            <a:off x="8915400" y="5468112"/>
            <a:ext cx="2468880" cy="457200"/>
          </a:xfrm>
          <a:prstGeom prst="rect">
            <a:avLst/>
          </a:prstGeom>
          <a:noFill/>
          <a:ln/>
        </p:spPr>
        <p:txBody>
          <a:bodyPr wrap="square" lIns="0" tIns="0" rIns="0" bIns="0" rtlCol="0" anchor="t"/>
          <a:lstStyle/>
          <a:p>
            <a:pPr marL="0" indent="0">
              <a:buNone/>
            </a:pPr>
            <a:r>
              <a:rPr lang="es-ES" sz="1250" noProof="0" dirty="0">
                <a:solidFill>
                  <a:srgbClr val="5C6470"/>
                </a:solidFill>
                <a:latin typeface="Calibri" pitchFamily="34" charset="0"/>
                <a:ea typeface="Calibri" pitchFamily="34" charset="-122"/>
                <a:cs typeface="Calibri" pitchFamily="34" charset="-120"/>
              </a:rPr>
              <a:t>tokens por suscripción y backend</a:t>
            </a:r>
            <a:endParaRPr lang="es-ES" sz="125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EN VIVO</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Gobierno visible desde la terminal</a:t>
            </a:r>
            <a:endParaRPr lang="es-ES" sz="3200" noProof="0" dirty="0"/>
          </a:p>
        </p:txBody>
      </p:sp>
      <p:sp>
        <p:nvSpPr>
          <p:cNvPr id="4" name="Shape 2"/>
          <p:cNvSpPr/>
          <p:nvPr/>
        </p:nvSpPr>
        <p:spPr>
          <a:xfrm>
            <a:off x="548640" y="1618488"/>
            <a:ext cx="777240" cy="384048"/>
          </a:xfrm>
          <a:prstGeom prst="roundRect">
            <a:avLst>
              <a:gd name="adj" fmla="val 50000"/>
            </a:avLst>
          </a:prstGeom>
          <a:solidFill>
            <a:srgbClr val="E0524A"/>
          </a:solidFill>
          <a:ln w="12700">
            <a:solidFill>
              <a:srgbClr val="E0524A"/>
            </a:solidFill>
            <a:prstDash val="solid"/>
          </a:ln>
        </p:spPr>
        <p:txBody>
          <a:bodyPr/>
          <a:lstStyle/>
          <a:p>
            <a:endParaRPr lang="es-ES" noProof="0" dirty="0"/>
          </a:p>
        </p:txBody>
      </p:sp>
      <p:sp>
        <p:nvSpPr>
          <p:cNvPr id="5" name="Text 3"/>
          <p:cNvSpPr txBox="1"/>
          <p:nvPr/>
        </p:nvSpPr>
        <p:spPr>
          <a:xfrm>
            <a:off x="548640" y="1618488"/>
            <a:ext cx="777240" cy="384048"/>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onsolas" pitchFamily="34" charset="0"/>
                <a:ea typeface="Consolas" pitchFamily="34" charset="-122"/>
                <a:cs typeface="Consolas" pitchFamily="34" charset="-120"/>
              </a:rPr>
              <a:t>429</a:t>
            </a:r>
            <a:endParaRPr lang="es-ES" sz="1500" noProof="0" dirty="0"/>
          </a:p>
        </p:txBody>
      </p:sp>
      <p:sp>
        <p:nvSpPr>
          <p:cNvPr id="6" name="Text 4"/>
          <p:cNvSpPr txBox="1"/>
          <p:nvPr/>
        </p:nvSpPr>
        <p:spPr>
          <a:xfrm>
            <a:off x="1508760" y="1554480"/>
            <a:ext cx="3840480" cy="512064"/>
          </a:xfrm>
          <a:prstGeom prst="rect">
            <a:avLst/>
          </a:prstGeom>
          <a:noFill/>
          <a:ln/>
        </p:spPr>
        <p:txBody>
          <a:bodyPr wrap="square" lIns="0" tIns="0" rIns="0" bIns="0" rtlCol="0" anchor="ctr"/>
          <a:lstStyle/>
          <a:p>
            <a:pPr marL="0" indent="0">
              <a:buNone/>
            </a:pPr>
            <a:r>
              <a:rPr lang="es-ES" sz="1900" b="1" noProof="0" dirty="0">
                <a:solidFill>
                  <a:srgbClr val="1F2328"/>
                </a:solidFill>
                <a:latin typeface="Calibri" pitchFamily="34" charset="0"/>
                <a:ea typeface="Calibri" pitchFamily="34" charset="-122"/>
                <a:cs typeface="Calibri" pitchFamily="34" charset="-120"/>
              </a:rPr>
              <a:t>Límite de tokens del </a:t>
            </a:r>
            <a:r>
              <a:rPr lang="es-ES" sz="1900" b="1" noProof="0" dirty="0" err="1">
                <a:solidFill>
                  <a:srgbClr val="1F2328"/>
                </a:solidFill>
                <a:latin typeface="Calibri" pitchFamily="34" charset="0"/>
                <a:ea typeface="Calibri" pitchFamily="34" charset="-122"/>
                <a:cs typeface="Calibri" pitchFamily="34" charset="-120"/>
              </a:rPr>
              <a:t>gateway</a:t>
            </a:r>
            <a:endParaRPr lang="es-ES" sz="1900" noProof="0" dirty="0"/>
          </a:p>
        </p:txBody>
      </p:sp>
      <p:sp>
        <p:nvSpPr>
          <p:cNvPr id="7" name="Text 5"/>
          <p:cNvSpPr txBox="1"/>
          <p:nvPr/>
        </p:nvSpPr>
        <p:spPr>
          <a:xfrm>
            <a:off x="5486400" y="1554480"/>
            <a:ext cx="6126480" cy="512064"/>
          </a:xfrm>
          <a:prstGeom prst="rect">
            <a:avLst/>
          </a:prstGeom>
          <a:noFill/>
          <a:ln/>
        </p:spPr>
        <p:txBody>
          <a:bodyPr wrap="square" lIns="0" tIns="0" rIns="0" bIns="0" rtlCol="0" anchor="ctr"/>
          <a:lstStyle/>
          <a:p>
            <a:pPr marL="0" indent="0">
              <a:buNone/>
            </a:pPr>
            <a:r>
              <a:rPr lang="es-ES" sz="1400" noProof="0" dirty="0">
                <a:solidFill>
                  <a:srgbClr val="5C6470"/>
                </a:solidFill>
                <a:latin typeface="Calibri" pitchFamily="34" charset="0"/>
                <a:ea typeface="Calibri" pitchFamily="34" charset="-122"/>
                <a:cs typeface="Calibri" pitchFamily="34" charset="-120"/>
              </a:rPr>
              <a:t>APIM rechaza la llamada antes de llegar a </a:t>
            </a:r>
            <a:r>
              <a:rPr lang="es-ES" sz="1400" noProof="0" dirty="0" err="1">
                <a:solidFill>
                  <a:srgbClr val="5C6470"/>
                </a:solidFill>
                <a:latin typeface="Calibri" pitchFamily="34" charset="0"/>
                <a:ea typeface="Calibri" pitchFamily="34" charset="-122"/>
                <a:cs typeface="Calibri" pitchFamily="34" charset="-120"/>
              </a:rPr>
              <a:t>Foundry</a:t>
            </a:r>
            <a:r>
              <a:rPr lang="es-ES" sz="1400" noProof="0" dirty="0">
                <a:solidFill>
                  <a:srgbClr val="5C6470"/>
                </a:solidFill>
                <a:latin typeface="Calibri" pitchFamily="34" charset="0"/>
                <a:ea typeface="Calibri" pitchFamily="34" charset="-122"/>
                <a:cs typeface="Calibri" pitchFamily="34" charset="-120"/>
              </a:rPr>
              <a:t>. Squad sigue trabajando con demo-</a:t>
            </a:r>
            <a:r>
              <a:rPr lang="es-ES" sz="1400" noProof="0" dirty="0" err="1">
                <a:solidFill>
                  <a:srgbClr val="5C6470"/>
                </a:solidFill>
                <a:latin typeface="Calibri" pitchFamily="34" charset="0"/>
                <a:ea typeface="Calibri" pitchFamily="34" charset="-122"/>
                <a:cs typeface="Calibri" pitchFamily="34" charset="-120"/>
              </a:rPr>
              <a:t>inference</a:t>
            </a:r>
            <a:r>
              <a:rPr lang="es-ES" sz="1400" noProof="0" dirty="0">
                <a:solidFill>
                  <a:srgbClr val="5C6470"/>
                </a:solidFill>
                <a:latin typeface="Calibri" pitchFamily="34" charset="0"/>
                <a:ea typeface="Calibri" pitchFamily="34" charset="-122"/>
                <a:cs typeface="Calibri" pitchFamily="34" charset="-120"/>
              </a:rPr>
              <a:t>, que no tiene este límite.</a:t>
            </a:r>
            <a:endParaRPr lang="es-ES" sz="1400" noProof="0" dirty="0"/>
          </a:p>
        </p:txBody>
      </p:sp>
      <p:pic>
        <p:nvPicPr>
          <p:cNvPr id="8" name="Image 0" descr="C:\Users\rliberoff\AppData\Local\Temp\claude\f--repos-personal-2026-git-hub-dev-days\fa50f6c8-bf8b-4aa4-8423-f3404028c5c5\scratchpad\shot2-crop.png"/>
          <p:cNvPicPr>
            <a:picLocks noChangeAspect="1"/>
          </p:cNvPicPr>
          <p:nvPr/>
        </p:nvPicPr>
        <p:blipFill>
          <a:blip r:embed="rId3"/>
          <a:stretch>
            <a:fillRect/>
          </a:stretch>
        </p:blipFill>
        <p:spPr>
          <a:xfrm>
            <a:off x="548640" y="2240280"/>
            <a:ext cx="11064240" cy="1100919"/>
          </a:xfrm>
          <a:prstGeom prst="rect">
            <a:avLst/>
          </a:prstGeom>
        </p:spPr>
      </p:pic>
      <p:sp>
        <p:nvSpPr>
          <p:cNvPr id="9" name="Shape 6"/>
          <p:cNvSpPr/>
          <p:nvPr/>
        </p:nvSpPr>
        <p:spPr>
          <a:xfrm>
            <a:off x="548640" y="2240280"/>
            <a:ext cx="11064240" cy="1100919"/>
          </a:xfrm>
          <a:prstGeom prst="rect">
            <a:avLst/>
          </a:prstGeom>
          <a:ln w="9525">
            <a:solidFill>
              <a:srgbClr val="DDD8EC"/>
            </a:solidFill>
            <a:prstDash val="solid"/>
          </a:ln>
        </p:spPr>
        <p:txBody>
          <a:bodyPr/>
          <a:lstStyle/>
          <a:p>
            <a:endParaRPr lang="es-ES" noProof="0" dirty="0"/>
          </a:p>
        </p:txBody>
      </p:sp>
      <p:sp>
        <p:nvSpPr>
          <p:cNvPr id="10" name="Shape 7"/>
          <p:cNvSpPr/>
          <p:nvPr/>
        </p:nvSpPr>
        <p:spPr>
          <a:xfrm>
            <a:off x="548640" y="3908127"/>
            <a:ext cx="777240" cy="384048"/>
          </a:xfrm>
          <a:prstGeom prst="roundRect">
            <a:avLst>
              <a:gd name="adj" fmla="val 50000"/>
            </a:avLst>
          </a:prstGeom>
          <a:solidFill>
            <a:srgbClr val="7C4DDB"/>
          </a:solidFill>
          <a:ln w="12700">
            <a:solidFill>
              <a:srgbClr val="7C4DDB"/>
            </a:solidFill>
            <a:prstDash val="solid"/>
          </a:ln>
        </p:spPr>
        <p:txBody>
          <a:bodyPr/>
          <a:lstStyle/>
          <a:p>
            <a:endParaRPr lang="es-ES" noProof="0" dirty="0"/>
          </a:p>
        </p:txBody>
      </p:sp>
      <p:sp>
        <p:nvSpPr>
          <p:cNvPr id="11" name="Text 8"/>
          <p:cNvSpPr txBox="1"/>
          <p:nvPr/>
        </p:nvSpPr>
        <p:spPr>
          <a:xfrm>
            <a:off x="548640" y="3908127"/>
            <a:ext cx="777240" cy="384048"/>
          </a:xfrm>
          <a:prstGeom prst="rect">
            <a:avLst/>
          </a:prstGeom>
          <a:noFill/>
          <a:ln/>
        </p:spPr>
        <p:txBody>
          <a:bodyPr wrap="square" lIns="0" tIns="0" rIns="0" bIns="0" rtlCol="0" anchor="ctr"/>
          <a:lstStyle/>
          <a:p>
            <a:pPr marL="0" indent="0" algn="ctr">
              <a:buNone/>
            </a:pPr>
            <a:r>
              <a:rPr lang="es-ES" sz="1500" b="1" noProof="0" dirty="0">
                <a:solidFill>
                  <a:srgbClr val="FFFFFF"/>
                </a:solidFill>
                <a:latin typeface="Consolas" pitchFamily="34" charset="0"/>
                <a:ea typeface="Consolas" pitchFamily="34" charset="-122"/>
                <a:cs typeface="Consolas" pitchFamily="34" charset="-120"/>
              </a:rPr>
              <a:t>401</a:t>
            </a:r>
            <a:endParaRPr lang="es-ES" sz="1500" noProof="0" dirty="0"/>
          </a:p>
        </p:txBody>
      </p:sp>
      <p:sp>
        <p:nvSpPr>
          <p:cNvPr id="12" name="Text 9"/>
          <p:cNvSpPr txBox="1"/>
          <p:nvPr/>
        </p:nvSpPr>
        <p:spPr>
          <a:xfrm>
            <a:off x="1508760" y="3844119"/>
            <a:ext cx="3840480" cy="512064"/>
          </a:xfrm>
          <a:prstGeom prst="rect">
            <a:avLst/>
          </a:prstGeom>
          <a:noFill/>
          <a:ln/>
        </p:spPr>
        <p:txBody>
          <a:bodyPr wrap="square" lIns="0" tIns="0" rIns="0" bIns="0" rtlCol="0" anchor="ctr"/>
          <a:lstStyle/>
          <a:p>
            <a:pPr marL="0" indent="0">
              <a:buNone/>
            </a:pPr>
            <a:r>
              <a:rPr lang="es-ES" sz="1900" b="1" noProof="0" dirty="0">
                <a:solidFill>
                  <a:srgbClr val="1F2328"/>
                </a:solidFill>
                <a:latin typeface="Calibri" pitchFamily="34" charset="0"/>
                <a:ea typeface="Calibri" pitchFamily="34" charset="-122"/>
                <a:cs typeface="Calibri" pitchFamily="34" charset="-120"/>
              </a:rPr>
              <a:t>Clave inválida, sin </a:t>
            </a:r>
            <a:r>
              <a:rPr lang="es-ES" sz="1900" b="1" noProof="0" dirty="0" err="1">
                <a:solidFill>
                  <a:srgbClr val="1F2328"/>
                </a:solidFill>
                <a:latin typeface="Calibri" pitchFamily="34" charset="0"/>
                <a:ea typeface="Calibri" pitchFamily="34" charset="-122"/>
                <a:cs typeface="Calibri" pitchFamily="34" charset="-120"/>
              </a:rPr>
              <a:t>fallback</a:t>
            </a:r>
            <a:endParaRPr lang="es-ES" sz="1900" noProof="0" dirty="0"/>
          </a:p>
        </p:txBody>
      </p:sp>
      <p:sp>
        <p:nvSpPr>
          <p:cNvPr id="13" name="Text 10"/>
          <p:cNvSpPr txBox="1"/>
          <p:nvPr/>
        </p:nvSpPr>
        <p:spPr>
          <a:xfrm>
            <a:off x="5486400" y="3844119"/>
            <a:ext cx="6126480" cy="512064"/>
          </a:xfrm>
          <a:prstGeom prst="rect">
            <a:avLst/>
          </a:prstGeom>
          <a:noFill/>
          <a:ln/>
        </p:spPr>
        <p:txBody>
          <a:bodyPr wrap="square" lIns="0" tIns="0" rIns="0" bIns="0" rtlCol="0" anchor="ctr"/>
          <a:lstStyle/>
          <a:p>
            <a:pPr marL="0" indent="0">
              <a:buNone/>
            </a:pPr>
            <a:r>
              <a:rPr lang="es-ES" sz="1400" noProof="0" dirty="0">
                <a:solidFill>
                  <a:srgbClr val="5C6470"/>
                </a:solidFill>
                <a:latin typeface="Calibri" pitchFamily="34" charset="0"/>
                <a:ea typeface="Calibri" pitchFamily="34" charset="-122"/>
                <a:cs typeface="Calibri" pitchFamily="34" charset="-120"/>
              </a:rPr>
              <a:t>El </a:t>
            </a:r>
            <a:r>
              <a:rPr lang="es-ES" sz="1400" noProof="0" dirty="0" err="1">
                <a:solidFill>
                  <a:srgbClr val="5C6470"/>
                </a:solidFill>
                <a:latin typeface="Calibri" pitchFamily="34" charset="0"/>
                <a:ea typeface="Calibri" pitchFamily="34" charset="-122"/>
                <a:cs typeface="Calibri" pitchFamily="34" charset="-120"/>
              </a:rPr>
              <a:t>gateway</a:t>
            </a:r>
            <a:r>
              <a:rPr lang="es-ES" sz="1400" noProof="0" dirty="0">
                <a:solidFill>
                  <a:srgbClr val="5C6470"/>
                </a:solidFill>
                <a:latin typeface="Calibri" pitchFamily="34" charset="0"/>
                <a:ea typeface="Calibri" pitchFamily="34" charset="-122"/>
                <a:cs typeface="Calibri" pitchFamily="34" charset="-120"/>
              </a:rPr>
              <a:t> rechaza la autenticación y Copilot no recurre a los modelos incluidos en la licencia.</a:t>
            </a:r>
            <a:endParaRPr lang="es-ES" sz="1400" noProof="0" dirty="0"/>
          </a:p>
        </p:txBody>
      </p:sp>
      <p:pic>
        <p:nvPicPr>
          <p:cNvPr id="14" name="Image 1" descr="C:\Users\rliberoff\AppData\Local\Temp\claude\f--repos-personal-2026-git-hub-dev-days\fa50f6c8-bf8b-4aa4-8423-f3404028c5c5\scratchpad\shot3-crop.png"/>
          <p:cNvPicPr>
            <a:picLocks noChangeAspect="1"/>
          </p:cNvPicPr>
          <p:nvPr/>
        </p:nvPicPr>
        <p:blipFill>
          <a:blip r:embed="rId4"/>
          <a:stretch>
            <a:fillRect/>
          </a:stretch>
        </p:blipFill>
        <p:spPr>
          <a:xfrm>
            <a:off x="548640" y="4529919"/>
            <a:ext cx="11064240" cy="759004"/>
          </a:xfrm>
          <a:prstGeom prst="rect">
            <a:avLst/>
          </a:prstGeom>
        </p:spPr>
      </p:pic>
      <p:sp>
        <p:nvSpPr>
          <p:cNvPr id="15" name="Shape 11"/>
          <p:cNvSpPr/>
          <p:nvPr/>
        </p:nvSpPr>
        <p:spPr>
          <a:xfrm>
            <a:off x="548640" y="4529919"/>
            <a:ext cx="11064240" cy="759004"/>
          </a:xfrm>
          <a:prstGeom prst="rect">
            <a:avLst/>
          </a:prstGeom>
          <a:ln w="9525">
            <a:solidFill>
              <a:srgbClr val="DDD8EC"/>
            </a:solidFill>
            <a:prstDash val="solid"/>
          </a:ln>
        </p:spPr>
        <p:txBody>
          <a:bodyPr/>
          <a:lstStyle/>
          <a:p>
            <a:endParaRPr lang="es-ES" noProof="0" dirty="0"/>
          </a:p>
        </p:txBody>
      </p:sp>
      <p:sp>
        <p:nvSpPr>
          <p:cNvPr id="16" name="Text 12"/>
          <p:cNvSpPr txBox="1"/>
          <p:nvPr/>
        </p:nvSpPr>
        <p:spPr>
          <a:xfrm>
            <a:off x="548640" y="5806440"/>
            <a:ext cx="11064240" cy="274320"/>
          </a:xfrm>
          <a:prstGeom prst="rect">
            <a:avLst/>
          </a:prstGeom>
          <a:noFill/>
          <a:ln/>
        </p:spPr>
        <p:txBody>
          <a:bodyPr wrap="square" lIns="0" tIns="0" rIns="0" bIns="0" rtlCol="0" anchor="t"/>
          <a:lstStyle/>
          <a:p>
            <a:pPr marL="0" indent="0">
              <a:buNone/>
            </a:pPr>
            <a:r>
              <a:rPr lang="es-ES" sz="1200" noProof="0" dirty="0">
                <a:solidFill>
                  <a:srgbClr val="5C6470"/>
                </a:solidFill>
                <a:latin typeface="Calibri" pitchFamily="34" charset="0"/>
                <a:ea typeface="Calibri" pitchFamily="34" charset="-122"/>
                <a:cs typeface="Calibri" pitchFamily="34" charset="-120"/>
              </a:rPr>
              <a:t>Capturas del ensayo con GitHub Copilot CLI 1.0.88 en modo BYOK.</a:t>
            </a:r>
            <a:endParaRPr lang="es-ES" sz="12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74320"/>
          </a:xfrm>
          <a:prstGeom prst="rect">
            <a:avLst/>
          </a:prstGeom>
          <a:noFill/>
          <a:ln/>
        </p:spPr>
        <p:txBody>
          <a:bodyPr wrap="square" lIns="0" tIns="0" rIns="0" bIns="0" rtlCol="0" anchor="t"/>
          <a:lstStyle/>
          <a:p>
            <a:pPr marL="0" indent="0">
              <a:buNone/>
            </a:pPr>
            <a:r>
              <a:rPr lang="es-ES" sz="1200" b="1" kern="0" spc="200" noProof="0" dirty="0">
                <a:solidFill>
                  <a:srgbClr val="7C4DDB"/>
                </a:solidFill>
                <a:latin typeface="Calibri" pitchFamily="34" charset="0"/>
                <a:ea typeface="Calibri" pitchFamily="34" charset="-122"/>
                <a:cs typeface="Calibri" pitchFamily="34" charset="-120"/>
              </a:rPr>
              <a:t>LECCIONES</a:t>
            </a:r>
            <a:endParaRPr lang="es-ES" sz="1200" noProof="0" dirty="0"/>
          </a:p>
        </p:txBody>
      </p:sp>
      <p:sp>
        <p:nvSpPr>
          <p:cNvPr id="3" name="Text 1"/>
          <p:cNvSpPr txBox="1"/>
          <p:nvPr/>
        </p:nvSpPr>
        <p:spPr>
          <a:xfrm>
            <a:off x="548640" y="621792"/>
            <a:ext cx="11064240" cy="640080"/>
          </a:xfrm>
          <a:prstGeom prst="rect">
            <a:avLst/>
          </a:prstGeom>
          <a:noFill/>
          <a:ln/>
        </p:spPr>
        <p:txBody>
          <a:bodyPr wrap="square" lIns="0" tIns="0" rIns="0" bIns="0" rtlCol="0" anchor="ctr"/>
          <a:lstStyle/>
          <a:p>
            <a:pPr marL="0" indent="0">
              <a:buNone/>
            </a:pPr>
            <a:r>
              <a:rPr lang="es-ES" sz="3200" b="1" noProof="0" dirty="0">
                <a:solidFill>
                  <a:srgbClr val="1F2328"/>
                </a:solidFill>
                <a:latin typeface="Calibri" pitchFamily="34" charset="0"/>
                <a:ea typeface="Calibri" pitchFamily="34" charset="-122"/>
                <a:cs typeface="Calibri" pitchFamily="34" charset="-120"/>
              </a:rPr>
              <a:t>Limitaciones conocidas</a:t>
            </a:r>
            <a:endParaRPr lang="es-ES" sz="3200" noProof="0" dirty="0"/>
          </a:p>
        </p:txBody>
      </p:sp>
      <p:grpSp>
        <p:nvGrpSpPr>
          <p:cNvPr id="32" name="Group 31">
            <a:extLst>
              <a:ext uri="{FF2B5EF4-FFF2-40B4-BE49-F238E27FC236}">
                <a16:creationId xmlns:a16="http://schemas.microsoft.com/office/drawing/2014/main" id="{BD8F583F-7FCC-15FD-B7CD-46AA5693B8BD}"/>
              </a:ext>
            </a:extLst>
          </p:cNvPr>
          <p:cNvGrpSpPr/>
          <p:nvPr/>
        </p:nvGrpSpPr>
        <p:grpSpPr>
          <a:xfrm>
            <a:off x="548640" y="1560830"/>
            <a:ext cx="11064240" cy="749808"/>
            <a:chOff x="548640" y="1554480"/>
            <a:chExt cx="11064240" cy="749808"/>
          </a:xfrm>
        </p:grpSpPr>
        <p:sp>
          <p:nvSpPr>
            <p:cNvPr id="4" name="Shape 2"/>
            <p:cNvSpPr/>
            <p:nvPr/>
          </p:nvSpPr>
          <p:spPr>
            <a:xfrm>
              <a:off x="548640" y="1554480"/>
              <a:ext cx="11064240" cy="749808"/>
            </a:xfrm>
            <a:prstGeom prst="roundRect">
              <a:avLst>
                <a:gd name="adj" fmla="val 14634"/>
              </a:avLst>
            </a:prstGeom>
            <a:solidFill>
              <a:srgbClr val="F4F2FB"/>
            </a:solidFill>
            <a:ln w="12700">
              <a:solidFill>
                <a:srgbClr val="F4F2FB"/>
              </a:solidFill>
              <a:prstDash val="solid"/>
            </a:ln>
          </p:spPr>
          <p:txBody>
            <a:bodyPr/>
            <a:lstStyle/>
            <a:p>
              <a:endParaRPr lang="es-ES" noProof="0" dirty="0"/>
            </a:p>
          </p:txBody>
        </p:sp>
        <p:sp>
          <p:nvSpPr>
            <p:cNvPr id="5" name="Shape 3"/>
            <p:cNvSpPr/>
            <p:nvPr/>
          </p:nvSpPr>
          <p:spPr>
            <a:xfrm>
              <a:off x="731520" y="1673352"/>
              <a:ext cx="512064" cy="512064"/>
            </a:xfrm>
            <a:prstGeom prst="roundRect">
              <a:avLst>
                <a:gd name="adj" fmla="val 20000"/>
              </a:avLst>
            </a:prstGeom>
            <a:solidFill>
              <a:srgbClr val="0E1116"/>
            </a:solidFill>
            <a:ln w="12700">
              <a:solidFill>
                <a:srgbClr val="0E1116"/>
              </a:solidFill>
              <a:prstDash val="solid"/>
            </a:ln>
          </p:spPr>
          <p:txBody>
            <a:bodyPr/>
            <a:lstStyle/>
            <a:p>
              <a:endParaRPr lang="es-ES" noProof="0" dirty="0"/>
            </a:p>
          </p:txBody>
        </p:sp>
        <p:pic>
          <p:nvPicPr>
            <p:cNvPr id="6" name="Image 0" descr="preencoded.png"/>
            <p:cNvPicPr>
              <a:picLocks noChangeAspect="1"/>
            </p:cNvPicPr>
            <p:nvPr/>
          </p:nvPicPr>
          <p:blipFill>
            <a:blip r:embed="rId3"/>
            <a:stretch>
              <a:fillRect/>
            </a:stretch>
          </p:blipFill>
          <p:spPr>
            <a:xfrm>
              <a:off x="849295" y="1791127"/>
              <a:ext cx="276515" cy="276515"/>
            </a:xfrm>
            <a:prstGeom prst="rect">
              <a:avLst/>
            </a:prstGeom>
          </p:spPr>
        </p:pic>
        <p:sp>
          <p:nvSpPr>
            <p:cNvPr id="7" name="Text 4"/>
            <p:cNvSpPr txBox="1"/>
            <p:nvPr/>
          </p:nvSpPr>
          <p:spPr>
            <a:xfrm>
              <a:off x="1508760" y="1554480"/>
              <a:ext cx="3566160" cy="749808"/>
            </a:xfrm>
            <a:prstGeom prst="rect">
              <a:avLst/>
            </a:prstGeom>
            <a:noFill/>
            <a:ln/>
          </p:spPr>
          <p:txBody>
            <a:bodyPr wrap="square" lIns="0" tIns="0" rIns="0" bIns="0" rtlCol="0" anchor="ctr"/>
            <a:lstStyle/>
            <a:p>
              <a:pPr marL="0" indent="0">
                <a:buNone/>
              </a:pPr>
              <a:r>
                <a:rPr lang="es-ES" sz="1700" b="1" noProof="0" dirty="0">
                  <a:solidFill>
                    <a:srgbClr val="1F2328"/>
                  </a:solidFill>
                  <a:latin typeface="Calibri" pitchFamily="34" charset="0"/>
                  <a:ea typeface="Calibri" pitchFamily="34" charset="-122"/>
                  <a:cs typeface="Calibri" pitchFamily="34" charset="-120"/>
                </a:rPr>
                <a:t>Atribución por suscripción</a:t>
              </a:r>
              <a:endParaRPr lang="es-ES" sz="1700" noProof="0" dirty="0"/>
            </a:p>
          </p:txBody>
        </p:sp>
        <p:sp>
          <p:nvSpPr>
            <p:cNvPr id="8" name="Text 5"/>
            <p:cNvSpPr txBox="1"/>
            <p:nvPr/>
          </p:nvSpPr>
          <p:spPr>
            <a:xfrm>
              <a:off x="5120640" y="1554480"/>
              <a:ext cx="6309360" cy="749808"/>
            </a:xfrm>
            <a:prstGeom prst="rect">
              <a:avLst/>
            </a:prstGeom>
            <a:noFill/>
            <a:ln/>
          </p:spPr>
          <p:txBody>
            <a:bodyPr wrap="square" lIns="0" tIns="0" rIns="0" bIns="0" rtlCol="0" anchor="ctr"/>
            <a:lstStyle/>
            <a:p>
              <a:pPr marL="0" indent="0">
                <a:buNone/>
              </a:pPr>
              <a:r>
                <a:rPr lang="es-ES" sz="1450" noProof="0" dirty="0">
                  <a:solidFill>
                    <a:srgbClr val="5C6470"/>
                  </a:solidFill>
                  <a:latin typeface="Calibri" pitchFamily="34" charset="0"/>
                  <a:ea typeface="Calibri" pitchFamily="34" charset="-122"/>
                  <a:cs typeface="Calibri" pitchFamily="34" charset="-120"/>
                </a:rPr>
                <a:t>APIM registra suscripción y backend, no el especialista ni el </a:t>
              </a:r>
              <a:r>
                <a:rPr lang="es-ES" sz="1450" noProof="0" dirty="0" err="1">
                  <a:solidFill>
                    <a:srgbClr val="5C6470"/>
                  </a:solidFill>
                  <a:latin typeface="Calibri" pitchFamily="34" charset="0"/>
                  <a:ea typeface="Calibri" pitchFamily="34" charset="-122"/>
                  <a:cs typeface="Calibri" pitchFamily="34" charset="-120"/>
                </a:rPr>
                <a:t>deployment</a:t>
              </a:r>
              <a:r>
                <a:rPr lang="es-ES" sz="1450" noProof="0" dirty="0">
                  <a:solidFill>
                    <a:srgbClr val="5C6470"/>
                  </a:solidFill>
                  <a:latin typeface="Calibri" pitchFamily="34" charset="0"/>
                  <a:ea typeface="Calibri" pitchFamily="34" charset="-122"/>
                  <a:cs typeface="Calibri" pitchFamily="34" charset="-120"/>
                </a:rPr>
                <a:t> del modelo.</a:t>
              </a:r>
              <a:endParaRPr lang="es-ES" sz="1450" noProof="0" dirty="0"/>
            </a:p>
          </p:txBody>
        </p:sp>
      </p:grpSp>
      <p:grpSp>
        <p:nvGrpSpPr>
          <p:cNvPr id="31" name="Group 30">
            <a:extLst>
              <a:ext uri="{FF2B5EF4-FFF2-40B4-BE49-F238E27FC236}">
                <a16:creationId xmlns:a16="http://schemas.microsoft.com/office/drawing/2014/main" id="{FC7E4BC8-3666-D9DB-4E6E-99E096DBF77D}"/>
              </a:ext>
            </a:extLst>
          </p:cNvPr>
          <p:cNvGrpSpPr/>
          <p:nvPr/>
        </p:nvGrpSpPr>
        <p:grpSpPr>
          <a:xfrm>
            <a:off x="548640" y="2456942"/>
            <a:ext cx="11064240" cy="749808"/>
            <a:chOff x="548640" y="2450592"/>
            <a:chExt cx="11064240" cy="749808"/>
          </a:xfrm>
        </p:grpSpPr>
        <p:sp>
          <p:nvSpPr>
            <p:cNvPr id="9" name="Shape 6"/>
            <p:cNvSpPr/>
            <p:nvPr/>
          </p:nvSpPr>
          <p:spPr>
            <a:xfrm>
              <a:off x="548640" y="2450592"/>
              <a:ext cx="11064240" cy="749808"/>
            </a:xfrm>
            <a:prstGeom prst="roundRect">
              <a:avLst>
                <a:gd name="adj" fmla="val 14634"/>
              </a:avLst>
            </a:prstGeom>
            <a:solidFill>
              <a:srgbClr val="FFFFFF"/>
            </a:solidFill>
            <a:ln w="12700">
              <a:solidFill>
                <a:srgbClr val="FFFFFF"/>
              </a:solidFill>
              <a:prstDash val="solid"/>
            </a:ln>
          </p:spPr>
          <p:txBody>
            <a:bodyPr/>
            <a:lstStyle/>
            <a:p>
              <a:endParaRPr lang="es-ES" noProof="0" dirty="0"/>
            </a:p>
          </p:txBody>
        </p:sp>
        <p:sp>
          <p:nvSpPr>
            <p:cNvPr id="10" name="Shape 7"/>
            <p:cNvSpPr/>
            <p:nvPr/>
          </p:nvSpPr>
          <p:spPr>
            <a:xfrm>
              <a:off x="731520" y="2569464"/>
              <a:ext cx="512064" cy="512064"/>
            </a:xfrm>
            <a:prstGeom prst="roundRect">
              <a:avLst>
                <a:gd name="adj" fmla="val 20000"/>
              </a:avLst>
            </a:prstGeom>
            <a:solidFill>
              <a:srgbClr val="0E1116"/>
            </a:solidFill>
            <a:ln w="12700">
              <a:solidFill>
                <a:srgbClr val="0E1116"/>
              </a:solidFill>
              <a:prstDash val="solid"/>
            </a:ln>
          </p:spPr>
          <p:txBody>
            <a:bodyPr/>
            <a:lstStyle/>
            <a:p>
              <a:endParaRPr lang="es-ES" noProof="0" dirty="0"/>
            </a:p>
          </p:txBody>
        </p:sp>
        <p:pic>
          <p:nvPicPr>
            <p:cNvPr id="11" name="Image 1" descr="preencoded.png"/>
            <p:cNvPicPr>
              <a:picLocks noChangeAspect="1"/>
            </p:cNvPicPr>
            <p:nvPr/>
          </p:nvPicPr>
          <p:blipFill>
            <a:blip r:embed="rId4"/>
            <a:stretch>
              <a:fillRect/>
            </a:stretch>
          </p:blipFill>
          <p:spPr>
            <a:xfrm>
              <a:off x="849295" y="2687239"/>
              <a:ext cx="276515" cy="276515"/>
            </a:xfrm>
            <a:prstGeom prst="rect">
              <a:avLst/>
            </a:prstGeom>
          </p:spPr>
        </p:pic>
        <p:sp>
          <p:nvSpPr>
            <p:cNvPr id="12" name="Text 8"/>
            <p:cNvSpPr txBox="1"/>
            <p:nvPr/>
          </p:nvSpPr>
          <p:spPr>
            <a:xfrm>
              <a:off x="1508760" y="2450592"/>
              <a:ext cx="3566160" cy="749808"/>
            </a:xfrm>
            <a:prstGeom prst="rect">
              <a:avLst/>
            </a:prstGeom>
            <a:noFill/>
            <a:ln/>
          </p:spPr>
          <p:txBody>
            <a:bodyPr wrap="square" lIns="0" tIns="0" rIns="0" bIns="0" rtlCol="0" anchor="ctr"/>
            <a:lstStyle/>
            <a:p>
              <a:pPr marL="0" indent="0">
                <a:buNone/>
              </a:pPr>
              <a:r>
                <a:rPr lang="es-ES" sz="1700" b="1" noProof="0" dirty="0" err="1">
                  <a:solidFill>
                    <a:srgbClr val="1F2328"/>
                  </a:solidFill>
                  <a:latin typeface="Calibri" pitchFamily="34" charset="0"/>
                  <a:ea typeface="Calibri" pitchFamily="34" charset="-122"/>
                  <a:cs typeface="Calibri" pitchFamily="34" charset="-120"/>
                </a:rPr>
                <a:t>Foundry</a:t>
              </a:r>
              <a:r>
                <a:rPr lang="es-ES" sz="1700" b="1" noProof="0" dirty="0">
                  <a:solidFill>
                    <a:srgbClr val="1F2328"/>
                  </a:solidFill>
                  <a:latin typeface="Calibri" pitchFamily="34" charset="0"/>
                  <a:ea typeface="Calibri" pitchFamily="34" charset="-122"/>
                  <a:cs typeface="Calibri" pitchFamily="34" charset="-120"/>
                </a:rPr>
                <a:t> mantiene sus límites</a:t>
              </a:r>
              <a:endParaRPr lang="es-ES" sz="1700" noProof="0" dirty="0"/>
            </a:p>
          </p:txBody>
        </p:sp>
        <p:sp>
          <p:nvSpPr>
            <p:cNvPr id="13" name="Text 9"/>
            <p:cNvSpPr txBox="1"/>
            <p:nvPr/>
          </p:nvSpPr>
          <p:spPr>
            <a:xfrm>
              <a:off x="5120640" y="2450592"/>
              <a:ext cx="6309360" cy="749808"/>
            </a:xfrm>
            <a:prstGeom prst="rect">
              <a:avLst/>
            </a:prstGeom>
            <a:noFill/>
            <a:ln/>
          </p:spPr>
          <p:txBody>
            <a:bodyPr wrap="square" lIns="0" tIns="0" rIns="0" bIns="0" rtlCol="0" anchor="ctr"/>
            <a:lstStyle/>
            <a:p>
              <a:pPr marL="0" indent="0">
                <a:buNone/>
              </a:pPr>
              <a:r>
                <a:rPr lang="es-ES" sz="1450" noProof="0" dirty="0">
                  <a:solidFill>
                    <a:srgbClr val="5C6470"/>
                  </a:solidFill>
                  <a:latin typeface="Calibri" pitchFamily="34" charset="0"/>
                  <a:ea typeface="Calibri" pitchFamily="34" charset="-122"/>
                  <a:cs typeface="Calibri" pitchFamily="34" charset="-120"/>
                </a:rPr>
                <a:t>La exención de demo-</a:t>
              </a:r>
              <a:r>
                <a:rPr lang="es-ES" sz="1450" noProof="0" dirty="0" err="1">
                  <a:solidFill>
                    <a:srgbClr val="5C6470"/>
                  </a:solidFill>
                  <a:latin typeface="Calibri" pitchFamily="34" charset="0"/>
                  <a:ea typeface="Calibri" pitchFamily="34" charset="-122"/>
                  <a:cs typeface="Calibri" pitchFamily="34" charset="-120"/>
                </a:rPr>
                <a:t>inference</a:t>
              </a:r>
              <a:r>
                <a:rPr lang="es-ES" sz="1450" noProof="0" dirty="0">
                  <a:solidFill>
                    <a:srgbClr val="5C6470"/>
                  </a:solidFill>
                  <a:latin typeface="Calibri" pitchFamily="34" charset="0"/>
                  <a:ea typeface="Calibri" pitchFamily="34" charset="-122"/>
                  <a:cs typeface="Calibri" pitchFamily="34" charset="-120"/>
                </a:rPr>
                <a:t> no evita el TPM ni la cuota regional del </a:t>
              </a:r>
              <a:r>
                <a:rPr lang="es-ES" sz="1450" noProof="0" dirty="0" err="1">
                  <a:solidFill>
                    <a:srgbClr val="5C6470"/>
                  </a:solidFill>
                  <a:latin typeface="Calibri" pitchFamily="34" charset="0"/>
                  <a:ea typeface="Calibri" pitchFamily="34" charset="-122"/>
                  <a:cs typeface="Calibri" pitchFamily="34" charset="-120"/>
                </a:rPr>
                <a:t>deployment</a:t>
              </a:r>
              <a:r>
                <a:rPr lang="es-ES" sz="1450" noProof="0" dirty="0">
                  <a:solidFill>
                    <a:srgbClr val="5C6470"/>
                  </a:solidFill>
                  <a:latin typeface="Calibri" pitchFamily="34" charset="0"/>
                  <a:ea typeface="Calibri" pitchFamily="34" charset="-122"/>
                  <a:cs typeface="Calibri" pitchFamily="34" charset="-120"/>
                </a:rPr>
                <a:t>.</a:t>
              </a:r>
              <a:endParaRPr lang="es-ES" sz="1450" noProof="0" dirty="0"/>
            </a:p>
          </p:txBody>
        </p:sp>
      </p:grpSp>
      <p:grpSp>
        <p:nvGrpSpPr>
          <p:cNvPr id="30" name="Group 29">
            <a:extLst>
              <a:ext uri="{FF2B5EF4-FFF2-40B4-BE49-F238E27FC236}">
                <a16:creationId xmlns:a16="http://schemas.microsoft.com/office/drawing/2014/main" id="{5A8C3577-18E9-D536-8170-A9772BEFAB5A}"/>
              </a:ext>
            </a:extLst>
          </p:cNvPr>
          <p:cNvGrpSpPr/>
          <p:nvPr/>
        </p:nvGrpSpPr>
        <p:grpSpPr>
          <a:xfrm>
            <a:off x="548640" y="3353054"/>
            <a:ext cx="11064240" cy="749808"/>
            <a:chOff x="548640" y="3346704"/>
            <a:chExt cx="11064240" cy="749808"/>
          </a:xfrm>
        </p:grpSpPr>
        <p:sp>
          <p:nvSpPr>
            <p:cNvPr id="14" name="Shape 10"/>
            <p:cNvSpPr/>
            <p:nvPr/>
          </p:nvSpPr>
          <p:spPr>
            <a:xfrm>
              <a:off x="548640" y="3346704"/>
              <a:ext cx="11064240" cy="749808"/>
            </a:xfrm>
            <a:prstGeom prst="roundRect">
              <a:avLst>
                <a:gd name="adj" fmla="val 14634"/>
              </a:avLst>
            </a:prstGeom>
            <a:solidFill>
              <a:srgbClr val="F4F2FB"/>
            </a:solidFill>
            <a:ln w="12700">
              <a:solidFill>
                <a:srgbClr val="F4F2FB"/>
              </a:solidFill>
              <a:prstDash val="solid"/>
            </a:ln>
          </p:spPr>
          <p:txBody>
            <a:bodyPr/>
            <a:lstStyle/>
            <a:p>
              <a:endParaRPr lang="es-ES" noProof="0" dirty="0"/>
            </a:p>
          </p:txBody>
        </p:sp>
        <p:sp>
          <p:nvSpPr>
            <p:cNvPr id="15" name="Shape 11"/>
            <p:cNvSpPr/>
            <p:nvPr/>
          </p:nvSpPr>
          <p:spPr>
            <a:xfrm>
              <a:off x="731520" y="3465576"/>
              <a:ext cx="512064" cy="512064"/>
            </a:xfrm>
            <a:prstGeom prst="roundRect">
              <a:avLst>
                <a:gd name="adj" fmla="val 20000"/>
              </a:avLst>
            </a:prstGeom>
            <a:solidFill>
              <a:srgbClr val="E0524A"/>
            </a:solidFill>
            <a:ln w="12700">
              <a:solidFill>
                <a:srgbClr val="E0524A"/>
              </a:solidFill>
              <a:prstDash val="solid"/>
            </a:ln>
          </p:spPr>
          <p:txBody>
            <a:bodyPr/>
            <a:lstStyle/>
            <a:p>
              <a:endParaRPr lang="es-ES" noProof="0" dirty="0"/>
            </a:p>
          </p:txBody>
        </p:sp>
        <p:pic>
          <p:nvPicPr>
            <p:cNvPr id="16" name="Image 2" descr="preencoded.png"/>
            <p:cNvPicPr>
              <a:picLocks noChangeAspect="1"/>
            </p:cNvPicPr>
            <p:nvPr/>
          </p:nvPicPr>
          <p:blipFill>
            <a:blip r:embed="rId5"/>
            <a:stretch>
              <a:fillRect/>
            </a:stretch>
          </p:blipFill>
          <p:spPr>
            <a:xfrm>
              <a:off x="849295" y="3583351"/>
              <a:ext cx="276515" cy="276515"/>
            </a:xfrm>
            <a:prstGeom prst="rect">
              <a:avLst/>
            </a:prstGeom>
          </p:spPr>
        </p:pic>
        <p:sp>
          <p:nvSpPr>
            <p:cNvPr id="17" name="Text 12"/>
            <p:cNvSpPr txBox="1"/>
            <p:nvPr/>
          </p:nvSpPr>
          <p:spPr>
            <a:xfrm>
              <a:off x="1508760" y="3346704"/>
              <a:ext cx="3566160" cy="749808"/>
            </a:xfrm>
            <a:prstGeom prst="rect">
              <a:avLst/>
            </a:prstGeom>
            <a:noFill/>
            <a:ln/>
          </p:spPr>
          <p:txBody>
            <a:bodyPr wrap="square" lIns="0" tIns="0" rIns="0" bIns="0" rtlCol="0" anchor="ctr"/>
            <a:lstStyle/>
            <a:p>
              <a:pPr marL="0" indent="0">
                <a:buNone/>
              </a:pPr>
              <a:r>
                <a:rPr lang="es-ES" sz="1700" b="1" noProof="0" dirty="0">
                  <a:solidFill>
                    <a:srgbClr val="1F2328"/>
                  </a:solidFill>
                  <a:latin typeface="Calibri" pitchFamily="34" charset="0"/>
                  <a:ea typeface="Calibri" pitchFamily="34" charset="-122"/>
                  <a:cs typeface="Calibri" pitchFamily="34" charset="-120"/>
                </a:rPr>
                <a:t>Un 429 no es </a:t>
              </a:r>
              <a:r>
                <a:rPr lang="es-ES" sz="1700" b="1" noProof="0" dirty="0" err="1">
                  <a:solidFill>
                    <a:srgbClr val="1F2328"/>
                  </a:solidFill>
                  <a:latin typeface="Calibri" pitchFamily="34" charset="0"/>
                  <a:ea typeface="Calibri" pitchFamily="34" charset="-122"/>
                  <a:cs typeface="Calibri" pitchFamily="34" charset="-120"/>
                </a:rPr>
                <a:t>failover</a:t>
              </a:r>
              <a:endParaRPr lang="es-ES" sz="1700" noProof="0" dirty="0"/>
            </a:p>
          </p:txBody>
        </p:sp>
        <p:sp>
          <p:nvSpPr>
            <p:cNvPr id="18" name="Text 13"/>
            <p:cNvSpPr txBox="1"/>
            <p:nvPr/>
          </p:nvSpPr>
          <p:spPr>
            <a:xfrm>
              <a:off x="5120640" y="3346704"/>
              <a:ext cx="6309360" cy="749808"/>
            </a:xfrm>
            <a:prstGeom prst="rect">
              <a:avLst/>
            </a:prstGeom>
            <a:noFill/>
            <a:ln/>
          </p:spPr>
          <p:txBody>
            <a:bodyPr wrap="square" lIns="0" tIns="0" rIns="0" bIns="0" rtlCol="0" anchor="ctr"/>
            <a:lstStyle/>
            <a:p>
              <a:pPr marL="0" indent="0">
                <a:buNone/>
              </a:pPr>
              <a:r>
                <a:rPr lang="es-ES" sz="1450" noProof="0" dirty="0">
                  <a:solidFill>
                    <a:srgbClr val="5C6470"/>
                  </a:solidFill>
                  <a:latin typeface="Calibri" pitchFamily="34" charset="0"/>
                  <a:ea typeface="Calibri" pitchFamily="34" charset="-122"/>
                  <a:cs typeface="Calibri" pitchFamily="34" charset="-120"/>
                </a:rPr>
                <a:t>Demuestra gobierno del consumo; el </a:t>
              </a:r>
              <a:r>
                <a:rPr lang="es-ES" sz="1450" noProof="0" dirty="0" err="1">
                  <a:solidFill>
                    <a:srgbClr val="5C6470"/>
                  </a:solidFill>
                  <a:latin typeface="Calibri" pitchFamily="34" charset="0"/>
                  <a:ea typeface="Calibri" pitchFamily="34" charset="-122"/>
                  <a:cs typeface="Calibri" pitchFamily="34" charset="-120"/>
                </a:rPr>
                <a:t>circuit</a:t>
              </a:r>
              <a:r>
                <a:rPr lang="es-ES" sz="1450" noProof="0" dirty="0">
                  <a:solidFill>
                    <a:srgbClr val="5C6470"/>
                  </a:solidFill>
                  <a:latin typeface="Calibri" pitchFamily="34" charset="0"/>
                  <a:ea typeface="Calibri" pitchFamily="34" charset="-122"/>
                  <a:cs typeface="Calibri" pitchFamily="34" charset="-120"/>
                </a:rPr>
                <a:t> breaker solo cuenta los 5xx del backend.</a:t>
              </a:r>
              <a:endParaRPr lang="es-ES" sz="1450" noProof="0" dirty="0"/>
            </a:p>
          </p:txBody>
        </p:sp>
      </p:grpSp>
      <p:grpSp>
        <p:nvGrpSpPr>
          <p:cNvPr id="29" name="Group 28">
            <a:extLst>
              <a:ext uri="{FF2B5EF4-FFF2-40B4-BE49-F238E27FC236}">
                <a16:creationId xmlns:a16="http://schemas.microsoft.com/office/drawing/2014/main" id="{FC4AC932-9272-C487-EC07-15366472181B}"/>
              </a:ext>
            </a:extLst>
          </p:cNvPr>
          <p:cNvGrpSpPr/>
          <p:nvPr/>
        </p:nvGrpSpPr>
        <p:grpSpPr>
          <a:xfrm>
            <a:off x="548640" y="4249166"/>
            <a:ext cx="11064240" cy="763270"/>
            <a:chOff x="548640" y="4242816"/>
            <a:chExt cx="11064240" cy="763270"/>
          </a:xfrm>
        </p:grpSpPr>
        <p:sp>
          <p:nvSpPr>
            <p:cNvPr id="19" name="Shape 14"/>
            <p:cNvSpPr/>
            <p:nvPr/>
          </p:nvSpPr>
          <p:spPr>
            <a:xfrm>
              <a:off x="548640" y="4242816"/>
              <a:ext cx="11064240" cy="749808"/>
            </a:xfrm>
            <a:prstGeom prst="roundRect">
              <a:avLst>
                <a:gd name="adj" fmla="val 14634"/>
              </a:avLst>
            </a:prstGeom>
            <a:solidFill>
              <a:srgbClr val="FFFFFF"/>
            </a:solidFill>
            <a:ln w="12700">
              <a:solidFill>
                <a:srgbClr val="FFFFFF"/>
              </a:solidFill>
              <a:prstDash val="solid"/>
            </a:ln>
          </p:spPr>
          <p:txBody>
            <a:bodyPr/>
            <a:lstStyle/>
            <a:p>
              <a:endParaRPr lang="es-ES" noProof="0" dirty="0"/>
            </a:p>
          </p:txBody>
        </p:sp>
        <p:pic>
          <p:nvPicPr>
            <p:cNvPr id="21" name="Image 3" descr="preencoded.png"/>
            <p:cNvPicPr>
              <a:picLocks noChangeAspect="1"/>
            </p:cNvPicPr>
            <p:nvPr/>
          </p:nvPicPr>
          <p:blipFill>
            <a:blip r:embed="rId6"/>
            <a:stretch>
              <a:fillRect/>
            </a:stretch>
          </p:blipFill>
          <p:spPr>
            <a:xfrm>
              <a:off x="849295" y="4479463"/>
              <a:ext cx="276515" cy="276515"/>
            </a:xfrm>
            <a:prstGeom prst="rect">
              <a:avLst/>
            </a:prstGeom>
          </p:spPr>
        </p:pic>
        <p:sp>
          <p:nvSpPr>
            <p:cNvPr id="25" name="Shape 19"/>
            <p:cNvSpPr/>
            <p:nvPr/>
          </p:nvSpPr>
          <p:spPr>
            <a:xfrm>
              <a:off x="731520" y="4375150"/>
              <a:ext cx="512064" cy="512064"/>
            </a:xfrm>
            <a:prstGeom prst="roundRect">
              <a:avLst>
                <a:gd name="adj" fmla="val 20000"/>
              </a:avLst>
            </a:prstGeom>
            <a:solidFill>
              <a:srgbClr val="0E1116"/>
            </a:solidFill>
            <a:ln w="12700">
              <a:solidFill>
                <a:srgbClr val="0E1116"/>
              </a:solidFill>
              <a:prstDash val="solid"/>
            </a:ln>
          </p:spPr>
          <p:txBody>
            <a:bodyPr/>
            <a:lstStyle/>
            <a:p>
              <a:endParaRPr lang="es-ES" noProof="0" dirty="0"/>
            </a:p>
          </p:txBody>
        </p:sp>
        <p:pic>
          <p:nvPicPr>
            <p:cNvPr id="26" name="Image 4" descr="preencoded.png"/>
            <p:cNvPicPr>
              <a:picLocks noChangeAspect="1"/>
            </p:cNvPicPr>
            <p:nvPr/>
          </p:nvPicPr>
          <p:blipFill>
            <a:blip r:embed="rId7"/>
            <a:stretch>
              <a:fillRect/>
            </a:stretch>
          </p:blipFill>
          <p:spPr>
            <a:xfrm>
              <a:off x="849295" y="4492925"/>
              <a:ext cx="276515" cy="276515"/>
            </a:xfrm>
            <a:prstGeom prst="rect">
              <a:avLst/>
            </a:prstGeom>
          </p:spPr>
        </p:pic>
        <p:sp>
          <p:nvSpPr>
            <p:cNvPr id="27" name="Text 20"/>
            <p:cNvSpPr txBox="1"/>
            <p:nvPr/>
          </p:nvSpPr>
          <p:spPr>
            <a:xfrm>
              <a:off x="1508760" y="4256278"/>
              <a:ext cx="3566160" cy="749808"/>
            </a:xfrm>
            <a:prstGeom prst="rect">
              <a:avLst/>
            </a:prstGeom>
            <a:noFill/>
            <a:ln/>
          </p:spPr>
          <p:txBody>
            <a:bodyPr wrap="square" lIns="0" tIns="0" rIns="0" bIns="0" rtlCol="0" anchor="ctr"/>
            <a:lstStyle/>
            <a:p>
              <a:pPr marL="0" indent="0">
                <a:buNone/>
              </a:pPr>
              <a:r>
                <a:rPr lang="es-ES" sz="1700" b="1" noProof="0" dirty="0">
                  <a:solidFill>
                    <a:srgbClr val="1F2328"/>
                  </a:solidFill>
                  <a:latin typeface="Calibri" pitchFamily="34" charset="0"/>
                  <a:ea typeface="Calibri" pitchFamily="34" charset="-122"/>
                  <a:cs typeface="Calibri" pitchFamily="34" charset="-120"/>
                </a:rPr>
                <a:t>Squad está en </a:t>
              </a:r>
              <a:r>
                <a:rPr lang="es-ES" sz="1700" b="1" noProof="0" dirty="0" err="1">
                  <a:solidFill>
                    <a:srgbClr val="1F2328"/>
                  </a:solidFill>
                  <a:latin typeface="Calibri" pitchFamily="34" charset="0"/>
                  <a:ea typeface="Calibri" pitchFamily="34" charset="-122"/>
                  <a:cs typeface="Calibri" pitchFamily="34" charset="-120"/>
                </a:rPr>
                <a:t>alpha</a:t>
              </a:r>
              <a:endParaRPr lang="es-ES" sz="1700" noProof="0" dirty="0"/>
            </a:p>
          </p:txBody>
        </p:sp>
        <p:sp>
          <p:nvSpPr>
            <p:cNvPr id="28" name="Text 21"/>
            <p:cNvSpPr txBox="1"/>
            <p:nvPr/>
          </p:nvSpPr>
          <p:spPr>
            <a:xfrm>
              <a:off x="5120640" y="4256278"/>
              <a:ext cx="6309360" cy="749808"/>
            </a:xfrm>
            <a:prstGeom prst="rect">
              <a:avLst/>
            </a:prstGeom>
            <a:noFill/>
            <a:ln/>
          </p:spPr>
          <p:txBody>
            <a:bodyPr wrap="square" lIns="0" tIns="0" rIns="0" bIns="0" rtlCol="0" anchor="ctr"/>
            <a:lstStyle/>
            <a:p>
              <a:pPr marL="0" indent="0">
                <a:buNone/>
              </a:pPr>
              <a:r>
                <a:rPr lang="es-ES" sz="1450" noProof="0" dirty="0">
                  <a:solidFill>
                    <a:srgbClr val="5C6470"/>
                  </a:solidFill>
                  <a:latin typeface="Calibri" pitchFamily="34" charset="0"/>
                  <a:ea typeface="Calibri" pitchFamily="34" charset="-122"/>
                  <a:cs typeface="Calibri" pitchFamily="34" charset="-120"/>
                </a:rPr>
                <a:t>La CLI y las APIs pueden cambiar; la demo se verificó con Squad 0.13.1.</a:t>
              </a:r>
              <a:endParaRPr lang="es-ES" sz="1450" noProof="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E1116"/>
        </a:solidFill>
        <a:effectLst/>
      </p:bgPr>
    </p:bg>
    <p:spTree>
      <p:nvGrpSpPr>
        <p:cNvPr id="1" name=""/>
        <p:cNvGrpSpPr/>
        <p:nvPr/>
      </p:nvGrpSpPr>
      <p:grpSpPr>
        <a:xfrm>
          <a:off x="0" y="0"/>
          <a:ext cx="0" cy="0"/>
          <a:chOff x="0" y="0"/>
          <a:chExt cx="0" cy="0"/>
        </a:xfrm>
      </p:grpSpPr>
      <p:sp>
        <p:nvSpPr>
          <p:cNvPr id="2" name="Shape 0"/>
          <p:cNvSpPr/>
          <p:nvPr/>
        </p:nvSpPr>
        <p:spPr>
          <a:xfrm>
            <a:off x="809244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 name="Shape 1"/>
          <p:cNvSpPr/>
          <p:nvPr/>
        </p:nvSpPr>
        <p:spPr>
          <a:xfrm>
            <a:off x="8695944"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 name="Shape 2"/>
          <p:cNvSpPr/>
          <p:nvPr/>
        </p:nvSpPr>
        <p:spPr>
          <a:xfrm>
            <a:off x="9299448"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5" name="Shape 3"/>
          <p:cNvSpPr/>
          <p:nvPr/>
        </p:nvSpPr>
        <p:spPr>
          <a:xfrm>
            <a:off x="9902952"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6" name="Shape 4"/>
          <p:cNvSpPr/>
          <p:nvPr/>
        </p:nvSpPr>
        <p:spPr>
          <a:xfrm>
            <a:off x="10506456"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7" name="Shape 5"/>
          <p:cNvSpPr/>
          <p:nvPr/>
        </p:nvSpPr>
        <p:spPr>
          <a:xfrm>
            <a:off x="1110996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8" name="Shape 6"/>
          <p:cNvSpPr/>
          <p:nvPr/>
        </p:nvSpPr>
        <p:spPr>
          <a:xfrm>
            <a:off x="809244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9" name="Shape 7"/>
          <p:cNvSpPr/>
          <p:nvPr/>
        </p:nvSpPr>
        <p:spPr>
          <a:xfrm>
            <a:off x="8695944"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0" name="Shape 8"/>
          <p:cNvSpPr/>
          <p:nvPr/>
        </p:nvSpPr>
        <p:spPr>
          <a:xfrm>
            <a:off x="9299448"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1" name="Shape 9"/>
          <p:cNvSpPr/>
          <p:nvPr/>
        </p:nvSpPr>
        <p:spPr>
          <a:xfrm>
            <a:off x="9902952"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2" name="Shape 10"/>
          <p:cNvSpPr/>
          <p:nvPr/>
        </p:nvSpPr>
        <p:spPr>
          <a:xfrm>
            <a:off x="10506456"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3" name="Shape 11"/>
          <p:cNvSpPr/>
          <p:nvPr/>
        </p:nvSpPr>
        <p:spPr>
          <a:xfrm>
            <a:off x="1110996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4" name="Shape 12"/>
          <p:cNvSpPr/>
          <p:nvPr/>
        </p:nvSpPr>
        <p:spPr>
          <a:xfrm>
            <a:off x="809244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5" name="Shape 13"/>
          <p:cNvSpPr/>
          <p:nvPr/>
        </p:nvSpPr>
        <p:spPr>
          <a:xfrm>
            <a:off x="8695944"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6" name="Shape 14"/>
          <p:cNvSpPr/>
          <p:nvPr/>
        </p:nvSpPr>
        <p:spPr>
          <a:xfrm>
            <a:off x="9299448"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7" name="Shape 15"/>
          <p:cNvSpPr/>
          <p:nvPr/>
        </p:nvSpPr>
        <p:spPr>
          <a:xfrm>
            <a:off x="9902952"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8" name="Shape 16"/>
          <p:cNvSpPr/>
          <p:nvPr/>
        </p:nvSpPr>
        <p:spPr>
          <a:xfrm>
            <a:off x="10506456"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9" name="Shape 17"/>
          <p:cNvSpPr/>
          <p:nvPr/>
        </p:nvSpPr>
        <p:spPr>
          <a:xfrm>
            <a:off x="1110996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0" name="Shape 18"/>
          <p:cNvSpPr/>
          <p:nvPr/>
        </p:nvSpPr>
        <p:spPr>
          <a:xfrm>
            <a:off x="809244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1" name="Shape 19"/>
          <p:cNvSpPr/>
          <p:nvPr/>
        </p:nvSpPr>
        <p:spPr>
          <a:xfrm>
            <a:off x="8695944"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2" name="Shape 20"/>
          <p:cNvSpPr/>
          <p:nvPr/>
        </p:nvSpPr>
        <p:spPr>
          <a:xfrm>
            <a:off x="9299448"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3" name="Shape 21"/>
          <p:cNvSpPr/>
          <p:nvPr/>
        </p:nvSpPr>
        <p:spPr>
          <a:xfrm>
            <a:off x="9902952"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4" name="Shape 22"/>
          <p:cNvSpPr/>
          <p:nvPr/>
        </p:nvSpPr>
        <p:spPr>
          <a:xfrm>
            <a:off x="10506456"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5" name="Shape 23"/>
          <p:cNvSpPr/>
          <p:nvPr/>
        </p:nvSpPr>
        <p:spPr>
          <a:xfrm>
            <a:off x="1110996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6" name="Shape 24"/>
          <p:cNvSpPr/>
          <p:nvPr/>
        </p:nvSpPr>
        <p:spPr>
          <a:xfrm>
            <a:off x="809244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7" name="Shape 25"/>
          <p:cNvSpPr/>
          <p:nvPr/>
        </p:nvSpPr>
        <p:spPr>
          <a:xfrm>
            <a:off x="8695944"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8" name="Shape 26"/>
          <p:cNvSpPr/>
          <p:nvPr/>
        </p:nvSpPr>
        <p:spPr>
          <a:xfrm>
            <a:off x="9299448"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9" name="Shape 27"/>
          <p:cNvSpPr/>
          <p:nvPr/>
        </p:nvSpPr>
        <p:spPr>
          <a:xfrm>
            <a:off x="9902952"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0" name="Shape 28"/>
          <p:cNvSpPr/>
          <p:nvPr/>
        </p:nvSpPr>
        <p:spPr>
          <a:xfrm>
            <a:off x="10506456"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1" name="Shape 29"/>
          <p:cNvSpPr/>
          <p:nvPr/>
        </p:nvSpPr>
        <p:spPr>
          <a:xfrm>
            <a:off x="1110996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2" name="Shape 30"/>
          <p:cNvSpPr/>
          <p:nvPr/>
        </p:nvSpPr>
        <p:spPr>
          <a:xfrm>
            <a:off x="8092440" y="3675888"/>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3" name="Shape 31"/>
          <p:cNvSpPr/>
          <p:nvPr/>
        </p:nvSpPr>
        <p:spPr>
          <a:xfrm>
            <a:off x="8695944"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4" name="Shape 32"/>
          <p:cNvSpPr/>
          <p:nvPr/>
        </p:nvSpPr>
        <p:spPr>
          <a:xfrm>
            <a:off x="9299448"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5" name="Shape 33"/>
          <p:cNvSpPr/>
          <p:nvPr/>
        </p:nvSpPr>
        <p:spPr>
          <a:xfrm>
            <a:off x="9902952"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6" name="Shape 34"/>
          <p:cNvSpPr/>
          <p:nvPr/>
        </p:nvSpPr>
        <p:spPr>
          <a:xfrm>
            <a:off x="10506456"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7" name="Shape 35"/>
          <p:cNvSpPr/>
          <p:nvPr/>
        </p:nvSpPr>
        <p:spPr>
          <a:xfrm>
            <a:off x="11109960"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8" name="Shape 36"/>
          <p:cNvSpPr/>
          <p:nvPr/>
        </p:nvSpPr>
        <p:spPr>
          <a:xfrm>
            <a:off x="8092440"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9" name="Shape 37"/>
          <p:cNvSpPr/>
          <p:nvPr/>
        </p:nvSpPr>
        <p:spPr>
          <a:xfrm>
            <a:off x="8695944"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0" name="Shape 38"/>
          <p:cNvSpPr/>
          <p:nvPr/>
        </p:nvSpPr>
        <p:spPr>
          <a:xfrm>
            <a:off x="9299448"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1" name="Shape 39"/>
          <p:cNvSpPr/>
          <p:nvPr/>
        </p:nvSpPr>
        <p:spPr>
          <a:xfrm>
            <a:off x="9902952"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2" name="Shape 40"/>
          <p:cNvSpPr/>
          <p:nvPr/>
        </p:nvSpPr>
        <p:spPr>
          <a:xfrm>
            <a:off x="10506456" y="4279392"/>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3" name="Shape 41"/>
          <p:cNvSpPr/>
          <p:nvPr/>
        </p:nvSpPr>
        <p:spPr>
          <a:xfrm>
            <a:off x="11109960"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4" name="Shape 42"/>
          <p:cNvSpPr/>
          <p:nvPr/>
        </p:nvSpPr>
        <p:spPr>
          <a:xfrm>
            <a:off x="8092440" y="4882896"/>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45" name="Shape 43"/>
          <p:cNvSpPr/>
          <p:nvPr/>
        </p:nvSpPr>
        <p:spPr>
          <a:xfrm>
            <a:off x="8695944" y="4882896"/>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6" name="Shape 44"/>
          <p:cNvSpPr/>
          <p:nvPr/>
        </p:nvSpPr>
        <p:spPr>
          <a:xfrm>
            <a:off x="9299448" y="4882896"/>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47" name="Shape 45"/>
          <p:cNvSpPr/>
          <p:nvPr/>
        </p:nvSpPr>
        <p:spPr>
          <a:xfrm>
            <a:off x="9902952"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8" name="Shape 46"/>
          <p:cNvSpPr/>
          <p:nvPr/>
        </p:nvSpPr>
        <p:spPr>
          <a:xfrm>
            <a:off x="10506456"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9" name="Shape 47"/>
          <p:cNvSpPr/>
          <p:nvPr/>
        </p:nvSpPr>
        <p:spPr>
          <a:xfrm>
            <a:off x="11109960"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0" name="Shape 48"/>
          <p:cNvSpPr/>
          <p:nvPr/>
        </p:nvSpPr>
        <p:spPr>
          <a:xfrm>
            <a:off x="8092440" y="5486400"/>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51" name="Shape 49"/>
          <p:cNvSpPr/>
          <p:nvPr/>
        </p:nvSpPr>
        <p:spPr>
          <a:xfrm>
            <a:off x="8695944"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2" name="Shape 50"/>
          <p:cNvSpPr/>
          <p:nvPr/>
        </p:nvSpPr>
        <p:spPr>
          <a:xfrm>
            <a:off x="9299448"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3" name="Shape 51"/>
          <p:cNvSpPr/>
          <p:nvPr/>
        </p:nvSpPr>
        <p:spPr>
          <a:xfrm>
            <a:off x="9902952"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4" name="Shape 52"/>
          <p:cNvSpPr/>
          <p:nvPr/>
        </p:nvSpPr>
        <p:spPr>
          <a:xfrm>
            <a:off x="10506456"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5" name="Shape 53"/>
          <p:cNvSpPr/>
          <p:nvPr/>
        </p:nvSpPr>
        <p:spPr>
          <a:xfrm>
            <a:off x="11109960"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7" name="Text 55"/>
          <p:cNvSpPr txBox="1"/>
          <p:nvPr/>
        </p:nvSpPr>
        <p:spPr>
          <a:xfrm>
            <a:off x="473264" y="284702"/>
            <a:ext cx="6858000" cy="1097280"/>
          </a:xfrm>
          <a:prstGeom prst="rect">
            <a:avLst/>
          </a:prstGeom>
          <a:noFill/>
          <a:ln/>
        </p:spPr>
        <p:txBody>
          <a:bodyPr wrap="square" lIns="0" tIns="0" rIns="0" bIns="0" rtlCol="0" anchor="t"/>
          <a:lstStyle/>
          <a:p>
            <a:pPr marL="0" indent="0">
              <a:buNone/>
            </a:pPr>
            <a:r>
              <a:rPr lang="es-ES" sz="3600" b="1" kern="0" spc="300" noProof="0" dirty="0">
                <a:solidFill>
                  <a:srgbClr val="10A38A"/>
                </a:solidFill>
                <a:latin typeface="Calibri" pitchFamily="34" charset="0"/>
                <a:ea typeface="Calibri" pitchFamily="34" charset="-122"/>
                <a:cs typeface="Calibri" pitchFamily="34" charset="-120"/>
              </a:rPr>
              <a:t>LLÉVATELO</a:t>
            </a:r>
          </a:p>
        </p:txBody>
      </p:sp>
      <p:sp>
        <p:nvSpPr>
          <p:cNvPr id="74" name="Text 55">
            <a:extLst>
              <a:ext uri="{FF2B5EF4-FFF2-40B4-BE49-F238E27FC236}">
                <a16:creationId xmlns:a16="http://schemas.microsoft.com/office/drawing/2014/main" id="{203F646B-4239-9B4B-DFEB-014660AD0800}"/>
              </a:ext>
            </a:extLst>
          </p:cNvPr>
          <p:cNvSpPr txBox="1"/>
          <p:nvPr/>
        </p:nvSpPr>
        <p:spPr>
          <a:xfrm>
            <a:off x="473264" y="972778"/>
            <a:ext cx="6858000" cy="1628320"/>
          </a:xfrm>
          <a:prstGeom prst="rect">
            <a:avLst/>
          </a:prstGeom>
          <a:noFill/>
          <a:ln/>
        </p:spPr>
        <p:txBody>
          <a:bodyPr wrap="square" lIns="0" tIns="0" rIns="0" bIns="0" rtlCol="0" anchor="t"/>
          <a:lstStyle/>
          <a:p>
            <a:pPr marL="0" indent="0">
              <a:buNone/>
            </a:pPr>
            <a:r>
              <a:rPr lang="es-ES" sz="4400" b="1" noProof="0" dirty="0">
                <a:solidFill>
                  <a:srgbClr val="FFFFFF"/>
                </a:solidFill>
                <a:latin typeface="Calibri" pitchFamily="34" charset="0"/>
                <a:ea typeface="Calibri" pitchFamily="34" charset="-122"/>
                <a:cs typeface="Calibri" pitchFamily="34" charset="-120"/>
              </a:rPr>
              <a:t>Tienes todo el código fuente complete disponible aquí 👇🏻</a:t>
            </a:r>
            <a:endParaRPr lang="es-ES" sz="4400" noProof="0" dirty="0"/>
          </a:p>
        </p:txBody>
      </p:sp>
      <p:grpSp>
        <p:nvGrpSpPr>
          <p:cNvPr id="85" name="Group 84">
            <a:extLst>
              <a:ext uri="{FF2B5EF4-FFF2-40B4-BE49-F238E27FC236}">
                <a16:creationId xmlns:a16="http://schemas.microsoft.com/office/drawing/2014/main" id="{99175F9E-9FA4-3F2A-5256-A29FA2F8C1CD}"/>
              </a:ext>
            </a:extLst>
          </p:cNvPr>
          <p:cNvGrpSpPr/>
          <p:nvPr/>
        </p:nvGrpSpPr>
        <p:grpSpPr>
          <a:xfrm>
            <a:off x="2263060" y="2506062"/>
            <a:ext cx="3431360" cy="3431360"/>
            <a:chOff x="2263060" y="2672878"/>
            <a:chExt cx="3431360" cy="3431360"/>
          </a:xfrm>
        </p:grpSpPr>
        <p:pic>
          <p:nvPicPr>
            <p:cNvPr id="82" name="Graphic 81">
              <a:extLst>
                <a:ext uri="{FF2B5EF4-FFF2-40B4-BE49-F238E27FC236}">
                  <a16:creationId xmlns:a16="http://schemas.microsoft.com/office/drawing/2014/main" id="{934D0B80-6B03-DEF4-B240-3C393A82EE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3060" y="2672878"/>
              <a:ext cx="3431360" cy="3431360"/>
            </a:xfrm>
            <a:prstGeom prst="rect">
              <a:avLst/>
            </a:prstGeom>
          </p:spPr>
        </p:pic>
        <p:pic>
          <p:nvPicPr>
            <p:cNvPr id="84" name="Graphic 83">
              <a:extLst>
                <a:ext uri="{FF2B5EF4-FFF2-40B4-BE49-F238E27FC236}">
                  <a16:creationId xmlns:a16="http://schemas.microsoft.com/office/drawing/2014/main" id="{8480903A-C9DA-A920-DFF1-2D62C44256B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6219" y="3931920"/>
              <a:ext cx="945042" cy="925756"/>
            </a:xfrm>
            <a:prstGeom prst="rect">
              <a:avLst/>
            </a:prstGeom>
          </p:spPr>
        </p:pic>
      </p:grpSp>
      <p:sp>
        <p:nvSpPr>
          <p:cNvPr id="87" name="TextBox 86">
            <a:extLst>
              <a:ext uri="{FF2B5EF4-FFF2-40B4-BE49-F238E27FC236}">
                <a16:creationId xmlns:a16="http://schemas.microsoft.com/office/drawing/2014/main" id="{538D0D02-1BA9-70F7-A145-BD19E74283F2}"/>
              </a:ext>
            </a:extLst>
          </p:cNvPr>
          <p:cNvSpPr txBox="1"/>
          <p:nvPr/>
        </p:nvSpPr>
        <p:spPr>
          <a:xfrm>
            <a:off x="753241" y="6148857"/>
            <a:ext cx="6858000" cy="461665"/>
          </a:xfrm>
          <a:prstGeom prst="rect">
            <a:avLst/>
          </a:prstGeom>
          <a:noFill/>
        </p:spPr>
        <p:txBody>
          <a:bodyPr wrap="square">
            <a:spAutoFit/>
          </a:bodyPr>
          <a:lstStyle/>
          <a:p>
            <a:r>
              <a:rPr lang="es-ES" sz="2400" noProof="0" dirty="0">
                <a:solidFill>
                  <a:schemeClr val="bg1"/>
                </a:solidFill>
              </a:rPr>
              <a:t>https://github.com/rliberoff/2026-git-hub-dev-days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116"/>
        </a:solidFill>
        <a:effectLst/>
      </p:bgPr>
    </p:bg>
    <p:spTree>
      <p:nvGrpSpPr>
        <p:cNvPr id="1" name="">
          <a:extLst>
            <a:ext uri="{FF2B5EF4-FFF2-40B4-BE49-F238E27FC236}">
              <a16:creationId xmlns:a16="http://schemas.microsoft.com/office/drawing/2014/main" id="{CBF25030-E39B-4F42-4E88-C288C11166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FFF35EA-7EBE-37E4-351B-74E7F084CB58}"/>
              </a:ext>
            </a:extLst>
          </p:cNvPr>
          <p:cNvSpPr/>
          <p:nvPr/>
        </p:nvSpPr>
        <p:spPr>
          <a:xfrm>
            <a:off x="809244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 name="Shape 1">
            <a:extLst>
              <a:ext uri="{FF2B5EF4-FFF2-40B4-BE49-F238E27FC236}">
                <a16:creationId xmlns:a16="http://schemas.microsoft.com/office/drawing/2014/main" id="{4688F7A0-6C6B-A8FD-CD15-8262C694A212}"/>
              </a:ext>
            </a:extLst>
          </p:cNvPr>
          <p:cNvSpPr/>
          <p:nvPr/>
        </p:nvSpPr>
        <p:spPr>
          <a:xfrm>
            <a:off x="8695944"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 name="Shape 2">
            <a:extLst>
              <a:ext uri="{FF2B5EF4-FFF2-40B4-BE49-F238E27FC236}">
                <a16:creationId xmlns:a16="http://schemas.microsoft.com/office/drawing/2014/main" id="{1E17CC68-1225-4CD3-8445-EE5FD0C204E7}"/>
              </a:ext>
            </a:extLst>
          </p:cNvPr>
          <p:cNvSpPr/>
          <p:nvPr/>
        </p:nvSpPr>
        <p:spPr>
          <a:xfrm>
            <a:off x="9299448"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5" name="Shape 3">
            <a:extLst>
              <a:ext uri="{FF2B5EF4-FFF2-40B4-BE49-F238E27FC236}">
                <a16:creationId xmlns:a16="http://schemas.microsoft.com/office/drawing/2014/main" id="{7DD8D42D-9701-02C5-F42E-FDEEC62BE667}"/>
              </a:ext>
            </a:extLst>
          </p:cNvPr>
          <p:cNvSpPr/>
          <p:nvPr/>
        </p:nvSpPr>
        <p:spPr>
          <a:xfrm>
            <a:off x="9902952"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6" name="Shape 4">
            <a:extLst>
              <a:ext uri="{FF2B5EF4-FFF2-40B4-BE49-F238E27FC236}">
                <a16:creationId xmlns:a16="http://schemas.microsoft.com/office/drawing/2014/main" id="{DCF053C8-0E69-3E74-E14A-763E50DBC67D}"/>
              </a:ext>
            </a:extLst>
          </p:cNvPr>
          <p:cNvSpPr/>
          <p:nvPr/>
        </p:nvSpPr>
        <p:spPr>
          <a:xfrm>
            <a:off x="10506456"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7" name="Shape 5">
            <a:extLst>
              <a:ext uri="{FF2B5EF4-FFF2-40B4-BE49-F238E27FC236}">
                <a16:creationId xmlns:a16="http://schemas.microsoft.com/office/drawing/2014/main" id="{D9A29242-4DF3-15EC-B162-08FEF10F2CC8}"/>
              </a:ext>
            </a:extLst>
          </p:cNvPr>
          <p:cNvSpPr/>
          <p:nvPr/>
        </p:nvSpPr>
        <p:spPr>
          <a:xfrm>
            <a:off x="11109960" y="65836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8" name="Shape 6">
            <a:extLst>
              <a:ext uri="{FF2B5EF4-FFF2-40B4-BE49-F238E27FC236}">
                <a16:creationId xmlns:a16="http://schemas.microsoft.com/office/drawing/2014/main" id="{90C293BD-4FFF-43CA-2908-86E3CB64DD47}"/>
              </a:ext>
            </a:extLst>
          </p:cNvPr>
          <p:cNvSpPr/>
          <p:nvPr/>
        </p:nvSpPr>
        <p:spPr>
          <a:xfrm>
            <a:off x="809244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9" name="Shape 7">
            <a:extLst>
              <a:ext uri="{FF2B5EF4-FFF2-40B4-BE49-F238E27FC236}">
                <a16:creationId xmlns:a16="http://schemas.microsoft.com/office/drawing/2014/main" id="{33D30ED5-564C-6A2C-710C-FB95D032E5C2}"/>
              </a:ext>
            </a:extLst>
          </p:cNvPr>
          <p:cNvSpPr/>
          <p:nvPr/>
        </p:nvSpPr>
        <p:spPr>
          <a:xfrm>
            <a:off x="8695944"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0" name="Shape 8">
            <a:extLst>
              <a:ext uri="{FF2B5EF4-FFF2-40B4-BE49-F238E27FC236}">
                <a16:creationId xmlns:a16="http://schemas.microsoft.com/office/drawing/2014/main" id="{397A426B-4071-6F29-6B31-8A813D9A5A96}"/>
              </a:ext>
            </a:extLst>
          </p:cNvPr>
          <p:cNvSpPr/>
          <p:nvPr/>
        </p:nvSpPr>
        <p:spPr>
          <a:xfrm>
            <a:off x="9299448"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1" name="Shape 9">
            <a:extLst>
              <a:ext uri="{FF2B5EF4-FFF2-40B4-BE49-F238E27FC236}">
                <a16:creationId xmlns:a16="http://schemas.microsoft.com/office/drawing/2014/main" id="{392632FF-96EA-A881-71FA-02C8D410C5E5}"/>
              </a:ext>
            </a:extLst>
          </p:cNvPr>
          <p:cNvSpPr/>
          <p:nvPr/>
        </p:nvSpPr>
        <p:spPr>
          <a:xfrm>
            <a:off x="9902952"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2" name="Shape 10">
            <a:extLst>
              <a:ext uri="{FF2B5EF4-FFF2-40B4-BE49-F238E27FC236}">
                <a16:creationId xmlns:a16="http://schemas.microsoft.com/office/drawing/2014/main" id="{22D7A846-0647-CC89-7F86-9119AE61287F}"/>
              </a:ext>
            </a:extLst>
          </p:cNvPr>
          <p:cNvSpPr/>
          <p:nvPr/>
        </p:nvSpPr>
        <p:spPr>
          <a:xfrm>
            <a:off x="10506456"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3" name="Shape 11">
            <a:extLst>
              <a:ext uri="{FF2B5EF4-FFF2-40B4-BE49-F238E27FC236}">
                <a16:creationId xmlns:a16="http://schemas.microsoft.com/office/drawing/2014/main" id="{9D2CBAA8-E1E8-D43E-0E74-61ABC0BA8897}"/>
              </a:ext>
            </a:extLst>
          </p:cNvPr>
          <p:cNvSpPr/>
          <p:nvPr/>
        </p:nvSpPr>
        <p:spPr>
          <a:xfrm>
            <a:off x="11109960" y="126187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4" name="Shape 12">
            <a:extLst>
              <a:ext uri="{FF2B5EF4-FFF2-40B4-BE49-F238E27FC236}">
                <a16:creationId xmlns:a16="http://schemas.microsoft.com/office/drawing/2014/main" id="{866B3FB0-D3A5-4843-C833-C5350F92FC69}"/>
              </a:ext>
            </a:extLst>
          </p:cNvPr>
          <p:cNvSpPr/>
          <p:nvPr/>
        </p:nvSpPr>
        <p:spPr>
          <a:xfrm>
            <a:off x="809244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5" name="Shape 13">
            <a:extLst>
              <a:ext uri="{FF2B5EF4-FFF2-40B4-BE49-F238E27FC236}">
                <a16:creationId xmlns:a16="http://schemas.microsoft.com/office/drawing/2014/main" id="{45084B23-DA45-CCAE-F103-F7D71260A0CD}"/>
              </a:ext>
            </a:extLst>
          </p:cNvPr>
          <p:cNvSpPr/>
          <p:nvPr/>
        </p:nvSpPr>
        <p:spPr>
          <a:xfrm>
            <a:off x="8695944"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6" name="Shape 14">
            <a:extLst>
              <a:ext uri="{FF2B5EF4-FFF2-40B4-BE49-F238E27FC236}">
                <a16:creationId xmlns:a16="http://schemas.microsoft.com/office/drawing/2014/main" id="{3F53EAE2-A005-4A3A-1A9C-C525CCFF88D3}"/>
              </a:ext>
            </a:extLst>
          </p:cNvPr>
          <p:cNvSpPr/>
          <p:nvPr/>
        </p:nvSpPr>
        <p:spPr>
          <a:xfrm>
            <a:off x="9299448"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7" name="Shape 15">
            <a:extLst>
              <a:ext uri="{FF2B5EF4-FFF2-40B4-BE49-F238E27FC236}">
                <a16:creationId xmlns:a16="http://schemas.microsoft.com/office/drawing/2014/main" id="{9EC2769C-C307-02D9-CDC3-1BDF171A1D1C}"/>
              </a:ext>
            </a:extLst>
          </p:cNvPr>
          <p:cNvSpPr/>
          <p:nvPr/>
        </p:nvSpPr>
        <p:spPr>
          <a:xfrm>
            <a:off x="9902952"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8" name="Shape 16">
            <a:extLst>
              <a:ext uri="{FF2B5EF4-FFF2-40B4-BE49-F238E27FC236}">
                <a16:creationId xmlns:a16="http://schemas.microsoft.com/office/drawing/2014/main" id="{E63C174F-1812-FE1A-7BDB-435E2B441C28}"/>
              </a:ext>
            </a:extLst>
          </p:cNvPr>
          <p:cNvSpPr/>
          <p:nvPr/>
        </p:nvSpPr>
        <p:spPr>
          <a:xfrm>
            <a:off x="10506456"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19" name="Shape 17">
            <a:extLst>
              <a:ext uri="{FF2B5EF4-FFF2-40B4-BE49-F238E27FC236}">
                <a16:creationId xmlns:a16="http://schemas.microsoft.com/office/drawing/2014/main" id="{80016FCB-483D-6BF9-2E72-1C651E71ADAB}"/>
              </a:ext>
            </a:extLst>
          </p:cNvPr>
          <p:cNvSpPr/>
          <p:nvPr/>
        </p:nvSpPr>
        <p:spPr>
          <a:xfrm>
            <a:off x="11109960" y="1865376"/>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0" name="Shape 18">
            <a:extLst>
              <a:ext uri="{FF2B5EF4-FFF2-40B4-BE49-F238E27FC236}">
                <a16:creationId xmlns:a16="http://schemas.microsoft.com/office/drawing/2014/main" id="{B62D63FC-4900-CFFB-49F2-9CB1B7A6D283}"/>
              </a:ext>
            </a:extLst>
          </p:cNvPr>
          <p:cNvSpPr/>
          <p:nvPr/>
        </p:nvSpPr>
        <p:spPr>
          <a:xfrm>
            <a:off x="809244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1" name="Shape 19">
            <a:extLst>
              <a:ext uri="{FF2B5EF4-FFF2-40B4-BE49-F238E27FC236}">
                <a16:creationId xmlns:a16="http://schemas.microsoft.com/office/drawing/2014/main" id="{572CF901-C874-8F64-F650-FB4E59D55BC4}"/>
              </a:ext>
            </a:extLst>
          </p:cNvPr>
          <p:cNvSpPr/>
          <p:nvPr/>
        </p:nvSpPr>
        <p:spPr>
          <a:xfrm>
            <a:off x="8695944"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2" name="Shape 20">
            <a:extLst>
              <a:ext uri="{FF2B5EF4-FFF2-40B4-BE49-F238E27FC236}">
                <a16:creationId xmlns:a16="http://schemas.microsoft.com/office/drawing/2014/main" id="{EFFF518D-DED1-69C3-EBA3-134F354222DB}"/>
              </a:ext>
            </a:extLst>
          </p:cNvPr>
          <p:cNvSpPr/>
          <p:nvPr/>
        </p:nvSpPr>
        <p:spPr>
          <a:xfrm>
            <a:off x="9299448"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3" name="Shape 21">
            <a:extLst>
              <a:ext uri="{FF2B5EF4-FFF2-40B4-BE49-F238E27FC236}">
                <a16:creationId xmlns:a16="http://schemas.microsoft.com/office/drawing/2014/main" id="{CF9BD94E-CE3D-2B5B-0457-4C5482E1AE59}"/>
              </a:ext>
            </a:extLst>
          </p:cNvPr>
          <p:cNvSpPr/>
          <p:nvPr/>
        </p:nvSpPr>
        <p:spPr>
          <a:xfrm>
            <a:off x="9902952"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4" name="Shape 22">
            <a:extLst>
              <a:ext uri="{FF2B5EF4-FFF2-40B4-BE49-F238E27FC236}">
                <a16:creationId xmlns:a16="http://schemas.microsoft.com/office/drawing/2014/main" id="{5C7471C6-D48E-40D9-8927-991CC7757D25}"/>
              </a:ext>
            </a:extLst>
          </p:cNvPr>
          <p:cNvSpPr/>
          <p:nvPr/>
        </p:nvSpPr>
        <p:spPr>
          <a:xfrm>
            <a:off x="10506456"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5" name="Shape 23">
            <a:extLst>
              <a:ext uri="{FF2B5EF4-FFF2-40B4-BE49-F238E27FC236}">
                <a16:creationId xmlns:a16="http://schemas.microsoft.com/office/drawing/2014/main" id="{5D3A61A0-925D-B69F-2247-ACFD9D8B98AB}"/>
              </a:ext>
            </a:extLst>
          </p:cNvPr>
          <p:cNvSpPr/>
          <p:nvPr/>
        </p:nvSpPr>
        <p:spPr>
          <a:xfrm>
            <a:off x="11109960" y="2468880"/>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6" name="Shape 24">
            <a:extLst>
              <a:ext uri="{FF2B5EF4-FFF2-40B4-BE49-F238E27FC236}">
                <a16:creationId xmlns:a16="http://schemas.microsoft.com/office/drawing/2014/main" id="{04F070DA-BA38-51AD-11C4-55D294A5D212}"/>
              </a:ext>
            </a:extLst>
          </p:cNvPr>
          <p:cNvSpPr/>
          <p:nvPr/>
        </p:nvSpPr>
        <p:spPr>
          <a:xfrm>
            <a:off x="809244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7" name="Shape 25">
            <a:extLst>
              <a:ext uri="{FF2B5EF4-FFF2-40B4-BE49-F238E27FC236}">
                <a16:creationId xmlns:a16="http://schemas.microsoft.com/office/drawing/2014/main" id="{515FD401-DD59-98FF-EDFC-D7ED0A7D95E4}"/>
              </a:ext>
            </a:extLst>
          </p:cNvPr>
          <p:cNvSpPr/>
          <p:nvPr/>
        </p:nvSpPr>
        <p:spPr>
          <a:xfrm>
            <a:off x="8695944"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8" name="Shape 26">
            <a:extLst>
              <a:ext uri="{FF2B5EF4-FFF2-40B4-BE49-F238E27FC236}">
                <a16:creationId xmlns:a16="http://schemas.microsoft.com/office/drawing/2014/main" id="{92A465AB-7713-FA25-78C8-1B474BD083F3}"/>
              </a:ext>
            </a:extLst>
          </p:cNvPr>
          <p:cNvSpPr/>
          <p:nvPr/>
        </p:nvSpPr>
        <p:spPr>
          <a:xfrm>
            <a:off x="9299448"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29" name="Shape 27">
            <a:extLst>
              <a:ext uri="{FF2B5EF4-FFF2-40B4-BE49-F238E27FC236}">
                <a16:creationId xmlns:a16="http://schemas.microsoft.com/office/drawing/2014/main" id="{0D02DC27-6F38-E0B1-14D6-04ACFDE2F18D}"/>
              </a:ext>
            </a:extLst>
          </p:cNvPr>
          <p:cNvSpPr/>
          <p:nvPr/>
        </p:nvSpPr>
        <p:spPr>
          <a:xfrm>
            <a:off x="9902952"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0" name="Shape 28">
            <a:extLst>
              <a:ext uri="{FF2B5EF4-FFF2-40B4-BE49-F238E27FC236}">
                <a16:creationId xmlns:a16="http://schemas.microsoft.com/office/drawing/2014/main" id="{2A4ED8AC-8530-B7C0-E78A-DE61B5C54CEB}"/>
              </a:ext>
            </a:extLst>
          </p:cNvPr>
          <p:cNvSpPr/>
          <p:nvPr/>
        </p:nvSpPr>
        <p:spPr>
          <a:xfrm>
            <a:off x="10506456"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1" name="Shape 29">
            <a:extLst>
              <a:ext uri="{FF2B5EF4-FFF2-40B4-BE49-F238E27FC236}">
                <a16:creationId xmlns:a16="http://schemas.microsoft.com/office/drawing/2014/main" id="{D61E69B7-29B7-D8AD-50C5-EF0640DF4DFC}"/>
              </a:ext>
            </a:extLst>
          </p:cNvPr>
          <p:cNvSpPr/>
          <p:nvPr/>
        </p:nvSpPr>
        <p:spPr>
          <a:xfrm>
            <a:off x="11109960" y="3072384"/>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2" name="Shape 30">
            <a:extLst>
              <a:ext uri="{FF2B5EF4-FFF2-40B4-BE49-F238E27FC236}">
                <a16:creationId xmlns:a16="http://schemas.microsoft.com/office/drawing/2014/main" id="{665CE698-241C-89C4-D3B2-81E8EE138A69}"/>
              </a:ext>
            </a:extLst>
          </p:cNvPr>
          <p:cNvSpPr/>
          <p:nvPr/>
        </p:nvSpPr>
        <p:spPr>
          <a:xfrm>
            <a:off x="8092440" y="3675888"/>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3" name="Shape 31">
            <a:extLst>
              <a:ext uri="{FF2B5EF4-FFF2-40B4-BE49-F238E27FC236}">
                <a16:creationId xmlns:a16="http://schemas.microsoft.com/office/drawing/2014/main" id="{F2F32392-DBDA-AC93-EFD8-9064D353E2B6}"/>
              </a:ext>
            </a:extLst>
          </p:cNvPr>
          <p:cNvSpPr/>
          <p:nvPr/>
        </p:nvSpPr>
        <p:spPr>
          <a:xfrm>
            <a:off x="8695944"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4" name="Shape 32">
            <a:extLst>
              <a:ext uri="{FF2B5EF4-FFF2-40B4-BE49-F238E27FC236}">
                <a16:creationId xmlns:a16="http://schemas.microsoft.com/office/drawing/2014/main" id="{583E49C3-A079-A1D3-5978-6DD39480F1E5}"/>
              </a:ext>
            </a:extLst>
          </p:cNvPr>
          <p:cNvSpPr/>
          <p:nvPr/>
        </p:nvSpPr>
        <p:spPr>
          <a:xfrm>
            <a:off x="9299448"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5" name="Shape 33">
            <a:extLst>
              <a:ext uri="{FF2B5EF4-FFF2-40B4-BE49-F238E27FC236}">
                <a16:creationId xmlns:a16="http://schemas.microsoft.com/office/drawing/2014/main" id="{626ECEF0-0CA1-AA1D-DE47-463D9EDCBCCB}"/>
              </a:ext>
            </a:extLst>
          </p:cNvPr>
          <p:cNvSpPr/>
          <p:nvPr/>
        </p:nvSpPr>
        <p:spPr>
          <a:xfrm>
            <a:off x="9902952"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6" name="Shape 34">
            <a:extLst>
              <a:ext uri="{FF2B5EF4-FFF2-40B4-BE49-F238E27FC236}">
                <a16:creationId xmlns:a16="http://schemas.microsoft.com/office/drawing/2014/main" id="{3CDF33D2-9004-093D-ECD1-B6F8CB1EA74C}"/>
              </a:ext>
            </a:extLst>
          </p:cNvPr>
          <p:cNvSpPr/>
          <p:nvPr/>
        </p:nvSpPr>
        <p:spPr>
          <a:xfrm>
            <a:off x="10506456"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7" name="Shape 35">
            <a:extLst>
              <a:ext uri="{FF2B5EF4-FFF2-40B4-BE49-F238E27FC236}">
                <a16:creationId xmlns:a16="http://schemas.microsoft.com/office/drawing/2014/main" id="{87C8D4DF-45AF-FE03-4FA5-752E22DD28B3}"/>
              </a:ext>
            </a:extLst>
          </p:cNvPr>
          <p:cNvSpPr/>
          <p:nvPr/>
        </p:nvSpPr>
        <p:spPr>
          <a:xfrm>
            <a:off x="11109960" y="3675888"/>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38" name="Shape 36">
            <a:extLst>
              <a:ext uri="{FF2B5EF4-FFF2-40B4-BE49-F238E27FC236}">
                <a16:creationId xmlns:a16="http://schemas.microsoft.com/office/drawing/2014/main" id="{3DFE5A90-2640-F292-032E-E0810F57BC8F}"/>
              </a:ext>
            </a:extLst>
          </p:cNvPr>
          <p:cNvSpPr/>
          <p:nvPr/>
        </p:nvSpPr>
        <p:spPr>
          <a:xfrm>
            <a:off x="8092440"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39" name="Shape 37">
            <a:extLst>
              <a:ext uri="{FF2B5EF4-FFF2-40B4-BE49-F238E27FC236}">
                <a16:creationId xmlns:a16="http://schemas.microsoft.com/office/drawing/2014/main" id="{61FD3AFA-A5A6-89F0-5BF7-E6C059739058}"/>
              </a:ext>
            </a:extLst>
          </p:cNvPr>
          <p:cNvSpPr/>
          <p:nvPr/>
        </p:nvSpPr>
        <p:spPr>
          <a:xfrm>
            <a:off x="8695944" y="4279392"/>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0" name="Shape 38">
            <a:extLst>
              <a:ext uri="{FF2B5EF4-FFF2-40B4-BE49-F238E27FC236}">
                <a16:creationId xmlns:a16="http://schemas.microsoft.com/office/drawing/2014/main" id="{87291D43-4745-9156-D31A-9F1C31DFDD9F}"/>
              </a:ext>
            </a:extLst>
          </p:cNvPr>
          <p:cNvSpPr/>
          <p:nvPr/>
        </p:nvSpPr>
        <p:spPr>
          <a:xfrm>
            <a:off x="9299448"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1" name="Shape 39">
            <a:extLst>
              <a:ext uri="{FF2B5EF4-FFF2-40B4-BE49-F238E27FC236}">
                <a16:creationId xmlns:a16="http://schemas.microsoft.com/office/drawing/2014/main" id="{B90A2AC9-1E00-F734-0724-DC1B3AA15AA9}"/>
              </a:ext>
            </a:extLst>
          </p:cNvPr>
          <p:cNvSpPr/>
          <p:nvPr/>
        </p:nvSpPr>
        <p:spPr>
          <a:xfrm>
            <a:off x="9902952"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2" name="Shape 40">
            <a:extLst>
              <a:ext uri="{FF2B5EF4-FFF2-40B4-BE49-F238E27FC236}">
                <a16:creationId xmlns:a16="http://schemas.microsoft.com/office/drawing/2014/main" id="{62A051A0-2DB2-3558-6671-B61163813A44}"/>
              </a:ext>
            </a:extLst>
          </p:cNvPr>
          <p:cNvSpPr/>
          <p:nvPr/>
        </p:nvSpPr>
        <p:spPr>
          <a:xfrm>
            <a:off x="10506456" y="4279392"/>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3" name="Shape 41">
            <a:extLst>
              <a:ext uri="{FF2B5EF4-FFF2-40B4-BE49-F238E27FC236}">
                <a16:creationId xmlns:a16="http://schemas.microsoft.com/office/drawing/2014/main" id="{4F5E77B3-4824-6BD5-BE80-BADF343CE948}"/>
              </a:ext>
            </a:extLst>
          </p:cNvPr>
          <p:cNvSpPr/>
          <p:nvPr/>
        </p:nvSpPr>
        <p:spPr>
          <a:xfrm>
            <a:off x="11109960" y="4279392"/>
            <a:ext cx="512064" cy="512064"/>
          </a:xfrm>
          <a:prstGeom prst="roundRect">
            <a:avLst>
              <a:gd name="adj" fmla="val 16000"/>
            </a:avLst>
          </a:prstGeom>
          <a:solidFill>
            <a:srgbClr val="151B27"/>
          </a:solidFill>
          <a:ln w="12700">
            <a:solidFill>
              <a:srgbClr val="151B27"/>
            </a:solidFill>
            <a:prstDash val="solid"/>
          </a:ln>
        </p:spPr>
        <p:txBody>
          <a:bodyPr/>
          <a:lstStyle/>
          <a:p>
            <a:endParaRPr lang="es-ES" noProof="0" dirty="0"/>
          </a:p>
        </p:txBody>
      </p:sp>
      <p:sp>
        <p:nvSpPr>
          <p:cNvPr id="44" name="Shape 42">
            <a:extLst>
              <a:ext uri="{FF2B5EF4-FFF2-40B4-BE49-F238E27FC236}">
                <a16:creationId xmlns:a16="http://schemas.microsoft.com/office/drawing/2014/main" id="{AB95DD5D-3AF9-64A8-31B2-C7327E788947}"/>
              </a:ext>
            </a:extLst>
          </p:cNvPr>
          <p:cNvSpPr/>
          <p:nvPr/>
        </p:nvSpPr>
        <p:spPr>
          <a:xfrm>
            <a:off x="8092440" y="4882896"/>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45" name="Shape 43">
            <a:extLst>
              <a:ext uri="{FF2B5EF4-FFF2-40B4-BE49-F238E27FC236}">
                <a16:creationId xmlns:a16="http://schemas.microsoft.com/office/drawing/2014/main" id="{8606DFD3-AA12-A116-E9CC-976636E23057}"/>
              </a:ext>
            </a:extLst>
          </p:cNvPr>
          <p:cNvSpPr/>
          <p:nvPr/>
        </p:nvSpPr>
        <p:spPr>
          <a:xfrm>
            <a:off x="8695944" y="4882896"/>
            <a:ext cx="512064" cy="512064"/>
          </a:xfrm>
          <a:prstGeom prst="roundRect">
            <a:avLst>
              <a:gd name="adj" fmla="val 16000"/>
            </a:avLst>
          </a:prstGeom>
          <a:solidFill>
            <a:srgbClr val="E0524A"/>
          </a:solidFill>
          <a:ln w="12700">
            <a:solidFill>
              <a:srgbClr val="E0524A"/>
            </a:solidFill>
            <a:prstDash val="solid"/>
          </a:ln>
        </p:spPr>
        <p:txBody>
          <a:bodyPr/>
          <a:lstStyle/>
          <a:p>
            <a:endParaRPr lang="es-ES" noProof="0" dirty="0"/>
          </a:p>
        </p:txBody>
      </p:sp>
      <p:sp>
        <p:nvSpPr>
          <p:cNvPr id="46" name="Shape 44">
            <a:extLst>
              <a:ext uri="{FF2B5EF4-FFF2-40B4-BE49-F238E27FC236}">
                <a16:creationId xmlns:a16="http://schemas.microsoft.com/office/drawing/2014/main" id="{158E3562-7EC2-91D3-A921-0B89F5D8FE0C}"/>
              </a:ext>
            </a:extLst>
          </p:cNvPr>
          <p:cNvSpPr/>
          <p:nvPr/>
        </p:nvSpPr>
        <p:spPr>
          <a:xfrm>
            <a:off x="9299448" y="4882896"/>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47" name="Shape 45">
            <a:extLst>
              <a:ext uri="{FF2B5EF4-FFF2-40B4-BE49-F238E27FC236}">
                <a16:creationId xmlns:a16="http://schemas.microsoft.com/office/drawing/2014/main" id="{1C4210D5-4A81-BC90-5DA0-B33B626CAEAB}"/>
              </a:ext>
            </a:extLst>
          </p:cNvPr>
          <p:cNvSpPr/>
          <p:nvPr/>
        </p:nvSpPr>
        <p:spPr>
          <a:xfrm>
            <a:off x="9902952"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8" name="Shape 46">
            <a:extLst>
              <a:ext uri="{FF2B5EF4-FFF2-40B4-BE49-F238E27FC236}">
                <a16:creationId xmlns:a16="http://schemas.microsoft.com/office/drawing/2014/main" id="{20E0E523-C15C-922C-1872-750E0685B491}"/>
              </a:ext>
            </a:extLst>
          </p:cNvPr>
          <p:cNvSpPr/>
          <p:nvPr/>
        </p:nvSpPr>
        <p:spPr>
          <a:xfrm>
            <a:off x="10506456"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49" name="Shape 47">
            <a:extLst>
              <a:ext uri="{FF2B5EF4-FFF2-40B4-BE49-F238E27FC236}">
                <a16:creationId xmlns:a16="http://schemas.microsoft.com/office/drawing/2014/main" id="{55E766BA-C533-FB91-B8E5-04B48946F4A9}"/>
              </a:ext>
            </a:extLst>
          </p:cNvPr>
          <p:cNvSpPr/>
          <p:nvPr/>
        </p:nvSpPr>
        <p:spPr>
          <a:xfrm>
            <a:off x="11109960" y="4882896"/>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0" name="Shape 48">
            <a:extLst>
              <a:ext uri="{FF2B5EF4-FFF2-40B4-BE49-F238E27FC236}">
                <a16:creationId xmlns:a16="http://schemas.microsoft.com/office/drawing/2014/main" id="{25D86583-0376-2BF9-257F-D1958EDC172F}"/>
              </a:ext>
            </a:extLst>
          </p:cNvPr>
          <p:cNvSpPr/>
          <p:nvPr/>
        </p:nvSpPr>
        <p:spPr>
          <a:xfrm>
            <a:off x="8092440" y="5486400"/>
            <a:ext cx="512064" cy="512064"/>
          </a:xfrm>
          <a:prstGeom prst="roundRect">
            <a:avLst>
              <a:gd name="adj" fmla="val 16000"/>
            </a:avLst>
          </a:prstGeom>
          <a:solidFill>
            <a:srgbClr val="10A38A"/>
          </a:solidFill>
          <a:ln w="12700">
            <a:solidFill>
              <a:srgbClr val="10A38A"/>
            </a:solidFill>
            <a:prstDash val="solid"/>
          </a:ln>
        </p:spPr>
        <p:txBody>
          <a:bodyPr/>
          <a:lstStyle/>
          <a:p>
            <a:endParaRPr lang="es-ES" noProof="0" dirty="0"/>
          </a:p>
        </p:txBody>
      </p:sp>
      <p:sp>
        <p:nvSpPr>
          <p:cNvPr id="51" name="Shape 49">
            <a:extLst>
              <a:ext uri="{FF2B5EF4-FFF2-40B4-BE49-F238E27FC236}">
                <a16:creationId xmlns:a16="http://schemas.microsoft.com/office/drawing/2014/main" id="{7DE01234-6294-F8C2-C548-72ADC4161834}"/>
              </a:ext>
            </a:extLst>
          </p:cNvPr>
          <p:cNvSpPr/>
          <p:nvPr/>
        </p:nvSpPr>
        <p:spPr>
          <a:xfrm>
            <a:off x="8695944"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2" name="Shape 50">
            <a:extLst>
              <a:ext uri="{FF2B5EF4-FFF2-40B4-BE49-F238E27FC236}">
                <a16:creationId xmlns:a16="http://schemas.microsoft.com/office/drawing/2014/main" id="{B58B8BEB-DDFE-9B05-27AC-0A915249F549}"/>
              </a:ext>
            </a:extLst>
          </p:cNvPr>
          <p:cNvSpPr/>
          <p:nvPr/>
        </p:nvSpPr>
        <p:spPr>
          <a:xfrm>
            <a:off x="9299448"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3" name="Shape 51">
            <a:extLst>
              <a:ext uri="{FF2B5EF4-FFF2-40B4-BE49-F238E27FC236}">
                <a16:creationId xmlns:a16="http://schemas.microsoft.com/office/drawing/2014/main" id="{9648D83D-476E-F2A9-B853-ABE3FAF60006}"/>
              </a:ext>
            </a:extLst>
          </p:cNvPr>
          <p:cNvSpPr/>
          <p:nvPr/>
        </p:nvSpPr>
        <p:spPr>
          <a:xfrm>
            <a:off x="9902952" y="5486400"/>
            <a:ext cx="512064" cy="512064"/>
          </a:xfrm>
          <a:prstGeom prst="roundRect">
            <a:avLst>
              <a:gd name="adj" fmla="val 16000"/>
            </a:avLst>
          </a:prstGeom>
          <a:solidFill>
            <a:srgbClr val="7C4DDB"/>
          </a:solidFill>
          <a:ln w="12700">
            <a:solidFill>
              <a:srgbClr val="7C4DDB"/>
            </a:solidFill>
            <a:prstDash val="solid"/>
          </a:ln>
        </p:spPr>
        <p:txBody>
          <a:bodyPr/>
          <a:lstStyle/>
          <a:p>
            <a:endParaRPr lang="es-ES" noProof="0" dirty="0"/>
          </a:p>
        </p:txBody>
      </p:sp>
      <p:sp>
        <p:nvSpPr>
          <p:cNvPr id="54" name="Shape 52">
            <a:extLst>
              <a:ext uri="{FF2B5EF4-FFF2-40B4-BE49-F238E27FC236}">
                <a16:creationId xmlns:a16="http://schemas.microsoft.com/office/drawing/2014/main" id="{8A955ADA-7281-28FB-7D11-96EF7F483CC0}"/>
              </a:ext>
            </a:extLst>
          </p:cNvPr>
          <p:cNvSpPr/>
          <p:nvPr/>
        </p:nvSpPr>
        <p:spPr>
          <a:xfrm>
            <a:off x="10506456"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5" name="Shape 53">
            <a:extLst>
              <a:ext uri="{FF2B5EF4-FFF2-40B4-BE49-F238E27FC236}">
                <a16:creationId xmlns:a16="http://schemas.microsoft.com/office/drawing/2014/main" id="{13A59B55-4EC5-D035-CCA4-E084BA78CF89}"/>
              </a:ext>
            </a:extLst>
          </p:cNvPr>
          <p:cNvSpPr/>
          <p:nvPr/>
        </p:nvSpPr>
        <p:spPr>
          <a:xfrm>
            <a:off x="11109960" y="5486400"/>
            <a:ext cx="512064" cy="512064"/>
          </a:xfrm>
          <a:prstGeom prst="roundRect">
            <a:avLst>
              <a:gd name="adj" fmla="val 16000"/>
            </a:avLst>
          </a:prstGeom>
          <a:solidFill>
            <a:srgbClr val="F2A900"/>
          </a:solidFill>
          <a:ln w="12700">
            <a:solidFill>
              <a:srgbClr val="F2A900"/>
            </a:solidFill>
            <a:prstDash val="solid"/>
          </a:ln>
        </p:spPr>
        <p:txBody>
          <a:bodyPr/>
          <a:lstStyle/>
          <a:p>
            <a:endParaRPr lang="es-ES" noProof="0" dirty="0"/>
          </a:p>
        </p:txBody>
      </p:sp>
      <p:sp>
        <p:nvSpPr>
          <p:cNvPr id="56" name="Text 54">
            <a:extLst>
              <a:ext uri="{FF2B5EF4-FFF2-40B4-BE49-F238E27FC236}">
                <a16:creationId xmlns:a16="http://schemas.microsoft.com/office/drawing/2014/main" id="{52A72895-73C8-BA31-1B74-38EC5E300252}"/>
              </a:ext>
            </a:extLst>
          </p:cNvPr>
          <p:cNvSpPr txBox="1"/>
          <p:nvPr/>
        </p:nvSpPr>
        <p:spPr>
          <a:xfrm>
            <a:off x="640080" y="1005840"/>
            <a:ext cx="5486400" cy="320040"/>
          </a:xfrm>
          <a:prstGeom prst="rect">
            <a:avLst/>
          </a:prstGeom>
          <a:noFill/>
          <a:ln/>
        </p:spPr>
        <p:txBody>
          <a:bodyPr wrap="square" lIns="0" tIns="0" rIns="0" bIns="0" rtlCol="0" anchor="t"/>
          <a:lstStyle/>
          <a:p>
            <a:pPr marL="0" indent="0">
              <a:buNone/>
            </a:pPr>
            <a:r>
              <a:rPr lang="es-ES" sz="1400" b="1" kern="0" spc="300" noProof="0" dirty="0">
                <a:solidFill>
                  <a:srgbClr val="10A38A"/>
                </a:solidFill>
                <a:latin typeface="Calibri" pitchFamily="34" charset="0"/>
                <a:ea typeface="Calibri" pitchFamily="34" charset="-122"/>
                <a:cs typeface="Calibri" pitchFamily="34" charset="-120"/>
              </a:rPr>
              <a:t>LLÉVATELO</a:t>
            </a:r>
            <a:endParaRPr lang="es-ES" sz="1400" noProof="0" dirty="0"/>
          </a:p>
        </p:txBody>
      </p:sp>
      <p:sp>
        <p:nvSpPr>
          <p:cNvPr id="57" name="Text 55">
            <a:extLst>
              <a:ext uri="{FF2B5EF4-FFF2-40B4-BE49-F238E27FC236}">
                <a16:creationId xmlns:a16="http://schemas.microsoft.com/office/drawing/2014/main" id="{08158B41-099E-79F6-9D29-CD5C3B75B9D2}"/>
              </a:ext>
            </a:extLst>
          </p:cNvPr>
          <p:cNvSpPr txBox="1"/>
          <p:nvPr/>
        </p:nvSpPr>
        <p:spPr>
          <a:xfrm>
            <a:off x="640080" y="1371600"/>
            <a:ext cx="6858000" cy="1097280"/>
          </a:xfrm>
          <a:prstGeom prst="rect">
            <a:avLst/>
          </a:prstGeom>
          <a:noFill/>
          <a:ln/>
        </p:spPr>
        <p:txBody>
          <a:bodyPr wrap="square" lIns="0" tIns="0" rIns="0" bIns="0" rtlCol="0" anchor="t"/>
          <a:lstStyle/>
          <a:p>
            <a:pPr marL="0" indent="0">
              <a:buNone/>
            </a:pPr>
            <a:r>
              <a:rPr lang="es-ES" sz="6000" b="1" noProof="0" dirty="0">
                <a:solidFill>
                  <a:srgbClr val="FFFFFF"/>
                </a:solidFill>
                <a:latin typeface="Calibri" pitchFamily="34" charset="0"/>
                <a:ea typeface="Calibri" pitchFamily="34" charset="-122"/>
                <a:cs typeface="Calibri" pitchFamily="34" charset="-120"/>
              </a:rPr>
              <a:t>Gracias</a:t>
            </a:r>
            <a:endParaRPr lang="es-ES" sz="6000" noProof="0" dirty="0"/>
          </a:p>
        </p:txBody>
      </p:sp>
    </p:spTree>
    <p:extLst>
      <p:ext uri="{BB962C8B-B14F-4D97-AF65-F5344CB8AC3E}">
        <p14:creationId xmlns:p14="http://schemas.microsoft.com/office/powerpoint/2010/main" val="35871300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3201</Words>
  <Application>Microsoft Office PowerPoint</Application>
  <PresentationFormat>Widescreen</PresentationFormat>
  <Paragraphs>318</Paragraphs>
  <Slides>19</Slides>
  <Notes>17</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squad de agentes de IA, gobernado desde Azure</dc:title>
  <dc:subject>GitHub Dev Days 2026 · Squad + GitHub Copilot CLI + Azure API Management + Microsoft Foundry</dc:subject>
  <dc:creator>Rodrigo Liberoff</dc:creator>
  <cp:lastModifiedBy>Rodrigo Liberoff Vázquez</cp:lastModifiedBy>
  <cp:revision>4</cp:revision>
  <dcterms:created xsi:type="dcterms:W3CDTF">2026-09-28T18:46:35Z</dcterms:created>
  <dcterms:modified xsi:type="dcterms:W3CDTF">2026-09-29T16:52:31Z</dcterms:modified>
</cp:coreProperties>
</file>